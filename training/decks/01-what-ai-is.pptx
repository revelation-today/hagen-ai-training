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the conceptual opener — no jargon, no code. Two ideas: AI learns like we do, and it fails like we do. By the end you'll have the one mental model the rest of the course is built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five beats. Flag that the middle beat — hallucination and prejudice as one failure mode — is the heart of the session. Mirror the minute-budget in README.md.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of hands. Take one 20-second story from the room. Land the point: you couldn't feel that the memory was false. Keep this — it's the emotional anchor for the whole session, and it makes the machine failure feel familiar rather than alien.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flip reframes the field. Classical software applies rules a human wrote. ML is handed the data and the answers and works out the rules itself. Those "rules" are a pile of numbers we call a model.</a:t>
            </a:r>
          </a:p>
          <a:p/>
          <a:p>
            <a:r>
              <a:t>--- Mermaid source 1 (render and place on the diagram box) ---</a:t>
            </a:r>
          </a:p>
          <a:p>
            <a:r>
              <a:t>flowchart LR</a:t>
            </a:r>
          </a:p>
          <a:p>
            <a:r>
              <a:t>    subgraph CL["Classical software"]</a:t>
            </a:r>
          </a:p>
          <a:p>
            <a:r>
              <a:t>      D1["Data"] --&gt; P1["Rules a human wrote"] --&gt; A1["Answer"]</a:t>
            </a:r>
          </a:p>
          <a:p>
            <a:r>
              <a:t>    end</a:t>
            </a:r>
          </a:p>
          <a:p>
            <a:r>
              <a:t>    subgraph ML["Machine learning"]</a:t>
            </a:r>
          </a:p>
          <a:p>
            <a:r>
              <a:t>      D2["Data"] --&gt; P2["Learning algorithm"]</a:t>
            </a:r>
          </a:p>
          <a:p>
            <a:r>
              <a:t>      A2["Answers (labelled)"] --&gt; P2 --&gt; R2["Rules = a model"]</a:t>
            </a:r>
          </a:p>
          <a:p>
            <a:r>
              <a:t>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cat/dog impossibility is the intuition pump. Then the discipline note this room will actually use: prefer the simplest thing that works — an auditable rule beats an opaque model when it can do the job. Callback promise: Sessions 5 and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costs to bank now: opacity (you can't read the rule) and dependence on the examples (skewed data → skewed rule). Every unsettling thing later grows from these two. Optional: mention the source decks' own light/dark label slip as proof even the authors couldn't glance at the rule and be sure which way it went — we corrected it; don't repeat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Kill the camera metaphor. We store fragments and rebuild on demand, filling gaps with what usually happens — and we experience the rebuild as playback. Efficient, but lossy in a dangerous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findings (misinformation effect; DRM false-memory lists), stated plainly. The headline: you cannot tell a false memory from a true one by how it feels. Certainty is not a truth signal — same sentence as the hook.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two side by side. Both fill a gap with the plausible; neither consults a verifiable record. When the pattern is strong, both are right; when it's thin, both are confidently wrong. This alignment is the ladder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out loud: an LLM does not literally "reconstruct a memory" like a brain. Even the source author says so. We keep the caveat because (a) it's true and this room will push on it, and (b) naming our own limits is how the course earns trust. The analogy is a ladder to the real idea —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 of the session — slow down. All three phenomena fill a gap with the most plausible pattern and report it with unwarranted confidence, because nothing checks the completion against evidence. This is the sharpest idea in the whole series; give it air.</a:t>
            </a:r>
          </a:p>
          <a:p/>
          <a:p>
            <a:r>
              <a:t>--- Mermaid source 1 (render and place on the diagram box) ---</a:t>
            </a:r>
          </a:p>
          <a:p>
            <a:r>
              <a:t>flowchart TD</a:t>
            </a:r>
          </a:p>
          <a:p>
            <a:r>
              <a:t>    P["A gap / unknown"] --&gt; M["Complete the pattern:&lt;br/&gt;most plausible fill"]</a:t>
            </a:r>
          </a:p>
          <a:p>
            <a:r>
              <a:t>    M --&gt; Q{"Evidence supports it?"}</a:t>
            </a:r>
          </a:p>
          <a:p>
            <a:r>
              <a:t>    Q --&gt;|Yes| G["Useful inference"]</a:t>
            </a:r>
          </a:p>
          <a:p>
            <a:r>
              <a:t>    Q --&gt;|"No — but no check"| B["Confident error"]</a:t>
            </a:r>
          </a:p>
          <a:p>
            <a:r>
              <a:t>    B --&gt; H["Hallucination"]</a:t>
            </a:r>
          </a:p>
          <a:p>
            <a:r>
              <a:t>    B --&gt; F["False memory"]</a:t>
            </a:r>
          </a:p>
          <a:p>
            <a:r>
              <a:t>    B --&gt; J["Prejudice"]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Mechanically identical to hallucination, aimed at an individual instead of a fact. The model inherits the skew in its examples and launders it as objectivity (callback to cost C2, slide 6). Bias is not exotic; it's hallucination with a demographic target — so the same habit (verify, don't trust) counters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slide with a citable, slide-safe definition — use it. Maynez et al. 2020 split hallucination in two. It matters because it tells you where to put the check: grounding gives the model a source so answers can be verified against it, but a grounded model can still contradict its source. Sets up Session 13.</a:t>
            </a:r>
          </a:p>
          <a:p/>
          <a:p>
            <a:r>
              <a:t>--- Mermaid source 1 (render and place on the diagram box) ---</a:t>
            </a:r>
          </a:p>
          <a:p>
            <a:r>
              <a:t>graph TD</a:t>
            </a:r>
          </a:p>
          <a:p>
            <a:r>
              <a:t>    H["Hallucination"] --&gt; I["Intrinsic: contradicts the source"]</a:t>
            </a:r>
          </a:p>
          <a:p>
            <a:r>
              <a:t>    H --&gt; E["Extrinsic: can't be verified from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 no evidence-check = failure in the most expensive way: plausibly. A fabricated-but-formatted citation passes review precisely because it looks like the real ones. This is why later sessions don't stop at "put a human in the loop." Foreshadow Session 13's "if it's right 99% of the time, spotting the 1% is harder, not easier."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retrieves stored documents; an LLM generates a probable continuation, one token at a time, feeding itself back in. Scaling autocomplete up made it astonishing — but it added no fact-checker. A superb next-token predictor is still a next-token predictor. Optional live demo cue (presenter's own sandbox only): ask a model to describe a made-up person; watch it invent a confident CV. Do not use a real colleague's name.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This one sentence is load-bearing for the whole series: cost, risk, and capability are all consequences of "pattern-matcher, not search engine." Session 9 will show you the machinery (attention); today you have the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seed question from exercises/discussion.md. Steer toward "reconstructing" — it can't lie, it has no known truth to hide. Use the room's own examples (a wrong dashboard, a bad autocomplete, a biased screen) to rehearse the habit-of-mind question.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reading. Only Maynez is reproduced on slides; everything else is link/assign-only. Attribution and licences live in resources/sources.md.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What AI Is, and How It Relates to Human Thinking</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 of 16  ·  Understand it</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Learning by example vs. by rules</a:t>
            </a:r>
          </a:p>
          <a:p>
            <a:pPr>
              <a:spcAft>
                <a:spcPts val="1400"/>
              </a:spcAft>
            </a:pPr>
            <a:r>
              <a:rPr sz="2100">
                <a:solidFill>
                  <a:srgbClr val="2563EB"/>
                </a:solidFill>
                <a:latin typeface="Segoe UI"/>
              </a:rPr>
              <a:t>▪  </a:t>
            </a:r>
            <a:r>
              <a:rPr sz="2100">
                <a:solidFill>
                  <a:srgbClr val="111827"/>
                </a:solidFill>
                <a:latin typeface="Segoe UI"/>
              </a:rPr>
              <a:t>Memory is reconstructive</a:t>
            </a:r>
          </a:p>
          <a:p>
            <a:pPr>
              <a:spcAft>
                <a:spcPts val="1400"/>
              </a:spcAft>
            </a:pPr>
            <a:r>
              <a:rPr sz="2100">
                <a:solidFill>
                  <a:srgbClr val="2563EB"/>
                </a:solidFill>
                <a:latin typeface="Segoe UI"/>
              </a:rPr>
              <a:t>▪  </a:t>
            </a:r>
            <a:r>
              <a:rPr sz="2100">
                <a:solidFill>
                  <a:srgbClr val="111827"/>
                </a:solidFill>
                <a:latin typeface="Segoe UI"/>
              </a:rPr>
              <a:t>The flagship idea: hallucination = prejudice</a:t>
            </a:r>
          </a:p>
          <a:p>
            <a:pPr>
              <a:spcAft>
                <a:spcPts val="1400"/>
              </a:spcAft>
            </a:pPr>
            <a:r>
              <a:rPr sz="2100">
                <a:solidFill>
                  <a:srgbClr val="2563EB"/>
                </a:solidFill>
                <a:latin typeface="Segoe UI"/>
              </a:rPr>
              <a:t>▪  </a:t>
            </a:r>
            <a:r>
              <a:rPr sz="2100">
                <a:solidFill>
                  <a:srgbClr val="111827"/>
                </a:solidFill>
                <a:latin typeface="Segoe UI"/>
              </a:rPr>
              <a:t>Autocomplete on steroids</a:t>
            </a:r>
          </a:p>
          <a:p>
            <a:pPr>
              <a:spcAft>
                <a:spcPts val="1400"/>
              </a:spcAft>
            </a:pPr>
            <a:r>
              <a:rPr sz="2100">
                <a:solidFill>
                  <a:srgbClr val="2563EB"/>
                </a:solidFill>
                <a:latin typeface="Segoe UI"/>
              </a:rPr>
              <a:t>▪  </a:t>
            </a:r>
            <a:r>
              <a:rPr sz="2100">
                <a:solidFill>
                  <a:srgbClr val="111827"/>
                </a:solidFill>
                <a:latin typeface="Segoe UI"/>
              </a:rPr>
              <a:t>Q&amp;A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You have been confidently, vividly wrong (hook)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"Have you ever remembered something vividly — and been completely wrong?"</a:t>
            </a:r>
          </a:p>
          <a:p>
            <a:pPr>
              <a:spcAft>
                <a:spcPts val="1400"/>
              </a:spcAft>
            </a:pPr>
            <a:r>
              <a:rPr sz="2100">
                <a:solidFill>
                  <a:srgbClr val="2563EB"/>
                </a:solidFill>
                <a:latin typeface="Segoe UI"/>
              </a:rPr>
              <a:t>▪  </a:t>
            </a:r>
            <a:r>
              <a:rPr sz="2100">
                <a:solidFill>
                  <a:srgbClr val="111827"/>
                </a:solidFill>
                <a:latin typeface="Segoe UI"/>
              </a:rPr>
              <a:t>Certainty is not a truth signal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AI turns programming inside out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Classical: data + rules → answers</a:t>
            </a:r>
          </a:p>
          <a:p>
            <a:pPr>
              <a:spcAft>
                <a:spcPts val="1400"/>
              </a:spcAft>
            </a:pPr>
            <a:r>
              <a:rPr sz="1700">
                <a:solidFill>
                  <a:srgbClr val="2563EB"/>
                </a:solidFill>
                <a:latin typeface="Segoe UI"/>
              </a:rPr>
              <a:t>▪  </a:t>
            </a:r>
            <a:r>
              <a:rPr sz="1700">
                <a:solidFill>
                  <a:srgbClr val="111827"/>
                </a:solidFill>
                <a:latin typeface="Segoe UI"/>
              </a:rPr>
              <a:t>Machine learning: data + answers → rules</a:t>
            </a:r>
          </a:p>
          <a:p>
            <a:pPr>
              <a:spcAft>
                <a:spcPts val="1400"/>
              </a:spcAft>
            </a:pPr>
            <a:r>
              <a:rPr sz="1700">
                <a:solidFill>
                  <a:srgbClr val="2563EB"/>
                </a:solidFill>
                <a:latin typeface="Segoe UI"/>
              </a:rPr>
              <a:t>▪  </a:t>
            </a:r>
            <a:r>
              <a:rPr sz="1700">
                <a:solidFill>
                  <a:srgbClr val="111827"/>
                </a:solidFill>
                <a:latin typeface="Segoe UI"/>
              </a:rPr>
              <a:t>Nobody writes the rules — the machine infers them</a:t>
            </a:r>
          </a:p>
        </p:txBody>
      </p:sp>
      <p:sp>
        <p:nvSpPr>
          <p:cNvPr id="5" name="Rounded Rectangle 4" descr="Diagram: AI turns programming inside ou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Classical software  →  Data  →  Rules a human wrote  →  Answer  →  Machine learning  →  Data</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Some rules can't be written — so we learn them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Write the rule for "cat vs. dog in a photo."</a:t>
            </a:r>
          </a:p>
          <a:p>
            <a:pPr>
              <a:spcAft>
                <a:spcPts val="1400"/>
              </a:spcAft>
            </a:pPr>
            <a:r>
              <a:rPr sz="2100">
                <a:solidFill>
                  <a:srgbClr val="2563EB"/>
                </a:solidFill>
                <a:latin typeface="Segoe UI"/>
              </a:rPr>
              <a:t>▪  </a:t>
            </a:r>
            <a:r>
              <a:rPr sz="2100">
                <a:solidFill>
                  <a:srgbClr val="111827"/>
                </a:solidFill>
                <a:latin typeface="Segoe UI"/>
              </a:rPr>
              <a:t>You can't. A three-year-old can</a:t>
            </a:r>
          </a:p>
          <a:p>
            <a:pPr>
              <a:spcAft>
                <a:spcPts val="1400"/>
              </a:spcAft>
            </a:pPr>
            <a:r>
              <a:rPr sz="2100">
                <a:solidFill>
                  <a:srgbClr val="2563EB"/>
                </a:solidFill>
                <a:latin typeface="Segoe UI"/>
              </a:rPr>
              <a:t>▪  </a:t>
            </a:r>
            <a:r>
              <a:rPr sz="2100">
                <a:solidFill>
                  <a:srgbClr val="111827"/>
                </a:solidFill>
                <a:latin typeface="Segoe UI"/>
              </a:rPr>
              <a:t>Fuzzy/perceptual → learn from examples. Few/stable → write the rules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price of learning: the rule becomes unreadable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learned rule is numbers, not sentences</a:t>
            </a:r>
          </a:p>
          <a:p>
            <a:pPr>
              <a:spcAft>
                <a:spcPts val="1400"/>
              </a:spcAft>
            </a:pPr>
            <a:r>
              <a:rPr sz="2100">
                <a:solidFill>
                  <a:srgbClr val="2563EB"/>
                </a:solidFill>
                <a:latin typeface="Segoe UI"/>
              </a:rPr>
              <a:t>▪  </a:t>
            </a:r>
            <a:r>
              <a:rPr sz="2100">
                <a:solidFill>
                  <a:srgbClr val="111827"/>
                </a:solidFill>
                <a:latin typeface="Segoe UI"/>
              </a:rPr>
              <a:t>You can't glance at it and audit it</a:t>
            </a:r>
          </a:p>
          <a:p>
            <a:pPr>
              <a:spcAft>
                <a:spcPts val="1400"/>
              </a:spcAft>
            </a:pPr>
            <a:r>
              <a:rPr sz="2100">
                <a:solidFill>
                  <a:srgbClr val="2563EB"/>
                </a:solidFill>
                <a:latin typeface="Segoe UI"/>
              </a:rPr>
              <a:t>▪  </a:t>
            </a:r>
            <a:r>
              <a:rPr sz="2100">
                <a:solidFill>
                  <a:srgbClr val="111827"/>
                </a:solidFill>
                <a:latin typeface="Segoe UI"/>
              </a:rPr>
              <a:t>It only knows the answers you fed it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Human memory is a rebuild, not a recording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Memory ≠ video playback</a:t>
            </a:r>
          </a:p>
          <a:p>
            <a:pPr>
              <a:spcAft>
                <a:spcPts val="1400"/>
              </a:spcAft>
            </a:pPr>
            <a:r>
              <a:rPr sz="2100">
                <a:solidFill>
                  <a:srgbClr val="2563EB"/>
                </a:solidFill>
                <a:latin typeface="Segoe UI"/>
              </a:rPr>
              <a:t>▪  </a:t>
            </a:r>
            <a:r>
              <a:rPr sz="2100">
                <a:solidFill>
                  <a:srgbClr val="111827"/>
                </a:solidFill>
                <a:latin typeface="Segoe UI"/>
              </a:rPr>
              <a:t>Each recall reconstructs from fragments + expectations</a:t>
            </a:r>
          </a:p>
          <a:p>
            <a:pPr>
              <a:spcAft>
                <a:spcPts val="1400"/>
              </a:spcAft>
            </a:pPr>
            <a:r>
              <a:rPr sz="2100">
                <a:solidFill>
                  <a:srgbClr val="2563EB"/>
                </a:solidFill>
                <a:latin typeface="Segoe UI"/>
              </a:rPr>
              <a:t>▪  </a:t>
            </a:r>
            <a:r>
              <a:rPr sz="2100">
                <a:solidFill>
                  <a:srgbClr val="111827"/>
                </a:solidFill>
                <a:latin typeface="Segoe UI"/>
              </a:rPr>
              <a:t>Gaps get filled with the plausible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concept after cognitive-science literature (LINK-ONLY) — diagram is original; state findings in our words…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Confident false memories are easy to manufacture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"Smashed" vs. "hit" changes remembered speed — and invents broken glass</a:t>
            </a:r>
          </a:p>
          <a:p>
            <a:pPr>
              <a:spcAft>
                <a:spcPts val="1400"/>
              </a:spcAft>
            </a:pPr>
            <a:r>
              <a:rPr sz="2100">
                <a:solidFill>
                  <a:srgbClr val="2563EB"/>
                </a:solidFill>
                <a:latin typeface="Segoe UI"/>
              </a:rPr>
              <a:t>▪  </a:t>
            </a:r>
            <a:r>
              <a:rPr sz="2100">
                <a:solidFill>
                  <a:srgbClr val="111827"/>
                </a:solidFill>
                <a:latin typeface="Segoe UI"/>
              </a:rPr>
              <a:t>Show a word list, people "remember" a word that was never there</a:t>
            </a:r>
          </a:p>
          <a:p>
            <a:pPr>
              <a:spcAft>
                <a:spcPts val="1400"/>
              </a:spcAft>
            </a:pPr>
            <a:r>
              <a:rPr sz="2100">
                <a:solidFill>
                  <a:srgbClr val="2563EB"/>
                </a:solidFill>
                <a:latin typeface="Segoe UI"/>
              </a:rPr>
              <a:t>▪  </a:t>
            </a:r>
            <a:r>
              <a:rPr sz="2100">
                <a:solidFill>
                  <a:srgbClr val="111827"/>
                </a:solidFill>
                <a:latin typeface="Segoe UI"/>
              </a:rPr>
              <a:t>Reported with full confidence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Loftus; Roediger &amp; McDermott — LINK-ONLY (findings paraphrased). If a % goes on the slide, verify against…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An LLM generates a continuation; it does not retrieve a fact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Human recall: fragments → plausible whole</a:t>
            </a:r>
          </a:p>
          <a:p>
            <a:pPr>
              <a:spcAft>
                <a:spcPts val="1400"/>
              </a:spcAft>
            </a:pPr>
            <a:r>
              <a:rPr sz="2100">
                <a:solidFill>
                  <a:srgbClr val="2563EB"/>
                </a:solidFill>
                <a:latin typeface="Segoe UI"/>
              </a:rPr>
              <a:t>▪  </a:t>
            </a:r>
            <a:r>
              <a:rPr sz="2100">
                <a:solidFill>
                  <a:srgbClr val="111827"/>
                </a:solidFill>
                <a:latin typeface="Segoe UI"/>
              </a:rPr>
              <a:t>LLM: prompt → probable next token</a:t>
            </a:r>
          </a:p>
          <a:p>
            <a:pPr>
              <a:spcAft>
                <a:spcPts val="1400"/>
              </a:spcAft>
            </a:pPr>
            <a:r>
              <a:rPr sz="2100">
                <a:solidFill>
                  <a:srgbClr val="2563EB"/>
                </a:solidFill>
                <a:latin typeface="Segoe UI"/>
              </a:rPr>
              <a:t>▪  </a:t>
            </a:r>
            <a:r>
              <a:rPr sz="2100">
                <a:solidFill>
                  <a:srgbClr val="111827"/>
                </a:solidFill>
                <a:latin typeface="Segoe UI"/>
              </a:rPr>
              <a:t>Neither has a built-in truth check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Keep the caveat visible: it's an analogy, not an identity</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memory ↔ hallucination link is an analogy</a:t>
            </a:r>
          </a:p>
          <a:p>
            <a:pPr>
              <a:spcAft>
                <a:spcPts val="1400"/>
              </a:spcAft>
            </a:pPr>
            <a:r>
              <a:rPr sz="2100">
                <a:solidFill>
                  <a:srgbClr val="2563EB"/>
                </a:solidFill>
                <a:latin typeface="Segoe UI"/>
              </a:rPr>
              <a:t>▪  </a:t>
            </a:r>
            <a:r>
              <a:rPr sz="2100">
                <a:solidFill>
                  <a:srgbClr val="111827"/>
                </a:solidFill>
                <a:latin typeface="Segoe UI"/>
              </a:rPr>
              <a:t>The mechanisms differ in detail</a:t>
            </a:r>
          </a:p>
          <a:p>
            <a:pPr>
              <a:spcAft>
                <a:spcPts val="1400"/>
              </a:spcAft>
            </a:pPr>
            <a:r>
              <a:rPr sz="2100">
                <a:solidFill>
                  <a:srgbClr val="2563EB"/>
                </a:solidFill>
                <a:latin typeface="Segoe UI"/>
              </a:rPr>
              <a:t>▪  </a:t>
            </a:r>
            <a:r>
              <a:rPr sz="2100">
                <a:solidFill>
                  <a:srgbClr val="111827"/>
                </a:solidFill>
                <a:latin typeface="Segoe UI"/>
              </a:rPr>
              <a:t>We name the limits of our own analogies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caveat after the AGI source (LINK-ONLY).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IDEA: hallucination = false memory = prejudice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One failure mode: pattern-completion outrunning the evidence</a:t>
            </a:r>
          </a:p>
          <a:p>
            <a:pPr>
              <a:spcAft>
                <a:spcPts val="1400"/>
              </a:spcAft>
            </a:pPr>
            <a:r>
              <a:rPr sz="1700">
                <a:solidFill>
                  <a:srgbClr val="2563EB"/>
                </a:solidFill>
                <a:latin typeface="Segoe UI"/>
              </a:rPr>
              <a:t>▪  </a:t>
            </a:r>
            <a:r>
              <a:rPr sz="1700">
                <a:solidFill>
                  <a:srgbClr val="111827"/>
                </a:solidFill>
                <a:latin typeface="Segoe UI"/>
              </a:rPr>
              <a:t>Confidence tracks plausibility, not truth</a:t>
            </a:r>
          </a:p>
          <a:p>
            <a:pPr>
              <a:spcAft>
                <a:spcPts val="1400"/>
              </a:spcAft>
            </a:pPr>
            <a:r>
              <a:rPr sz="1700">
                <a:solidFill>
                  <a:srgbClr val="2563EB"/>
                </a:solidFill>
                <a:latin typeface="Segoe UI"/>
              </a:rPr>
              <a:t>▪  </a:t>
            </a:r>
            <a:r>
              <a:rPr sz="1700">
                <a:solidFill>
                  <a:srgbClr val="111827"/>
                </a:solidFill>
                <a:latin typeface="Segoe UI"/>
              </a:rPr>
              <a:t>Three coats, one bug</a:t>
            </a:r>
          </a:p>
        </p:txBody>
      </p:sp>
      <p:sp>
        <p:nvSpPr>
          <p:cNvPr id="5" name="Rounded Rectangle 4" descr="Diagram: THE IDEA: hallucination = false memory = prejudic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 gap / unknown  →  Complete the pattern: most plausible fill  →  Useful inference  →  Confident error  →  Hallucination  →  False memory</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Prejudice is that mechanism, pointed at people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Prejudice = over-generalisation from skewed data</a:t>
            </a:r>
          </a:p>
          <a:p>
            <a:pPr>
              <a:spcAft>
                <a:spcPts val="1400"/>
              </a:spcAft>
            </a:pPr>
            <a:r>
              <a:rPr sz="2100">
                <a:solidFill>
                  <a:srgbClr val="2563EB"/>
                </a:solidFill>
                <a:latin typeface="Segoe UI"/>
              </a:rPr>
              <a:t>▪  </a:t>
            </a:r>
            <a:r>
              <a:rPr sz="2100">
                <a:solidFill>
                  <a:srgbClr val="111827"/>
                </a:solidFill>
                <a:latin typeface="Segoe UI"/>
              </a:rPr>
              <a:t>A biased hiring model hallucinates a verdict about a person</a:t>
            </a:r>
          </a:p>
          <a:p>
            <a:pPr>
              <a:spcAft>
                <a:spcPts val="1400"/>
              </a:spcAft>
            </a:pPr>
            <a:r>
              <a:rPr sz="2100">
                <a:solidFill>
                  <a:srgbClr val="2563EB"/>
                </a:solidFill>
                <a:latin typeface="Segoe UI"/>
              </a:rPr>
              <a:t>▪  </a:t>
            </a:r>
            <a:r>
              <a:rPr sz="2100">
                <a:solidFill>
                  <a:srgbClr val="111827"/>
                </a:solidFill>
                <a:latin typeface="Segoe UI"/>
              </a:rPr>
              <a:t>"It's just pattern recognition" — yes, and that's the problem</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Name the wrongness precisely: intrinsic vs. extrinsic</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Intrinsic = output contradicts the source</a:t>
            </a:r>
          </a:p>
          <a:p>
            <a:pPr>
              <a:spcAft>
                <a:spcPts val="1400"/>
              </a:spcAft>
            </a:pPr>
            <a:r>
              <a:rPr sz="1700">
                <a:solidFill>
                  <a:srgbClr val="2563EB"/>
                </a:solidFill>
                <a:latin typeface="Segoe UI"/>
              </a:rPr>
              <a:t>▪  </a:t>
            </a:r>
            <a:r>
              <a:rPr sz="1700">
                <a:solidFill>
                  <a:srgbClr val="111827"/>
                </a:solidFill>
                <a:latin typeface="Segoe UI"/>
              </a:rPr>
              <a:t>Extrinsic = output can't be verified from the source</a:t>
            </a:r>
          </a:p>
          <a:p>
            <a:pPr>
              <a:spcAft>
                <a:spcPts val="1400"/>
              </a:spcAft>
            </a:pPr>
            <a:r>
              <a:rPr sz="1700">
                <a:solidFill>
                  <a:srgbClr val="2563EB"/>
                </a:solidFill>
                <a:latin typeface="Segoe UI"/>
              </a:rPr>
              <a:t>▪  </a:t>
            </a:r>
            <a:r>
              <a:rPr sz="1700">
                <a:solidFill>
                  <a:srgbClr val="111827"/>
                </a:solidFill>
                <a:latin typeface="Segoe UI"/>
              </a:rPr>
              <a:t>Grounding/RAG mainly targets the extrinsic kind</a:t>
            </a:r>
          </a:p>
        </p:txBody>
      </p:sp>
      <p:sp>
        <p:nvSpPr>
          <p:cNvPr id="5" name="Rounded Rectangle 4" descr="Diagram: Name the wrongness precisely: intrinsic vs. extrinsic"/>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Hallucination  →  Intrinsic: contradicts the source  →  Extrinsic: can't be verified from the source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Maynez et al. 2020, ACL Anthology — CC BY 4.0. SLIDE-SAFE. Footer attribution required: "Definitions: May…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dangerous failures are the plausible ones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Obvious errors are safe — you discard them</a:t>
            </a:r>
          </a:p>
          <a:p>
            <a:pPr>
              <a:spcAft>
                <a:spcPts val="1400"/>
              </a:spcAft>
            </a:pPr>
            <a:r>
              <a:rPr sz="2100">
                <a:solidFill>
                  <a:srgbClr val="2563EB"/>
                </a:solidFill>
                <a:latin typeface="Segoe UI"/>
              </a:rPr>
              <a:t>▪  </a:t>
            </a:r>
            <a:r>
              <a:rPr sz="2100">
                <a:solidFill>
                  <a:srgbClr val="111827"/>
                </a:solidFill>
                <a:latin typeface="Segoe UI"/>
              </a:rPr>
              <a:t>Plausible falsehoods slip through</a:t>
            </a:r>
          </a:p>
          <a:p>
            <a:pPr>
              <a:spcAft>
                <a:spcPts val="1400"/>
              </a:spcAft>
            </a:pPr>
            <a:r>
              <a:rPr sz="2100">
                <a:solidFill>
                  <a:srgbClr val="2563EB"/>
                </a:solidFill>
                <a:latin typeface="Segoe UI"/>
              </a:rPr>
              <a:t>▪  </a:t>
            </a:r>
            <a:r>
              <a:rPr sz="2100">
                <a:solidFill>
                  <a:srgbClr val="111827"/>
                </a:solidFill>
                <a:latin typeface="Segoe UI"/>
              </a:rPr>
              <a:t>Human-in-the-loop is necessary, not sufficient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the LLM-safety source (LINK-ONLY) — paraphrased.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model: autocomplete on steroids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It generates the next likely token</a:t>
            </a:r>
          </a:p>
          <a:p>
            <a:pPr>
              <a:spcAft>
                <a:spcPts val="1400"/>
              </a:spcAft>
            </a:pPr>
            <a:r>
              <a:rPr sz="2100">
                <a:solidFill>
                  <a:srgbClr val="2563EB"/>
                </a:solidFill>
                <a:latin typeface="Segoe UI"/>
              </a:rPr>
              <a:t>▪  </a:t>
            </a:r>
            <a:r>
              <a:rPr sz="2100">
                <a:solidFill>
                  <a:srgbClr val="111827"/>
                </a:solidFill>
                <a:latin typeface="Segoe UI"/>
              </a:rPr>
              <a:t>It does not look facts up</a:t>
            </a:r>
          </a:p>
          <a:p>
            <a:pPr>
              <a:spcAft>
                <a:spcPts val="1400"/>
              </a:spcAft>
            </a:pPr>
            <a:r>
              <a:rPr sz="2100">
                <a:solidFill>
                  <a:srgbClr val="2563EB"/>
                </a:solidFill>
                <a:latin typeface="Segoe UI"/>
              </a:rPr>
              <a:t>▪  </a:t>
            </a:r>
            <a:r>
              <a:rPr sz="2100">
                <a:solidFill>
                  <a:srgbClr val="111827"/>
                </a:solidFill>
                <a:latin typeface="Segoe UI"/>
              </a:rPr>
              <a:t>A pattern-matcher, not a search engine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"autocomplete on steroids / pattern-matcher not search engine" — framing after the LLM-safety source (LIN…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Everything else in the course follows from this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Predicts tokens → costs by the token (S2)</a:t>
            </a:r>
          </a:p>
          <a:p>
            <a:pPr>
              <a:spcAft>
                <a:spcPts val="1400"/>
              </a:spcAft>
            </a:pPr>
            <a:r>
              <a:rPr sz="2100">
                <a:solidFill>
                  <a:srgbClr val="2563EB"/>
                </a:solidFill>
                <a:latin typeface="Segoe UI"/>
              </a:rPr>
              <a:t>▪  </a:t>
            </a:r>
            <a:r>
              <a:rPr sz="2100">
                <a:solidFill>
                  <a:srgbClr val="111827"/>
                </a:solidFill>
                <a:latin typeface="Segoe UI"/>
              </a:rPr>
              <a:t>No truth-check → risk, verify don't trust (S12–13)</a:t>
            </a:r>
          </a:p>
          <a:p>
            <a:pPr>
              <a:spcAft>
                <a:spcPts val="1400"/>
              </a:spcAft>
            </a:pPr>
            <a:r>
              <a:rPr sz="2100">
                <a:solidFill>
                  <a:srgbClr val="2563EB"/>
                </a:solidFill>
                <a:latin typeface="Segoe UI"/>
              </a:rPr>
              <a:t>▪  </a:t>
            </a:r>
            <a:r>
              <a:rPr sz="2100">
                <a:solidFill>
                  <a:srgbClr val="111827"/>
                </a:solidFill>
                <a:latin typeface="Segoe UI"/>
              </a:rPr>
              <a:t>Language engine, not truth engine → capability &amp; jobs (S14)</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Q&amp;A / 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"Where have you seen a system be confidently wrong? Was it lying, or reconstructing?"</a:t>
            </a:r>
          </a:p>
          <a:p>
            <a:pPr>
              <a:spcAft>
                <a:spcPts val="1400"/>
              </a:spcAft>
            </a:pPr>
            <a:r>
              <a:rPr sz="2100">
                <a:solidFill>
                  <a:srgbClr val="2563EB"/>
                </a:solidFill>
                <a:latin typeface="Segoe UI"/>
              </a:rPr>
              <a:t>▪  </a:t>
            </a:r>
            <a:r>
              <a:rPr sz="2100">
                <a:solidFill>
                  <a:srgbClr val="111827"/>
                </a:solidFill>
                <a:latin typeface="Segoe UI"/>
              </a:rPr>
              <a:t>Poll: lying / reconstructing / other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Maynez et al. 2020 (CC BY 4.0) — intrinsic/extrinsic</a:t>
            </a:r>
          </a:p>
          <a:p>
            <a:pPr>
              <a:spcAft>
                <a:spcPts val="1400"/>
              </a:spcAft>
            </a:pPr>
            <a:r>
              <a:rPr sz="2100">
                <a:solidFill>
                  <a:srgbClr val="2563EB"/>
                </a:solidFill>
                <a:latin typeface="Segoe UI"/>
              </a:rPr>
              <a:t>▪  </a:t>
            </a:r>
            <a:r>
              <a:rPr sz="2100">
                <a:solidFill>
                  <a:srgbClr val="111827"/>
                </a:solidFill>
                <a:latin typeface="Segoe UI"/>
              </a:rPr>
              <a:t>Further reading: cognitive-science false-memory papers; source decks (internal)</a:t>
            </a:r>
          </a:p>
          <a:p>
            <a:pPr>
              <a:spcAft>
                <a:spcPts val="1400"/>
              </a:spcAft>
            </a:pPr>
            <a:r>
              <a:rPr sz="2100">
                <a:solidFill>
                  <a:srgbClr val="2563EB"/>
                </a:solidFill>
                <a:latin typeface="Segoe UI"/>
              </a:rPr>
              <a:t>▪  </a:t>
            </a:r>
            <a:r>
              <a:rPr sz="2100">
                <a:solidFill>
                  <a:srgbClr val="111827"/>
                </a:solidFill>
                <a:latin typeface="Segoe UI"/>
              </a:rPr>
              <a:t>Full list: resources/sources.md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as listed; SLIDE-SAFE items attributed, LINK-ONLY items linked only. --- ### Build checklist (this deck)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