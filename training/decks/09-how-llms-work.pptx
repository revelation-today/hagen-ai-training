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bridge session. Session 6 gave you a neural network; Session 1 gave you "autocomplete on steroids." Today we connect them — you'll see the actual machinery, and by the last slide you'll understand mechanically why it hallucinates. Flag the pre-reading: if anyone watched 3Blue1Brown, say so now, they'll enjoy this more.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Mirror the README minute budget. Say out loud that attention is the centre and gets ten minutes; everything before it is setup and everything after is consequence.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both aloud. Let the room feel that these are the same words. Then pose the question and explicitly say you are not answering it yet — we're going to build the machine first, and in twenty minutes we'll compute the difference with real numbers. Do not resolve this now; the whole session hangs off the unresolved tension.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map for the next 40 minutes. Two things to notice now: the blue box is where meaning happens — everything else is bookkeeping. And the arrow that loops back means the model produces exactly one token per pass. That one fact explains streaming, pricing, and latency. Promise to return to the loop.</a:t>
            </a:r>
          </a:p>
          <a:p/>
          <a:p>
            <a:r>
              <a:t>--- Mermaid source 1 (render and place on the diagram box) ---</a:t>
            </a:r>
          </a:p>
          <a:p>
            <a:r>
              <a:t>flowchart LR</a:t>
            </a:r>
          </a:p>
          <a:p>
            <a:r>
              <a:t>      A["Text"] --&gt; B["Tokens"] --&gt; C["Embeddings&lt;br/&gt;+ position"] --&gt; D["Transformer blocks × N&lt;br/&gt;&lt;b&gt;attention + feed-forward&lt;/b&gt;"] --&gt; E["Logits"] --&gt; F["Softmax ÷ T"] --&gt; G["Sample&lt;br/&gt;one token"]</a:t>
            </a:r>
          </a:p>
          <a:p>
            <a:r>
              <a:t>      G -.-&gt;|"append, run again"| B</a:t>
            </a:r>
          </a:p>
          <a:p>
            <a:r>
              <a:t>      style D fill:#d6eaf8,stroke:#2874a6</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Word-level breaks on unbounded vocabulary; character-level makes sequences too long, and attention punishes length quadratically — we'll see why. BPE is the compromise: merge the most frequent adjacent pair, repeat 50,000 times. The merge list is the tokeniser. Emphasise that the leading space and the capital letter are inside the token — that will matter in five minutes.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demo: Tiktokenizer. Paste the two Snow White sentences, then a German compound, then twenty lines of a real build log. Watch the count jump. The operational point for this room: a config diff or a stack trace is the most expensive thing you can put in a prompt — three to four times worse per character than English. That hits the bill (Session 2) and eats the context window (later today). Also flag: numbers split into arbitrary fragments, which is where unreliable arithmetic starts.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embedding layer is a lookup table — the least glamorous component in the model, and often a third of a small model's parameters. Training places tokens that behave alike in similar directions, because that's the cheapest way to predict both well. Say the honest part out loud: the famous king−man+woman analogy is weaker and more contested than its fame suggests, and real dimensions are not interpretable. What survives is: direction encodes relatedness, and that's computed with a dot product — the operation attention is built from.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turn. Walk back through what we've built and show that none of it can separate the two questions. A frequency model: both are rare sequences. Static embeddings: same lookup row. Position: snow is at slot 3 in both. Pre-2017 language models plateaued for exactly this reason — a system whose word representations don't change with context cannot disambiguate, and natural language is ambiguity all the way down. Now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sentence carries the whole thing: each token rebuilds its own representation as a weighted mixture of every token's contribution, and decides the weights itself. Decode the formula symbol by symbol — QKᵀ is the n×n "who looks at whom" grid (remember it; it's the cost slide later), √d is numerical hygiene so softmax doesn't saturate, softmax makes each row a distribution, and multiplying by V does the actual mixing. Say clearly: the match is soft — nothing is retrieved, everything is blended.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payoff of the hook, and the moment the session turns from description to demonstration. The input vector for white was byte-for-byte identical in both runs — only the first token differed, three positions away. The output is different: the token has absorbed the identity of the question word. Say it plainly: that is what tells Snow White from snow white. Note also that in the physics question, white puts more weight on snow (0.325 vs 0.304) — it's binding predicate to subject. Mention that this is a rigged 4-D toy for legibility, but the arithmetic is exactly the real formula.</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does a model need 12 or 96 layers? Because layer 2's queries are computed from layer 1's already-disambiguated outputs, so the two trajectories diverge further at every step. Early layers do local, syntactic work; later layers assemble larger structures out of what earlier ones resolved. Then land the caveat, and don't skip it: attention weights show where information was routed, not why or what was concluded. Attention maps are a debugging signal, not an explanation. Same skeptical discipline as the rest of the course.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demo. Type both Snow White sentences into the Transformer Explainer and click through the attention maps. This is the moment the toy becomes real for the room. Keep it to 90 seconds — the temperature slider comes back later, so don't spend it now. Have screenshots ready: the demo is a live web tool and the deck must survive with no network.</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Attention moves information between tokens; the feed-forward network transforms it within a token — that's the division of labour. Residual connections (x + f(x)) are what let you stack 96 of these without gradients vanishing. The parameter breakdown surprises people: attention gets the fame, the feed-forward layers get the parameters. Use GPT-2 small deliberately — its config is public and verifiable, and the shape transfers to models a thousand times larger.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causal mask isn't an optimisation — it's what makes next-token training work at scale, because every position in every training document becomes a training example. Two takeaways for this room: everything you chat with is decoder-only, and the embedding models behind RAG (Session 13) are usually encoder-only, which is why you shouldn't expect them to be interchangeable. If short on time, compress this slide to those two sentences.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sequence diagram once. Then land the consequence that surprises people most: there is no planning stage. The model does not decide what the answer is and then render it. A confident wrong opening sentence drags the whole answer along, because every later token is conditioned to stay consistent with it. This is also exactly why chain-of-thought prompting works (Session 10) — it turns "think then answer" into "emit intermediate tokens that later tokens can attend to."</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model, same prompt, same logits — only the division changes. At T=2 the model answers "Melbourne" or "Perth" to a question it knows perfectly well, 13% of the time. Then the sentence that matters most on this slide: turning temperature down reduces variance, not error. The most probable fabrication is still a fabrication — it's just a reproducible one. That misconception is common and expensive in engineering teams. Mention top-p briefly (adaptive tail truncation, prefer it to top-k, vary one knob at a time) and note that true reproducibility also needs a pinned model version and a logged full prompt.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back to slide 9 — QKᵀ is that grid, and this is the bill for it. A 96-layer, 96-head model computes over 9,000 of them per pass. The KV cache is what stops generation being O(n³): keys and values never change once computed, so cache them — at the price of memory that grows with length, which is the real limit on how many users a GPU serves at once. Two practical hooks: prompt caching (Session 2's discount) is this cache persisted, which is why it needs a stable prefix — put volatile content last. And time-to-first-token is prefill; inter-token latency is the cheap part.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most transferable finding in the session for this room. Everyone's intuition is that context is like RAM — if it fits, it's available. It isn't. Liu et al. found the U-shape; Chroma's replication across 18 models found degradation with length even when retrieval is demonstrably perfect. Mechanically it's not mysterious: softmax distributes a fixed budget of attention mass across more competitors, position handling is least practised in the interior, and more text means more plausible near-misses. So: "I gave it all the logs and it got worse" is not user error and not a bug — it's documented behaviour. Measure it on your own workload.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promise Session 1 made, and it's the last three minutes. Go stage by stage, out loud, and ask the question each time. The point isn't that the check is weak — there is no component whose job is verification and no signal available to one. The only training objective was next-token probability. Correct answers and fabrications are produced by identical arithmetic. Then the confidence point: a fabricated citation can have a sharper distribution than a true fact, because the format is a very strong pattern. Fluency is the training objective, not a reliability signal. Close by naming the misconception one more time: temperature 0 does not fix this.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that seed. The good answers name a stage — "we're asking it for exact part numbers, and numbers get shredded at tokenisation," or "we dump the whole incident history in, and that's context rot." Have the two backup prompts ready: the temperature-0 misconception and the "we'll just use a bigger window" procurement question.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out that the three "play with it" links are the ones to open tonight — all client-side, no login. Say explicitly that 3Blue1Brown and the Illustrated Transformer are the best explanations in existence and that's exactly why they're links rather than slides: their licences don't permit reuse in corporate training, and we respect that.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2103120"/>
            <a:ext cx="10515600" cy="1463040"/>
          </a:xfrm>
          <a:prstGeom prst="rect">
            <a:avLst/>
          </a:prstGeom>
          <a:noFill/>
        </p:spPr>
        <p:txBody>
          <a:bodyPr wrap="square" anchor="t">
            <a:spAutoFit/>
          </a:bodyPr>
          <a:lstStyle/>
          <a:p>
            <a:pPr algn="l">
              <a:spcAft>
                <a:spcPts val="1000"/>
              </a:spcAft>
            </a:pPr>
            <a:r>
              <a:rPr sz="4000" b="1">
                <a:solidFill>
                  <a:srgbClr val="1F2A37"/>
                </a:solidFill>
                <a:latin typeface="Segoe UI"/>
              </a:rPr>
              <a:t>How LLMs Work: From Neural Networks to Claude</a:t>
            </a:r>
          </a:p>
        </p:txBody>
      </p:sp>
      <p:sp>
        <p:nvSpPr>
          <p:cNvPr id="3" name="Rectangle 2"/>
          <p:cNvSpPr/>
          <p:nvPr/>
        </p:nvSpPr>
        <p:spPr>
          <a:xfrm>
            <a:off x="822960" y="3703320"/>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3977639"/>
            <a:ext cx="10515600" cy="822960"/>
          </a:xfrm>
          <a:prstGeom prst="rect">
            <a:avLst/>
          </a:prstGeom>
          <a:noFill/>
        </p:spPr>
        <p:txBody>
          <a:bodyPr wrap="square" anchor="t">
            <a:spAutoFit/>
          </a:bodyPr>
          <a:lstStyle/>
          <a:p>
            <a:pPr algn="l">
              <a:spcAft>
                <a:spcPts val="1000"/>
              </a:spcAft>
            </a:pPr>
            <a:r>
              <a:rPr sz="1700" b="0">
                <a:solidFill>
                  <a:srgbClr val="6B7280"/>
                </a:solidFill>
                <a:latin typeface="Segoe UI"/>
              </a:rPr>
              <a:t>Session 9 of 16  ·  Do it</a:t>
            </a:r>
          </a:p>
          <a:p>
            <a:pPr algn="l">
              <a:spcAft>
                <a:spcPts val="1000"/>
              </a:spcAft>
            </a:pPr>
            <a:r>
              <a:rPr sz="1700" b="0">
                <a:solidFill>
                  <a:srgbClr val="6B7280"/>
                </a:solidFill>
                <a:latin typeface="Segoe UI"/>
              </a:rPr>
              <a:t>AI Training Series  ·  45 min + 15 min Q&amp;A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Agenda</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Tokens</a:t>
            </a:r>
          </a:p>
          <a:p>
            <a:pPr>
              <a:spcAft>
                <a:spcPts val="1400"/>
              </a:spcAft>
            </a:pPr>
            <a:r>
              <a:rPr sz="2100">
                <a:solidFill>
                  <a:srgbClr val="2563EB"/>
                </a:solidFill>
                <a:latin typeface="Segoe UI"/>
              </a:rPr>
              <a:t>▪  </a:t>
            </a:r>
            <a:r>
              <a:rPr sz="2100">
                <a:solidFill>
                  <a:srgbClr val="111827"/>
                </a:solidFill>
                <a:latin typeface="Segoe UI"/>
              </a:rPr>
              <a:t>Embeddings</a:t>
            </a:r>
          </a:p>
          <a:p>
            <a:pPr>
              <a:spcAft>
                <a:spcPts val="1400"/>
              </a:spcAft>
            </a:pPr>
            <a:r>
              <a:rPr sz="2100">
                <a:solidFill>
                  <a:srgbClr val="2563EB"/>
                </a:solidFill>
                <a:latin typeface="Segoe UI"/>
              </a:rPr>
              <a:t>▪  </a:t>
            </a:r>
            <a:r>
              <a:rPr sz="2100">
                <a:solidFill>
                  <a:srgbClr val="111827"/>
                </a:solidFill>
                <a:latin typeface="Segoe UI"/>
              </a:rPr>
              <a:t>Attention</a:t>
            </a:r>
          </a:p>
          <a:p>
            <a:pPr>
              <a:spcAft>
                <a:spcPts val="1400"/>
              </a:spcAft>
            </a:pPr>
            <a:r>
              <a:rPr sz="2100">
                <a:solidFill>
                  <a:srgbClr val="2563EB"/>
                </a:solidFill>
                <a:latin typeface="Segoe UI"/>
              </a:rPr>
              <a:t>▪  </a:t>
            </a:r>
            <a:r>
              <a:rPr sz="2100">
                <a:solidFill>
                  <a:srgbClr val="111827"/>
                </a:solidFill>
                <a:latin typeface="Segoe UI"/>
              </a:rPr>
              <a:t>The stack</a:t>
            </a:r>
          </a:p>
          <a:p>
            <a:pPr>
              <a:spcAft>
                <a:spcPts val="1400"/>
              </a:spcAft>
            </a:pPr>
            <a:r>
              <a:rPr sz="2100">
                <a:solidFill>
                  <a:srgbClr val="2563EB"/>
                </a:solidFill>
                <a:latin typeface="Segoe UI"/>
              </a:rPr>
              <a:t>▪  </a:t>
            </a:r>
            <a:r>
              <a:rPr sz="2100">
                <a:solidFill>
                  <a:srgbClr val="111827"/>
                </a:solidFill>
                <a:latin typeface="Segoe UI"/>
              </a:rPr>
              <a:t>One token at a time</a:t>
            </a:r>
          </a:p>
          <a:p>
            <a:pPr>
              <a:spcAft>
                <a:spcPts val="1400"/>
              </a:spcAft>
            </a:pPr>
            <a:r>
              <a:rPr sz="2100">
                <a:solidFill>
                  <a:srgbClr val="2563EB"/>
                </a:solidFill>
                <a:latin typeface="Segoe UI"/>
              </a:rPr>
              <a:t>▪  </a:t>
            </a:r>
            <a:r>
              <a:rPr sz="2100">
                <a:solidFill>
                  <a:srgbClr val="111827"/>
                </a:solidFill>
                <a:latin typeface="Segoe UI"/>
              </a:rPr>
              <a:t>Context and its costs</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9  ·  AI Training Series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Two questions the same machine has to tell apart (hook)</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"Who is Snow White?"</a:t>
            </a:r>
          </a:p>
          <a:p>
            <a:pPr>
              <a:spcAft>
                <a:spcPts val="1400"/>
              </a:spcAft>
            </a:pPr>
            <a:r>
              <a:rPr sz="2100">
                <a:solidFill>
                  <a:srgbClr val="2563EB"/>
                </a:solidFill>
                <a:latin typeface="Segoe UI"/>
              </a:rPr>
              <a:t>▪  </a:t>
            </a:r>
            <a:r>
              <a:rPr sz="2100">
                <a:solidFill>
                  <a:srgbClr val="111827"/>
                </a:solidFill>
                <a:latin typeface="Segoe UI"/>
              </a:rPr>
              <a:t>"Why is snow white?"</a:t>
            </a:r>
          </a:p>
          <a:p>
            <a:pPr>
              <a:spcAft>
                <a:spcPts val="1400"/>
              </a:spcAft>
            </a:pPr>
            <a:r>
              <a:rPr sz="2100">
                <a:solidFill>
                  <a:srgbClr val="2563EB"/>
                </a:solidFill>
                <a:latin typeface="Segoe UI"/>
              </a:rPr>
              <a:t>▪  </a:t>
            </a:r>
            <a:r>
              <a:rPr sz="2100">
                <a:solidFill>
                  <a:srgbClr val="111827"/>
                </a:solidFill>
                <a:latin typeface="Segoe UI"/>
              </a:rPr>
              <a:t>Same words. One is a person; one is physics</a:t>
            </a:r>
          </a:p>
          <a:p>
            <a:pPr>
              <a:spcAft>
                <a:spcPts val="1400"/>
              </a:spcAft>
            </a:pPr>
            <a:r>
              <a:rPr sz="2100">
                <a:solidFill>
                  <a:srgbClr val="2563EB"/>
                </a:solidFill>
                <a:latin typeface="Segoe UI"/>
              </a:rPr>
              <a:t>▪  </a:t>
            </a:r>
            <a:r>
              <a:rPr sz="2100">
                <a:solidFill>
                  <a:srgbClr val="111827"/>
                </a:solidFill>
                <a:latin typeface="Segoe UI"/>
              </a:rPr>
              <a:t>What in the machine could possibly know the difference?</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9  ·  AI Training Series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The whole session in one diagram</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63040"/>
            <a:ext cx="4937760" cy="4206240"/>
          </a:xfrm>
          <a:prstGeom prst="rect">
            <a:avLst/>
          </a:prstGeom>
          <a:noFill/>
        </p:spPr>
        <p:txBody>
          <a:bodyPr wrap="square">
            <a:spAutoFit/>
          </a:bodyPr>
          <a:lstStyle/>
          <a:p>
            <a:pPr>
              <a:spcAft>
                <a:spcPts val="1400"/>
              </a:spcAft>
            </a:pPr>
            <a:r>
              <a:rPr sz="1700">
                <a:solidFill>
                  <a:srgbClr val="2563EB"/>
                </a:solidFill>
                <a:latin typeface="Segoe UI"/>
              </a:rPr>
              <a:t>▪  </a:t>
            </a:r>
            <a:r>
              <a:rPr sz="1700">
                <a:solidFill>
                  <a:srgbClr val="111827"/>
                </a:solidFill>
                <a:latin typeface="Segoe UI"/>
              </a:rPr>
              <a:t>Text → tokens → embeddings → transformer blocks → logits → softmax → sample → repeat.</a:t>
            </a:r>
          </a:p>
        </p:txBody>
      </p:sp>
      <p:sp>
        <p:nvSpPr>
          <p:cNvPr id="5" name="Rounded Rectangle 4" descr="Diagram: The whole session in one diagram"/>
          <p:cNvSpPr/>
          <p:nvPr/>
        </p:nvSpPr>
        <p:spPr>
          <a:xfrm>
            <a:off x="5943600" y="1554480"/>
            <a:ext cx="5577840" cy="3840480"/>
          </a:xfrm>
          <a:prstGeom prst="roundRect">
            <a:avLst/>
          </a:prstGeom>
          <a:solidFill>
            <a:srgbClr val="F3F4F6"/>
          </a:solidFill>
          <a:ln w="12700">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6B7280"/>
                </a:solidFill>
                <a:latin typeface="Segoe UI"/>
              </a:rPr>
              <a:t>DIAGRAM — render from Mermaid source (in speaker notes)</a:t>
            </a:r>
          </a:p>
          <a:p>
            <a:pPr algn="ctr"/>
            <a:r>
              <a:rPr sz="1500">
                <a:solidFill>
                  <a:srgbClr val="1F2A37"/>
                </a:solidFill>
                <a:latin typeface="Segoe UI"/>
              </a:rPr>
              <a:t>Text  →  Tokens  →  Embeddings + position  →  Transformer blocks × N &lt;b&gt;attention + feed-forward&lt;/b&gt;  →  Logits  →  Softmax ÷ T</a:t>
            </a:r>
          </a:p>
        </p:txBody>
      </p:sp>
      <p:sp>
        <p:nvSpPr>
          <p:cNvPr id="6" name="TextBox 5"/>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9  ·  AI Training Series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The model never sees your words</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Subword pieces, not words</a:t>
            </a:r>
          </a:p>
          <a:p>
            <a:pPr>
              <a:spcAft>
                <a:spcPts val="1400"/>
              </a:spcAft>
            </a:pPr>
            <a:r>
              <a:rPr sz="2100">
                <a:solidFill>
                  <a:srgbClr val="2563EB"/>
                </a:solidFill>
                <a:latin typeface="Segoe UI"/>
              </a:rPr>
              <a:t>▪  </a:t>
            </a:r>
            <a:r>
              <a:rPr sz="2100">
                <a:solidFill>
                  <a:srgbClr val="111827"/>
                </a:solidFill>
                <a:latin typeface="Segoe UI"/>
              </a:rPr>
              <a:t>Vocabulary built by frequency (BPE), not linguistics</a:t>
            </a:r>
          </a:p>
          <a:p>
            <a:pPr>
              <a:spcAft>
                <a:spcPts val="1400"/>
              </a:spcAft>
            </a:pPr>
            <a:r>
              <a:rPr sz="2100">
                <a:solidFill>
                  <a:srgbClr val="2563EB"/>
                </a:solidFill>
                <a:latin typeface="Segoe UI"/>
              </a:rPr>
              <a:t>▪  </a:t>
            </a:r>
            <a:r>
              <a:rPr sz="2100">
                <a:solidFill>
                  <a:srgbClr val="111827"/>
                </a:solidFill>
                <a:latin typeface="Segoe UI"/>
              </a:rPr>
              <a:t>' Snow' ≠ ' snow' ≠ 'snow'</a:t>
            </a:r>
          </a:p>
          <a:p>
            <a:pPr>
              <a:spcAft>
                <a:spcPts val="1400"/>
              </a:spcAft>
            </a:pPr>
            <a:r>
              <a:rPr sz="2100">
                <a:solidFill>
                  <a:srgbClr val="2563EB"/>
                </a:solidFill>
                <a:latin typeface="Segoe UI"/>
              </a:rPr>
              <a:t>▪  </a:t>
            </a:r>
            <a:r>
              <a:rPr sz="2100">
                <a:solidFill>
                  <a:srgbClr val="111827"/>
                </a:solidFill>
                <a:latin typeface="Segoe UI"/>
              </a:rPr>
              <a:t>Nothing is ever "unknown."</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9  ·  AI Training Series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Your logs cost 3× your prose</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English ~250 tokens / 1,000 chars</a:t>
            </a:r>
          </a:p>
          <a:p>
            <a:pPr>
              <a:spcAft>
                <a:spcPts val="1400"/>
              </a:spcAft>
            </a:pPr>
            <a:r>
              <a:rPr sz="2100">
                <a:solidFill>
                  <a:srgbClr val="2563EB"/>
                </a:solidFill>
                <a:latin typeface="Segoe UI"/>
              </a:rPr>
              <a:t>▪  </a:t>
            </a:r>
            <a:r>
              <a:rPr sz="2100">
                <a:solidFill>
                  <a:srgbClr val="111827"/>
                </a:solidFill>
                <a:latin typeface="Segoe UI"/>
              </a:rPr>
              <a:t>German ~300–400</a:t>
            </a:r>
          </a:p>
          <a:p>
            <a:pPr>
              <a:spcAft>
                <a:spcPts val="1400"/>
              </a:spcAft>
            </a:pPr>
            <a:r>
              <a:rPr sz="2100">
                <a:solidFill>
                  <a:srgbClr val="2563EB"/>
                </a:solidFill>
                <a:latin typeface="Segoe UI"/>
              </a:rPr>
              <a:t>▪  </a:t>
            </a:r>
            <a:r>
              <a:rPr sz="2100">
                <a:solidFill>
                  <a:srgbClr val="111827"/>
                </a:solidFill>
                <a:latin typeface="Segoe UI"/>
              </a:rPr>
              <a:t>Code ~350–450</a:t>
            </a:r>
          </a:p>
          <a:p>
            <a:pPr>
              <a:spcAft>
                <a:spcPts val="1400"/>
              </a:spcAft>
            </a:pPr>
            <a:r>
              <a:rPr sz="2100">
                <a:solidFill>
                  <a:srgbClr val="2563EB"/>
                </a:solidFill>
                <a:latin typeface="Segoe UI"/>
              </a:rPr>
              <a:t>▪  </a:t>
            </a:r>
            <a:r>
              <a:rPr sz="2100">
                <a:solidFill>
                  <a:srgbClr val="111827"/>
                </a:solidFill>
                <a:latin typeface="Segoe UI"/>
              </a:rPr>
              <a:t>JSON ~400–500</a:t>
            </a:r>
          </a:p>
          <a:p>
            <a:pPr>
              <a:spcAft>
                <a:spcPts val="1400"/>
              </a:spcAft>
            </a:pPr>
            <a:r>
              <a:rPr sz="2100">
                <a:solidFill>
                  <a:srgbClr val="2563EB"/>
                </a:solidFill>
                <a:latin typeface="Segoe UI"/>
              </a:rPr>
              <a:t>▪  </a:t>
            </a:r>
            <a:r>
              <a:rPr sz="2100">
                <a:solidFill>
                  <a:srgbClr val="111827"/>
                </a:solidFill>
                <a:latin typeface="Segoe UI"/>
              </a:rPr>
              <a:t>Hashes and IDs ~600–900</a:t>
            </a:r>
          </a:p>
          <a:p>
            <a:pPr>
              <a:spcAft>
                <a:spcPts val="1400"/>
              </a:spcAft>
            </a:pPr>
            <a:r>
              <a:rPr sz="2100">
                <a:solidFill>
                  <a:srgbClr val="2563EB"/>
                </a:solidFill>
                <a:latin typeface="Segoe UI"/>
              </a:rPr>
              <a:t>▪  </a:t>
            </a:r>
            <a:r>
              <a:rPr sz="2100">
                <a:solidFill>
                  <a:srgbClr val="111827"/>
                </a:solidFill>
                <a:latin typeface="Segoe UI"/>
              </a:rPr>
              <a:t>Approximate — measure your own.</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9  ·  AI Training Series</a:t>
            </a:r>
          </a:p>
        </p:txBody>
      </p:sp>
      <p:sp>
        <p:nvSpPr>
          <p:cNvPr id="6" name="TextBox 5"/>
          <p:cNvSpPr txBox="1"/>
          <p:nvPr/>
        </p:nvSpPr>
        <p:spPr>
          <a:xfrm>
            <a:off x="7498079" y="6327648"/>
            <a:ext cx="4023360" cy="365760"/>
          </a:xfrm>
          <a:prstGeom prst="rect">
            <a:avLst/>
          </a:prstGeom>
          <a:noFill/>
        </p:spPr>
        <p:txBody>
          <a:bodyPr wrap="square" anchor="t">
            <a:spAutoFit/>
          </a:bodyPr>
          <a:lstStyle/>
          <a:p>
            <a:pPr algn="r">
              <a:spcAft>
                <a:spcPts val="1000"/>
              </a:spcAft>
            </a:pPr>
            <a:r>
              <a:rPr sz="1000" b="0">
                <a:solidFill>
                  <a:srgbClr val="6B7280"/>
                </a:solidFill>
                <a:latin typeface="Segoe UI"/>
              </a:rPr>
              <a:t>Tiktokenizer (MIT) — screenshot embeddable, attribute. Table is original; mark it "approximate, verify at…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A token becomes a direction, and direction means meaning</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One learned vector per vocabulary entry</a:t>
            </a:r>
          </a:p>
          <a:p>
            <a:pPr>
              <a:spcAft>
                <a:spcPts val="1400"/>
              </a:spcAft>
            </a:pPr>
            <a:r>
              <a:rPr sz="2100">
                <a:solidFill>
                  <a:srgbClr val="2563EB"/>
                </a:solidFill>
                <a:latin typeface="Segoe UI"/>
              </a:rPr>
              <a:t>▪  </a:t>
            </a:r>
            <a:r>
              <a:rPr sz="2100">
                <a:solidFill>
                  <a:srgbClr val="111827"/>
                </a:solidFill>
                <a:latin typeface="Segoe UI"/>
              </a:rPr>
              <a:t>GPT-2 small: 50,257 × 768 ≈ 38.6M numbers</a:t>
            </a:r>
          </a:p>
          <a:p>
            <a:pPr>
              <a:spcAft>
                <a:spcPts val="1400"/>
              </a:spcAft>
            </a:pPr>
            <a:r>
              <a:rPr sz="2100">
                <a:solidFill>
                  <a:srgbClr val="2563EB"/>
                </a:solidFill>
                <a:latin typeface="Segoe UI"/>
              </a:rPr>
              <a:t>▪  </a:t>
            </a:r>
            <a:r>
              <a:rPr sz="2100">
                <a:solidFill>
                  <a:srgbClr val="111827"/>
                </a:solidFill>
                <a:latin typeface="Segoe UI"/>
              </a:rPr>
              <a:t>Relatedness = cosine similarity = a dot product</a:t>
            </a:r>
          </a:p>
          <a:p>
            <a:pPr>
              <a:spcAft>
                <a:spcPts val="1400"/>
              </a:spcAft>
            </a:pPr>
            <a:r>
              <a:rPr sz="2100">
                <a:solidFill>
                  <a:srgbClr val="2563EB"/>
                </a:solidFill>
                <a:latin typeface="Segoe UI"/>
              </a:rPr>
              <a:t>▪  </a:t>
            </a:r>
            <a:r>
              <a:rPr sz="2100">
                <a:solidFill>
                  <a:srgbClr val="111827"/>
                </a:solidFill>
                <a:latin typeface="Segoe UI"/>
              </a:rPr>
              <a:t>No dimension has a human-readable name</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9  ·  AI Training Series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But the vector for "snow" is the same in both sentences</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Embeddings are context-free — same row, every time</a:t>
            </a:r>
          </a:p>
          <a:p>
            <a:pPr>
              <a:spcAft>
                <a:spcPts val="1400"/>
              </a:spcAft>
            </a:pPr>
            <a:r>
              <a:rPr sz="2100">
                <a:solidFill>
                  <a:srgbClr val="2563EB"/>
                </a:solidFill>
                <a:latin typeface="Segoe UI"/>
              </a:rPr>
              <a:t>▪  </a:t>
            </a:r>
            <a:r>
              <a:rPr sz="2100">
                <a:solidFill>
                  <a:srgbClr val="111827"/>
                </a:solidFill>
                <a:latin typeface="Segoe UI"/>
              </a:rPr>
              <a:t>Position is added, but position is identical here</a:t>
            </a:r>
          </a:p>
          <a:p>
            <a:pPr>
              <a:spcAft>
                <a:spcPts val="1400"/>
              </a:spcAft>
            </a:pPr>
            <a:r>
              <a:rPr sz="2100">
                <a:solidFill>
                  <a:srgbClr val="2563EB"/>
                </a:solidFill>
                <a:latin typeface="Segoe UI"/>
              </a:rPr>
              <a:t>▪  </a:t>
            </a:r>
            <a:r>
              <a:rPr sz="2100">
                <a:solidFill>
                  <a:srgbClr val="111827"/>
                </a:solidFill>
                <a:latin typeface="Segoe UI"/>
              </a:rPr>
              <a:t>✗ frequency models</a:t>
            </a:r>
          </a:p>
          <a:p>
            <a:pPr>
              <a:spcAft>
                <a:spcPts val="1400"/>
              </a:spcAft>
            </a:pPr>
            <a:r>
              <a:rPr sz="2100">
                <a:solidFill>
                  <a:srgbClr val="2563EB"/>
                </a:solidFill>
                <a:latin typeface="Segoe UI"/>
              </a:rPr>
              <a:t>▪  </a:t>
            </a:r>
            <a:r>
              <a:rPr sz="2100">
                <a:solidFill>
                  <a:srgbClr val="111827"/>
                </a:solidFill>
                <a:latin typeface="Segoe UI"/>
              </a:rPr>
              <a:t>✗ static embeddings</a:t>
            </a:r>
          </a:p>
          <a:p>
            <a:pPr>
              <a:spcAft>
                <a:spcPts val="1400"/>
              </a:spcAft>
            </a:pPr>
            <a:r>
              <a:rPr sz="2100">
                <a:solidFill>
                  <a:srgbClr val="2563EB"/>
                </a:solidFill>
                <a:latin typeface="Segoe UI"/>
              </a:rPr>
              <a:t>▪  </a:t>
            </a:r>
            <a:r>
              <a:rPr sz="2100">
                <a:solidFill>
                  <a:srgbClr val="111827"/>
                </a:solidFill>
                <a:latin typeface="Segoe UI"/>
              </a:rPr>
              <a:t>Something has to look at the rest of the sentence.</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9  ·  AI Training Series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Attention: every token rebuilds itself out of its context</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Query — what I'm looking for</a:t>
            </a:r>
          </a:p>
          <a:p>
            <a:pPr>
              <a:spcAft>
                <a:spcPts val="1400"/>
              </a:spcAft>
            </a:pPr>
            <a:r>
              <a:rPr sz="2100">
                <a:solidFill>
                  <a:srgbClr val="2563EB"/>
                </a:solidFill>
                <a:latin typeface="Segoe UI"/>
              </a:rPr>
              <a:t>▪  </a:t>
            </a:r>
            <a:r>
              <a:rPr sz="2100">
                <a:solidFill>
                  <a:srgbClr val="111827"/>
                </a:solidFill>
                <a:latin typeface="Segoe UI"/>
              </a:rPr>
              <a:t>Key — what I am</a:t>
            </a:r>
          </a:p>
          <a:p>
            <a:pPr>
              <a:spcAft>
                <a:spcPts val="1400"/>
              </a:spcAft>
            </a:pPr>
            <a:r>
              <a:rPr sz="2100">
                <a:solidFill>
                  <a:srgbClr val="2563EB"/>
                </a:solidFill>
                <a:latin typeface="Segoe UI"/>
              </a:rPr>
              <a:t>▪  </a:t>
            </a:r>
            <a:r>
              <a:rPr sz="2100">
                <a:solidFill>
                  <a:srgbClr val="111827"/>
                </a:solidFill>
                <a:latin typeface="Segoe UI"/>
              </a:rPr>
              <a:t>Value — what I'll contribute</a:t>
            </a:r>
          </a:p>
          <a:p>
            <a:pPr>
              <a:spcAft>
                <a:spcPts val="1400"/>
              </a:spcAft>
            </a:pPr>
            <a:r>
              <a:rPr sz="2100">
                <a:solidFill>
                  <a:srgbClr val="2563EB"/>
                </a:solidFill>
                <a:latin typeface="Segoe UI"/>
              </a:rPr>
              <a:t>▪  </a:t>
            </a:r>
            <a:r>
              <a:rPr sz="2100">
                <a:solidFill>
                  <a:srgbClr val="111827"/>
                </a:solidFill>
                <a:latin typeface="Segoe UI"/>
              </a:rPr>
              <a:t>Each token = a weighted average of all values, weights it computes itself</a:t>
            </a:r>
          </a:p>
          <a:p>
            <a:pPr>
              <a:spcAft>
                <a:spcPts val="1400"/>
              </a:spcAft>
            </a:pPr>
            <a:r>
              <a:rPr sz="2100">
                <a:solidFill>
                  <a:srgbClr val="2563EB"/>
                </a:solidFill>
                <a:latin typeface="Segoe UI"/>
              </a:rPr>
              <a:t>▪  </a:t>
            </a:r>
            <a:r>
              <a:rPr sz="2100">
                <a:solidFill>
                  <a:srgbClr val="111827"/>
                </a:solidFill>
                <a:latin typeface="Segoe UI"/>
              </a:rPr>
              <a:t>`softmax(QKᵀ/√d)</a:t>
            </a:r>
          </a:p>
          <a:p>
            <a:pPr>
              <a:spcAft>
                <a:spcPts val="1400"/>
              </a:spcAft>
            </a:pPr>
            <a:r>
              <a:rPr sz="2100">
                <a:solidFill>
                  <a:srgbClr val="2563EB"/>
                </a:solidFill>
                <a:latin typeface="Segoe UI"/>
              </a:rPr>
              <a:t>▪  </a:t>
            </a:r>
            <a:r>
              <a:rPr sz="2100">
                <a:solidFill>
                  <a:srgbClr val="111827"/>
                </a:solidFill>
                <a:latin typeface="Segoe UI"/>
              </a:rPr>
              <a:t>V`</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9  ·  AI Training Series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Same input vector in, different vector out (the reveal)</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white starts as the identical vector in both sentences</a:t>
            </a:r>
          </a:p>
          <a:p>
            <a:pPr>
              <a:spcAft>
                <a:spcPts val="1400"/>
              </a:spcAft>
            </a:pPr>
            <a:r>
              <a:rPr sz="2100">
                <a:solidFill>
                  <a:srgbClr val="2563EB"/>
                </a:solidFill>
                <a:latin typeface="Segoe UI"/>
              </a:rPr>
              <a:t>▪  </a:t>
            </a:r>
            <a:r>
              <a:rPr sz="2100">
                <a:solidFill>
                  <a:srgbClr val="111827"/>
                </a:solidFill>
                <a:latin typeface="Segoe UI"/>
              </a:rPr>
              <a:t>After one attention layer:</a:t>
            </a:r>
          </a:p>
          <a:p>
            <a:pPr>
              <a:spcAft>
                <a:spcPts val="1400"/>
              </a:spcAft>
            </a:pPr>
            <a:r>
              <a:rPr sz="2100">
                <a:solidFill>
                  <a:srgbClr val="2563EB"/>
                </a:solidFill>
                <a:latin typeface="Segoe UI"/>
              </a:rPr>
              <a:t>▪  </a:t>
            </a:r>
            <a:r>
              <a:rPr sz="2100">
                <a:solidFill>
                  <a:srgbClr val="111827"/>
                </a:solidFill>
                <a:latin typeface="Segoe UI"/>
              </a:rPr>
              <a:t>"Who is snow white" → WHO 0.324, WHY 0.021</a:t>
            </a:r>
          </a:p>
          <a:p>
            <a:pPr>
              <a:spcAft>
                <a:spcPts val="1400"/>
              </a:spcAft>
            </a:pPr>
            <a:r>
              <a:rPr sz="2100">
                <a:solidFill>
                  <a:srgbClr val="2563EB"/>
                </a:solidFill>
                <a:latin typeface="Segoe UI"/>
              </a:rPr>
              <a:t>▪  </a:t>
            </a:r>
            <a:r>
              <a:rPr sz="2100">
                <a:solidFill>
                  <a:srgbClr val="111827"/>
                </a:solidFill>
                <a:latin typeface="Segoe UI"/>
              </a:rPr>
              <a:t>"Why is snow white" → WHO 0.022, WHY 0.276</a:t>
            </a:r>
          </a:p>
          <a:p>
            <a:pPr>
              <a:spcAft>
                <a:spcPts val="1400"/>
              </a:spcAft>
            </a:pPr>
            <a:r>
              <a:rPr sz="2100">
                <a:solidFill>
                  <a:srgbClr val="2563EB"/>
                </a:solidFill>
                <a:latin typeface="Segoe UI"/>
              </a:rPr>
              <a:t>▪  </a:t>
            </a:r>
            <a:r>
              <a:rPr sz="2100">
                <a:solidFill>
                  <a:srgbClr val="111827"/>
                </a:solidFill>
                <a:latin typeface="Segoe UI"/>
              </a:rPr>
              <a:t>Attention moved the question word into the token.</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9  ·  AI Training Series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And the difference compounds with depth</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Layer 1: weight on snow = 0.304 vs 0.325</a:t>
            </a:r>
          </a:p>
          <a:p>
            <a:pPr>
              <a:spcAft>
                <a:spcPts val="1400"/>
              </a:spcAft>
            </a:pPr>
            <a:r>
              <a:rPr sz="2100">
                <a:solidFill>
                  <a:srgbClr val="2563EB"/>
                </a:solidFill>
                <a:latin typeface="Segoe UI"/>
              </a:rPr>
              <a:t>▪  </a:t>
            </a:r>
            <a:r>
              <a:rPr sz="2100">
                <a:solidFill>
                  <a:srgbClr val="111827"/>
                </a:solidFill>
                <a:latin typeface="Segoe UI"/>
              </a:rPr>
              <a:t>Layer 2: 0.356 vs 0.392</a:t>
            </a:r>
          </a:p>
          <a:p>
            <a:pPr>
              <a:spcAft>
                <a:spcPts val="1400"/>
              </a:spcAft>
            </a:pPr>
            <a:r>
              <a:rPr sz="2100">
                <a:solidFill>
                  <a:srgbClr val="2563EB"/>
                </a:solidFill>
                <a:latin typeface="Segoe UI"/>
              </a:rPr>
              <a:t>▪  </a:t>
            </a:r>
            <a:r>
              <a:rPr sz="2100">
                <a:solidFill>
                  <a:srgbClr val="111827"/>
                </a:solidFill>
                <a:latin typeface="Segoe UI"/>
              </a:rPr>
              <a:t>Each layer's queries come from the previous layer's outputs</a:t>
            </a:r>
          </a:p>
          <a:p>
            <a:pPr>
              <a:spcAft>
                <a:spcPts val="1400"/>
              </a:spcAft>
            </a:pPr>
            <a:r>
              <a:rPr sz="2100">
                <a:solidFill>
                  <a:srgbClr val="2563EB"/>
                </a:solidFill>
                <a:latin typeface="Segoe UI"/>
              </a:rPr>
              <a:t>▪  </a:t>
            </a:r>
            <a:r>
              <a:rPr sz="2100">
                <a:solidFill>
                  <a:srgbClr val="111827"/>
                </a:solidFill>
                <a:latin typeface="Segoe UI"/>
              </a:rPr>
              <a:t>Depth is not redundancy — meaning is built up over layers.</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9  ·  AI Training Series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Live: attention in a real model</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(Demo slide — minimal text) Transformer Explainer</a:t>
            </a:r>
          </a:p>
          <a:p>
            <a:pPr>
              <a:spcAft>
                <a:spcPts val="1400"/>
              </a:spcAft>
            </a:pPr>
            <a:r>
              <a:rPr sz="2100">
                <a:solidFill>
                  <a:srgbClr val="2563EB"/>
                </a:solidFill>
                <a:latin typeface="Segoe UI"/>
              </a:rPr>
              <a:t>▪  </a:t>
            </a:r>
            <a:r>
              <a:rPr sz="2100">
                <a:solidFill>
                  <a:srgbClr val="111827"/>
                </a:solidFill>
                <a:latin typeface="Segoe UI"/>
              </a:rPr>
              <a:t>GPT-2 small, running in your browser</a:t>
            </a:r>
          </a:p>
          <a:p>
            <a:pPr>
              <a:spcAft>
                <a:spcPts val="1400"/>
              </a:spcAft>
            </a:pPr>
            <a:r>
              <a:rPr sz="2100">
                <a:solidFill>
                  <a:srgbClr val="2563EB"/>
                </a:solidFill>
                <a:latin typeface="Segoe UI"/>
              </a:rPr>
              <a:t>▪  </a:t>
            </a:r>
            <a:r>
              <a:rPr sz="2100">
                <a:solidFill>
                  <a:srgbClr val="111827"/>
                </a:solidFill>
                <a:latin typeface="Segoe UI"/>
              </a:rPr>
              <a:t>Type a sentence, click a token, watch where it looks</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9  ·  AI Training Series</a:t>
            </a:r>
          </a:p>
        </p:txBody>
      </p:sp>
      <p:sp>
        <p:nvSpPr>
          <p:cNvPr id="6" name="TextBox 5"/>
          <p:cNvSpPr txBox="1"/>
          <p:nvPr/>
        </p:nvSpPr>
        <p:spPr>
          <a:xfrm>
            <a:off x="7498079" y="6327648"/>
            <a:ext cx="4023360" cy="365760"/>
          </a:xfrm>
          <a:prstGeom prst="rect">
            <a:avLst/>
          </a:prstGeom>
          <a:noFill/>
        </p:spPr>
        <p:txBody>
          <a:bodyPr wrap="square" anchor="t">
            <a:spAutoFit/>
          </a:bodyPr>
          <a:lstStyle/>
          <a:p>
            <a:pPr algn="r">
              <a:spcAft>
                <a:spcPts val="1000"/>
              </a:spcAft>
            </a:pPr>
            <a:r>
              <a:rPr sz="1000" b="0">
                <a:solidFill>
                  <a:srgbClr val="6B7280"/>
                </a:solidFill>
                <a:latin typeface="Segoe UI"/>
              </a:rPr>
              <a:t>Transformer Explainer, Georgia Tech / Polo Chau lab (MIT) — screenshots embeddable, attribute in footer.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The stack: 12 heads, 12 layers, and where the parameters go</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Multi-head: d_model split, not duplicated (768 = 12 × 64)</a:t>
            </a:r>
          </a:p>
          <a:p>
            <a:pPr>
              <a:spcAft>
                <a:spcPts val="1400"/>
              </a:spcAft>
            </a:pPr>
            <a:r>
              <a:rPr sz="2100">
                <a:solidFill>
                  <a:srgbClr val="2563EB"/>
                </a:solidFill>
                <a:latin typeface="Segoe UI"/>
              </a:rPr>
              <a:t>▪  </a:t>
            </a:r>
            <a:r>
              <a:rPr sz="2100">
                <a:solidFill>
                  <a:srgbClr val="111827"/>
                </a:solidFill>
                <a:latin typeface="Segoe UI"/>
              </a:rPr>
              <a:t>Block = attention (between tokens) + feed-forward (within a token)</a:t>
            </a:r>
          </a:p>
          <a:p>
            <a:pPr>
              <a:spcAft>
                <a:spcPts val="1400"/>
              </a:spcAft>
            </a:pPr>
            <a:r>
              <a:rPr sz="2100">
                <a:solidFill>
                  <a:srgbClr val="2563EB"/>
                </a:solidFill>
                <a:latin typeface="Segoe UI"/>
              </a:rPr>
              <a:t>▪  </a:t>
            </a:r>
            <a:r>
              <a:rPr sz="2100">
                <a:solidFill>
                  <a:srgbClr val="111827"/>
                </a:solidFill>
                <a:latin typeface="Segoe UI"/>
              </a:rPr>
              <a:t>Residuals + layer norm make depth trainable</a:t>
            </a:r>
          </a:p>
          <a:p>
            <a:pPr>
              <a:spcAft>
                <a:spcPts val="1400"/>
              </a:spcAft>
            </a:pPr>
            <a:r>
              <a:rPr sz="2100">
                <a:solidFill>
                  <a:srgbClr val="2563EB"/>
                </a:solidFill>
                <a:latin typeface="Segoe UI"/>
              </a:rPr>
              <a:t>▪  </a:t>
            </a:r>
            <a:r>
              <a:rPr sz="2100">
                <a:solidFill>
                  <a:srgbClr val="111827"/>
                </a:solidFill>
                <a:latin typeface="Segoe UI"/>
              </a:rPr>
              <a:t>GPT-2 small 124M: FFN ~45%, embeddings ~31%, attention ~23%</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9  ·  AI Training Series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Encoder or decoder decides what a model is for</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Encoder-only — bidirectional → representations, classification, embeddings for RAG</a:t>
            </a:r>
          </a:p>
          <a:p>
            <a:pPr>
              <a:spcAft>
                <a:spcPts val="1400"/>
              </a:spcAft>
            </a:pPr>
            <a:r>
              <a:rPr sz="2100">
                <a:solidFill>
                  <a:srgbClr val="2563EB"/>
                </a:solidFill>
                <a:latin typeface="Segoe UI"/>
              </a:rPr>
              <a:t>▪  </a:t>
            </a:r>
            <a:r>
              <a:rPr sz="2100">
                <a:solidFill>
                  <a:srgbClr val="111827"/>
                </a:solidFill>
                <a:latin typeface="Segoe UI"/>
              </a:rPr>
              <a:t>Decoder-only — causally masked → text, left to right → every chat model you use</a:t>
            </a:r>
          </a:p>
          <a:p>
            <a:pPr>
              <a:spcAft>
                <a:spcPts val="1400"/>
              </a:spcAft>
            </a:pPr>
            <a:r>
              <a:rPr sz="2100">
                <a:solidFill>
                  <a:srgbClr val="2563EB"/>
                </a:solidFill>
                <a:latin typeface="Segoe UI"/>
              </a:rPr>
              <a:t>▪  </a:t>
            </a:r>
            <a:r>
              <a:rPr sz="2100">
                <a:solidFill>
                  <a:srgbClr val="111827"/>
                </a:solidFill>
                <a:latin typeface="Segoe UI"/>
              </a:rPr>
              <a:t>Encoder-decoder — sequence to sequence → translation, summarisation</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9  ·  AI Training Series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It writes one token, then starts over</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One full forward pass per output token</a:t>
            </a:r>
          </a:p>
          <a:p>
            <a:pPr>
              <a:spcAft>
                <a:spcPts val="1400"/>
              </a:spcAft>
            </a:pPr>
            <a:r>
              <a:rPr sz="2100">
                <a:solidFill>
                  <a:srgbClr val="2563EB"/>
                </a:solidFill>
                <a:latin typeface="Segoe UI"/>
              </a:rPr>
              <a:t>▪  </a:t>
            </a:r>
            <a:r>
              <a:rPr sz="2100">
                <a:solidFill>
                  <a:srgbClr val="111827"/>
                </a:solidFill>
                <a:latin typeface="Segoe UI"/>
              </a:rPr>
              <a:t>Streams because it genuinely is produced one at a time</a:t>
            </a:r>
          </a:p>
          <a:p>
            <a:pPr>
              <a:spcAft>
                <a:spcPts val="1400"/>
              </a:spcAft>
            </a:pPr>
            <a:r>
              <a:rPr sz="2100">
                <a:solidFill>
                  <a:srgbClr val="2563EB"/>
                </a:solidFill>
                <a:latin typeface="Segoe UI"/>
              </a:rPr>
              <a:t>▪  </a:t>
            </a:r>
            <a:r>
              <a:rPr sz="2100">
                <a:solidFill>
                  <a:srgbClr val="111827"/>
                </a:solidFill>
                <a:latin typeface="Segoe UI"/>
              </a:rPr>
              <a:t>Output tokens cost more than input tokens</a:t>
            </a:r>
          </a:p>
          <a:p>
            <a:pPr>
              <a:spcAft>
                <a:spcPts val="1400"/>
              </a:spcAft>
            </a:pPr>
            <a:r>
              <a:rPr sz="2100">
                <a:solidFill>
                  <a:srgbClr val="2563EB"/>
                </a:solidFill>
                <a:latin typeface="Segoe UI"/>
              </a:rPr>
              <a:t>▪  </a:t>
            </a:r>
            <a:r>
              <a:rPr sz="2100">
                <a:solidFill>
                  <a:srgbClr val="111827"/>
                </a:solidFill>
                <a:latin typeface="Segoe UI"/>
              </a:rPr>
              <a:t>No backspace — token 1 is committed before token 40 exists</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9  ·  AI Training Series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Temperature is one division. That's the whole knob.</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P(i) = exp(logit_i / T) / Σ exp(logit_j / T)</a:t>
            </a:r>
          </a:p>
          <a:p>
            <a:pPr>
              <a:spcAft>
                <a:spcPts val="1400"/>
              </a:spcAft>
            </a:pPr>
            <a:r>
              <a:rPr sz="2100">
                <a:solidFill>
                  <a:srgbClr val="2563EB"/>
                </a:solidFill>
                <a:latin typeface="Segoe UI"/>
              </a:rPr>
              <a:t>▪  </a:t>
            </a:r>
            <a:r>
              <a:rPr sz="2100">
                <a:solidFill>
                  <a:srgbClr val="111827"/>
                </a:solidFill>
                <a:latin typeface="Segoe UI"/>
              </a:rPr>
              <a:t>T=0.5 → Canberra 0.993</a:t>
            </a:r>
          </a:p>
          <a:p>
            <a:pPr>
              <a:spcAft>
                <a:spcPts val="1400"/>
              </a:spcAft>
            </a:pPr>
            <a:r>
              <a:rPr sz="2100">
                <a:solidFill>
                  <a:srgbClr val="2563EB"/>
                </a:solidFill>
                <a:latin typeface="Segoe UI"/>
              </a:rPr>
              <a:t>▪  </a:t>
            </a:r>
            <a:r>
              <a:rPr sz="2100">
                <a:solidFill>
                  <a:srgbClr val="111827"/>
                </a:solidFill>
                <a:latin typeface="Segoe UI"/>
              </a:rPr>
              <a:t>T=1.0 → 0.907</a:t>
            </a:r>
          </a:p>
          <a:p>
            <a:pPr>
              <a:spcAft>
                <a:spcPts val="1400"/>
              </a:spcAft>
            </a:pPr>
            <a:r>
              <a:rPr sz="2100">
                <a:solidFill>
                  <a:srgbClr val="2563EB"/>
                </a:solidFill>
                <a:latin typeface="Segoe UI"/>
              </a:rPr>
              <a:t>▪  </a:t>
            </a:r>
            <a:r>
              <a:rPr sz="2100">
                <a:solidFill>
                  <a:srgbClr val="111827"/>
                </a:solidFill>
                <a:latin typeface="Segoe UI"/>
              </a:rPr>
              <a:t>T=2.0 → 0.680, and a wrong capital ~13% of the time</a:t>
            </a:r>
          </a:p>
          <a:p>
            <a:pPr>
              <a:spcAft>
                <a:spcPts val="1400"/>
              </a:spcAft>
            </a:pPr>
            <a:r>
              <a:rPr sz="2100">
                <a:solidFill>
                  <a:srgbClr val="2563EB"/>
                </a:solidFill>
                <a:latin typeface="Segoe UI"/>
              </a:rPr>
              <a:t>▪  </a:t>
            </a:r>
            <a:r>
              <a:rPr sz="2100">
                <a:solidFill>
                  <a:srgbClr val="111827"/>
                </a:solidFill>
                <a:latin typeface="Segoe UI"/>
              </a:rPr>
              <a:t>T=0 is reproducible, not accurate.</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9  ·  AI Training Series</a:t>
            </a:r>
          </a:p>
        </p:txBody>
      </p:sp>
      <p:sp>
        <p:nvSpPr>
          <p:cNvPr id="6" name="TextBox 5"/>
          <p:cNvSpPr txBox="1"/>
          <p:nvPr/>
        </p:nvSpPr>
        <p:spPr>
          <a:xfrm>
            <a:off x="7498079" y="6327648"/>
            <a:ext cx="4023360" cy="365760"/>
          </a:xfrm>
          <a:prstGeom prst="rect">
            <a:avLst/>
          </a:prstGeom>
          <a:noFill/>
        </p:spPr>
        <p:txBody>
          <a:bodyPr wrap="square" anchor="t">
            <a:spAutoFit/>
          </a:bodyPr>
          <a:lstStyle/>
          <a:p>
            <a:pPr algn="r">
              <a:spcAft>
                <a:spcPts val="1000"/>
              </a:spcAft>
            </a:pPr>
            <a:r>
              <a:rPr sz="1000" b="0">
                <a:solidFill>
                  <a:srgbClr val="6B7280"/>
                </a:solidFill>
                <a:latin typeface="Segoe UI"/>
              </a:rPr>
              <a:t>numbers original (this course's own code). Demo: Transformer Explainer (MIT) — attribute.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Doubling the context quadruples the attention cost</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Every query × every key = an n × n grid, per head, per layer</a:t>
            </a:r>
          </a:p>
          <a:p>
            <a:pPr>
              <a:spcAft>
                <a:spcPts val="1400"/>
              </a:spcAft>
            </a:pPr>
            <a:r>
              <a:rPr sz="2100">
                <a:solidFill>
                  <a:srgbClr val="2563EB"/>
                </a:solidFill>
                <a:latin typeface="Segoe UI"/>
              </a:rPr>
              <a:t>▪  </a:t>
            </a:r>
            <a:r>
              <a:rPr sz="2100">
                <a:solidFill>
                  <a:srgbClr val="111827"/>
                </a:solidFill>
                <a:latin typeface="Segoe UI"/>
              </a:rPr>
              <a:t>1K → 1M comparisons</a:t>
            </a:r>
          </a:p>
          <a:p>
            <a:pPr>
              <a:spcAft>
                <a:spcPts val="1400"/>
              </a:spcAft>
            </a:pPr>
            <a:r>
              <a:rPr sz="2100">
                <a:solidFill>
                  <a:srgbClr val="2563EB"/>
                </a:solidFill>
                <a:latin typeface="Segoe UI"/>
              </a:rPr>
              <a:t>▪  </a:t>
            </a:r>
            <a:r>
              <a:rPr sz="2100">
                <a:solidFill>
                  <a:srgbClr val="111827"/>
                </a:solidFill>
                <a:latin typeface="Segoe UI"/>
              </a:rPr>
              <a:t>16K → 268M</a:t>
            </a:r>
          </a:p>
          <a:p>
            <a:pPr>
              <a:spcAft>
                <a:spcPts val="1400"/>
              </a:spcAft>
            </a:pPr>
            <a:r>
              <a:rPr sz="2100">
                <a:solidFill>
                  <a:srgbClr val="2563EB"/>
                </a:solidFill>
                <a:latin typeface="Segoe UI"/>
              </a:rPr>
              <a:t>▪  </a:t>
            </a:r>
            <a:r>
              <a:rPr sz="2100">
                <a:solidFill>
                  <a:srgbClr val="111827"/>
                </a:solidFill>
                <a:latin typeface="Segoe UI"/>
              </a:rPr>
              <a:t>64K → 4.3 billion</a:t>
            </a:r>
          </a:p>
          <a:p>
            <a:pPr>
              <a:spcAft>
                <a:spcPts val="1400"/>
              </a:spcAft>
            </a:pPr>
            <a:r>
              <a:rPr sz="2100">
                <a:solidFill>
                  <a:srgbClr val="2563EB"/>
                </a:solidFill>
                <a:latin typeface="Segoe UI"/>
              </a:rPr>
              <a:t>▪  </a:t>
            </a:r>
            <a:r>
              <a:rPr sz="2100">
                <a:solidFill>
                  <a:srgbClr val="111827"/>
                </a:solidFill>
                <a:latin typeface="Segoe UI"/>
              </a:rPr>
              <a:t>1M → 1.1 trillion</a:t>
            </a:r>
          </a:p>
          <a:p>
            <a:pPr>
              <a:spcAft>
                <a:spcPts val="1400"/>
              </a:spcAft>
            </a:pPr>
            <a:r>
              <a:rPr sz="2100">
                <a:solidFill>
                  <a:srgbClr val="2563EB"/>
                </a:solidFill>
                <a:latin typeface="Segoe UI"/>
              </a:rPr>
              <a:t>▪  </a:t>
            </a:r>
            <a:r>
              <a:rPr sz="2100">
                <a:solidFill>
                  <a:srgbClr val="111827"/>
                </a:solidFill>
                <a:latin typeface="Segoe UI"/>
              </a:rPr>
              <a:t>KV cache: memory grows linearly, tens of GB per conversation</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9  ·  AI Training Series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More context is not monotonically better</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Lost in the middle — accuracy is U-shaped in the position of the relevant fact</a:t>
            </a:r>
          </a:p>
          <a:p>
            <a:pPr>
              <a:spcAft>
                <a:spcPts val="1400"/>
              </a:spcAft>
            </a:pPr>
            <a:r>
              <a:rPr sz="2100">
                <a:solidFill>
                  <a:srgbClr val="2563EB"/>
                </a:solidFill>
                <a:latin typeface="Segoe UI"/>
              </a:rPr>
              <a:t>▪  </a:t>
            </a:r>
            <a:r>
              <a:rPr sz="2100">
                <a:solidFill>
                  <a:srgbClr val="111827"/>
                </a:solidFill>
                <a:latin typeface="Segoe UI"/>
              </a:rPr>
              <a:t>Context rot — degrades with length even at 100% retrieval</a:t>
            </a:r>
          </a:p>
          <a:p>
            <a:pPr>
              <a:spcAft>
                <a:spcPts val="1400"/>
              </a:spcAft>
            </a:pPr>
            <a:r>
              <a:rPr sz="2100">
                <a:solidFill>
                  <a:srgbClr val="2563EB"/>
                </a:solidFill>
                <a:latin typeface="Segoe UI"/>
              </a:rPr>
              <a:t>▪  </a:t>
            </a:r>
            <a:r>
              <a:rPr sz="2100">
                <a:solidFill>
                  <a:srgbClr val="111827"/>
                </a:solidFill>
                <a:latin typeface="Segoe UI"/>
              </a:rPr>
              <a:t>Distractors bite harder as length grows</a:t>
            </a:r>
          </a:p>
          <a:p>
            <a:pPr>
              <a:spcAft>
                <a:spcPts val="1400"/>
              </a:spcAft>
            </a:pPr>
            <a:r>
              <a:rPr sz="2100">
                <a:solidFill>
                  <a:srgbClr val="2563EB"/>
                </a:solidFill>
                <a:latin typeface="Segoe UI"/>
              </a:rPr>
              <a:t>▪  </a:t>
            </a:r>
            <a:r>
              <a:rPr sz="2100">
                <a:solidFill>
                  <a:srgbClr val="111827"/>
                </a:solidFill>
                <a:latin typeface="Segoe UI"/>
              </a:rPr>
              <a:t>Curate, don't dump. Critical material first or last</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9  ·  AI Training Series</a:t>
            </a:r>
          </a:p>
        </p:txBody>
      </p:sp>
      <p:sp>
        <p:nvSpPr>
          <p:cNvPr id="6" name="TextBox 5"/>
          <p:cNvSpPr txBox="1"/>
          <p:nvPr/>
        </p:nvSpPr>
        <p:spPr>
          <a:xfrm>
            <a:off x="7498079" y="6327648"/>
            <a:ext cx="4023360" cy="365760"/>
          </a:xfrm>
          <a:prstGeom prst="rect">
            <a:avLst/>
          </a:prstGeom>
          <a:noFill/>
        </p:spPr>
        <p:txBody>
          <a:bodyPr wrap="square" anchor="t">
            <a:spAutoFit/>
          </a:bodyPr>
          <a:lstStyle/>
          <a:p>
            <a:pPr algn="r">
              <a:spcAft>
                <a:spcPts val="1000"/>
              </a:spcAft>
            </a:pPr>
            <a:r>
              <a:rPr sz="1000" b="0">
                <a:solidFill>
                  <a:srgbClr val="6B7280"/>
                </a:solidFill>
                <a:latin typeface="Segoe UI"/>
              </a:rPr>
              <a:t>⚠️ Cite Liu et al. (Lost in the Middle) and Chroma (Context Rot) as claims; do not reproduce their figure…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Now walk the pipeline and find the fact-check</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Tokenise? No. Embed? No. Attention? Computes relevance, not correctness. Feed-forward? Learned weights. Logits? "Fits the pattern." Softmax? Arithmetic. Sample? A die roll</a:t>
            </a:r>
          </a:p>
          <a:p>
            <a:pPr>
              <a:spcAft>
                <a:spcPts val="1400"/>
              </a:spcAft>
            </a:pPr>
            <a:r>
              <a:rPr sz="2100">
                <a:solidFill>
                  <a:srgbClr val="2563EB"/>
                </a:solidFill>
                <a:latin typeface="Segoe UI"/>
              </a:rPr>
              <a:t>▪  </a:t>
            </a:r>
            <a:r>
              <a:rPr sz="2100">
                <a:solidFill>
                  <a:srgbClr val="111827"/>
                </a:solidFill>
                <a:latin typeface="Segoe UI"/>
              </a:rPr>
              <a:t>There is nowhere for a truth check to be.</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9  ·  AI Training Series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Q&amp;A / discussion</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"Given the mechanism, which of our AI use cases is the machine structurally unsuited for?"</a:t>
            </a:r>
          </a:p>
          <a:p>
            <a:pPr>
              <a:spcAft>
                <a:spcPts val="1400"/>
              </a:spcAft>
            </a:pPr>
            <a:r>
              <a:rPr sz="2100">
                <a:solidFill>
                  <a:srgbClr val="2563EB"/>
                </a:solidFill>
                <a:latin typeface="Segoe UI"/>
              </a:rPr>
              <a:t>▪  </a:t>
            </a:r>
            <a:r>
              <a:rPr sz="2100">
                <a:solidFill>
                  <a:srgbClr val="111827"/>
                </a:solidFill>
                <a:latin typeface="Segoe UI"/>
              </a:rPr>
              <a:t>See exercises/discussion.md</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9  ·  AI Training Series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Resources &amp; credits</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Play with it: Transformer Explainer (MIT)</a:t>
            </a:r>
          </a:p>
          <a:p>
            <a:pPr>
              <a:spcAft>
                <a:spcPts val="1400"/>
              </a:spcAft>
            </a:pPr>
            <a:r>
              <a:rPr sz="2100">
                <a:solidFill>
                  <a:srgbClr val="2563EB"/>
                </a:solidFill>
                <a:latin typeface="Segoe UI"/>
              </a:rPr>
              <a:t>▪  </a:t>
            </a:r>
            <a:r>
              <a:rPr sz="2100">
                <a:solidFill>
                  <a:srgbClr val="111827"/>
                </a:solidFill>
                <a:latin typeface="Segoe UI"/>
              </a:rPr>
              <a:t>Tiktokenizer (MIT)</a:t>
            </a:r>
          </a:p>
          <a:p>
            <a:pPr>
              <a:spcAft>
                <a:spcPts val="1400"/>
              </a:spcAft>
            </a:pPr>
            <a:r>
              <a:rPr sz="2100">
                <a:solidFill>
                  <a:srgbClr val="2563EB"/>
                </a:solidFill>
                <a:latin typeface="Segoe UI"/>
              </a:rPr>
              <a:t>▪  </a:t>
            </a:r>
            <a:r>
              <a:rPr sz="2100">
                <a:solidFill>
                  <a:srgbClr val="111827"/>
                </a:solidFill>
                <a:latin typeface="Segoe UI"/>
              </a:rPr>
              <a:t>Karpathy microgpt (MIT)</a:t>
            </a:r>
          </a:p>
          <a:p>
            <a:pPr>
              <a:spcAft>
                <a:spcPts val="1400"/>
              </a:spcAft>
            </a:pPr>
            <a:r>
              <a:rPr sz="2100">
                <a:solidFill>
                  <a:srgbClr val="2563EB"/>
                </a:solidFill>
                <a:latin typeface="Segoe UI"/>
              </a:rPr>
              <a:t>▪  </a:t>
            </a:r>
            <a:r>
              <a:rPr sz="2100">
                <a:solidFill>
                  <a:srgbClr val="111827"/>
                </a:solidFill>
                <a:latin typeface="Segoe UI"/>
              </a:rPr>
              <a:t>Read/watch: 3Blue1Brown Ch. 5–6</a:t>
            </a:r>
          </a:p>
          <a:p>
            <a:pPr>
              <a:spcAft>
                <a:spcPts val="1400"/>
              </a:spcAft>
            </a:pPr>
            <a:r>
              <a:rPr sz="2100">
                <a:solidFill>
                  <a:srgbClr val="2563EB"/>
                </a:solidFill>
                <a:latin typeface="Segoe UI"/>
              </a:rPr>
              <a:t>▪  </a:t>
            </a:r>
            <a:r>
              <a:rPr sz="2100">
                <a:solidFill>
                  <a:srgbClr val="111827"/>
                </a:solidFill>
                <a:latin typeface="Segoe UI"/>
              </a:rPr>
              <a:t>Alammar, The Illustrated Transformer</a:t>
            </a:r>
          </a:p>
          <a:p>
            <a:pPr>
              <a:spcAft>
                <a:spcPts val="1400"/>
              </a:spcAft>
            </a:pPr>
            <a:r>
              <a:rPr sz="2100">
                <a:solidFill>
                  <a:srgbClr val="2563EB"/>
                </a:solidFill>
                <a:latin typeface="Segoe UI"/>
              </a:rPr>
              <a:t>▪  </a:t>
            </a:r>
            <a:r>
              <a:rPr sz="2100">
                <a:solidFill>
                  <a:srgbClr val="111827"/>
                </a:solidFill>
                <a:latin typeface="Segoe UI"/>
              </a:rPr>
              <a:t>FT explainer</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9  ·  AI Training Series</a:t>
            </a:r>
          </a:p>
        </p:txBody>
      </p:sp>
      <p:sp>
        <p:nvSpPr>
          <p:cNvPr id="6" name="TextBox 5"/>
          <p:cNvSpPr txBox="1"/>
          <p:nvPr/>
        </p:nvSpPr>
        <p:spPr>
          <a:xfrm>
            <a:off x="7498079" y="6327648"/>
            <a:ext cx="4023360" cy="365760"/>
          </a:xfrm>
          <a:prstGeom prst="rect">
            <a:avLst/>
          </a:prstGeom>
          <a:noFill/>
        </p:spPr>
        <p:txBody>
          <a:bodyPr wrap="square" anchor="t">
            <a:spAutoFit/>
          </a:bodyPr>
          <a:lstStyle/>
          <a:p>
            <a:pPr algn="r">
              <a:spcAft>
                <a:spcPts val="1000"/>
              </a:spcAft>
            </a:pPr>
            <a:r>
              <a:rPr sz="1000" b="0">
                <a:solidFill>
                  <a:srgbClr val="6B7280"/>
                </a:solidFill>
                <a:latin typeface="Segoe UI"/>
              </a:rPr>
              <a:t>attribution slide — MIT/Apache credits for every embedded asset used in this deck. --- ## Build checklist…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