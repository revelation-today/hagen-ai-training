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session is about being fooled by a true number. Three parts: hallucination and what actually mitigates it; why your metric lies; and a vendor role-play that ends in a buy/don't-buy decision. Nothing today requires code. The last part is the one you will use within the month.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README minute-budget. Flag that the vendor role-play at minute 28 is the centrepiece and that we are deliberately leaving the hook unresolved until then.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 the room by show of hands and write the counts on a flipchart — you will return to them at minute 39 and the change is the emotional payoff. Take one "need more info" answer and ask what they'd ask for; do not evaluate it. Say explicitly: "we come back to this at minute 28." Then move on. Resisting the urge to resolve this now is what makes the reveal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 recap in 90 seconds. The model cannot flag its own extrapolation, because fluency is produced by the same machinery either way. So "it sounded confident" carries exactly zero information about whether it is true. That single fact is why every mitigation in the next four slides is about external checking.</a:t>
            </a:r>
          </a:p>
          <a:p/>
          <a:p>
            <a:r>
              <a:t>--- Mermaid source 1 (render and place on the diagram box) ---</a:t>
            </a:r>
          </a:p>
          <a:p>
            <a:r>
              <a:t>flowchart LR</a:t>
            </a:r>
          </a:p>
          <a:p>
            <a:r>
              <a:t>    P["Prompt"] --&gt; R{"Densely covered&lt;br/&gt;pattern space?"}</a:t>
            </a:r>
          </a:p>
          <a:p>
            <a:r>
              <a:t>    R --&gt;|"Dense — interpolation"| G["Fluent output&lt;br/&gt;usually correct"]</a:t>
            </a:r>
          </a:p>
          <a:p>
            <a:r>
              <a:t>    R --&gt;|"Sparse — extrapolation"| H["Fluent output&lt;br/&gt;possibly invented"]</a:t>
            </a:r>
          </a:p>
          <a:p>
            <a:r>
              <a:t>    G --&gt; S["Identical confidence,&lt;br/&gt;no warning label"]</a:t>
            </a:r>
          </a:p>
          <a:p>
            <a:r>
              <a:t>    H --&gt;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after Maynez et al. 2020 — put the attribution in the footer. Why a manager cares: the two failure modes have different mitigations, and buying the wrong one is common. Intrinsic errors can be checked against a document you possess, which means they can be automated. Extrinsic errors need an outside source of truth. Grounding moves work from the second bucket to the first — real progress, not a cure.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then land on the failures, because the failures are what nobody says in a vendor demo. The dangerous one is the second: a real citation attached to an inapplicable passage — a different release, a superseded policy. The citation being right there is what stops the reviewer looking. Then the good news: groundedness is measurable — RAGAS, ARES — so "is this answer faithful to its source?" has published methodology and a number. If a vendor can't give you a faithfulness number, they haven't measured the thing you care about.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counter-intuitive turn and the bridge to the next slide. Most AI business cases assume verification is free. If the model is good, verification costs the full price of doing the task — and if the team skips it to preserve the saving, you have automated the appearance of the work while deleting the check. Ask the room: whose business case survives if you price verification honestly?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sentence of the session for this audience. Three mechanisms; the third is the one people miss and the strongest — improvement is selective, so the residual 1% is not a random sample of the old 30%, it is the hardest-to-detect part of it. Automation complacency / startle factor is documented human-performance science, not a discipline problem; aviation designed around it decades ago. Consequence for this room: a model upgrade invalidates your risk assessment. That's a change-control instinct and it applies directly.</a:t>
            </a:r>
          </a:p>
          <a:p/>
          <a:p>
            <a:r>
              <a:t>--- Mermaid source 1 (render and place on the diagram box) ---</a:t>
            </a:r>
          </a:p>
          <a:p>
            <a:r>
              <a:t>flowchart TD</a:t>
            </a:r>
          </a:p>
          <a:p>
            <a:r>
              <a:t>    A["Model accuracy rises&lt;br/&gt;99% correct"] --&gt; B["Reviewer sees a long&lt;br/&gt;run of correct outputs"]</a:t>
            </a:r>
          </a:p>
          <a:p>
            <a:r>
              <a:t>    B --&gt; C1["Expectation shifts:&lt;br/&gt;'this is usually right'"]</a:t>
            </a:r>
          </a:p>
          <a:p>
            <a:r>
              <a:t>    B --&gt; C2["Review time per item&lt;br/&gt;falls to near zero"]</a:t>
            </a:r>
          </a:p>
          <a:p>
            <a:r>
              <a:t>    B --&gt; C3["Errors become subtle —&lt;br/&gt;the easy ones were fixed first"]</a:t>
            </a:r>
          </a:p>
          <a:p>
            <a:r>
              <a:t>    C1 --&gt; D["Detection probability&lt;br/&gt;collapses"]</a:t>
            </a:r>
          </a:p>
          <a:p>
            <a:r>
              <a:t>    C2 --&gt; D</a:t>
            </a:r>
          </a:p>
          <a:p>
            <a:r>
              <a:t>    C3 --&gt; 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Necessary and not sufficient. Run the five questions; any "no" makes the gate theatre. The last line is the fitness test and the sharpest one: if the reviewer couldn't derive the answer independently, they are rating writing style — and writing style is precisely where a good model never fails. Then the three controls that survive an improving model: sample and independently re-derive; seed known-bad items and measure the catch rate; treat a model version as a configuration item.</a:t>
            </a:r>
          </a:p>
          <a:p/>
          <a:p>
            <a:r>
              <a:t>--- Mermaid source 1 (render and place on the diagram box) ---</a:t>
            </a:r>
          </a:p>
          <a:p>
            <a:r>
              <a:t>flowchart TD</a:t>
            </a:r>
          </a:p>
          <a:p>
            <a:r>
              <a:t>    H["'We have a human in the loop'"] --&gt; Q1{"Qualified in the&lt;br/&gt;subject matter?"}</a:t>
            </a:r>
          </a:p>
          <a:p>
            <a:r>
              <a:t>    Q1 --&gt;|No| T["Theatre"]</a:t>
            </a:r>
          </a:p>
          <a:p>
            <a:r>
              <a:t>    Q1 --&gt;|Yes| Q2{"Source of truth&lt;br/&gt;available at review?"}</a:t>
            </a:r>
          </a:p>
          <a:p>
            <a:r>
              <a:t>    Q2 --&gt;|No| T</a:t>
            </a:r>
          </a:p>
          <a:p>
            <a:r>
              <a:t>    Q2 --&gt;|Yes| Q3{"Time per item ×&lt;br/&gt;items per day fits&lt;br/&gt;a working day?"}</a:t>
            </a:r>
          </a:p>
          <a:p>
            <a:r>
              <a:t>    Q3 --&gt;|No| T</a:t>
            </a:r>
          </a:p>
          <a:p>
            <a:r>
              <a:t>    Q3 --&gt;|Yes| Q4{"Measured on catch rate,&lt;br/&gt;not throughput?"}</a:t>
            </a:r>
          </a:p>
          <a:p>
            <a:r>
              <a:t>    Q4 --&gt;|No| T</a:t>
            </a:r>
          </a:p>
          <a:p>
            <a:r>
              <a:t>    Q4 --&gt;|Yes| C["A real control.&lt;br/&gt;Now sample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land the punchline, pause. Then twist the knife: why stop at Michael — predict nobody ever quits and score 99%, with no model, no data, no features. Machine learning takes shortcuts exactly like this, and it does so precisely when the event is rare: attrition, fraud, security breaches, escaping defects, production incidents. The rarer and more valuable the event, the higher the accuracy a useless model reports.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row/column convention out loud before reading anything — half of all confusion-matrix confusion is convention confusion. Read the top row: of the one person who quit, we found zero. Read the left column: of the one we flagged, zero were right. Both numbers you care about are zero. F1 is not low, it is mathematically undefined — 0/0 — and an undefined F1 is a screaming alarm. Note that scikit-learn renders it as 0.00, which many dashboards inherit and hide. Mention we corrected a cell-label transposition in the source deck; the values were unaffected only by luck.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hinge of the whole deck — everything after it is this one idea with money attached. Sensitivity is measured only on the positive cases, so it is blind to how many negatives exist, and it can always be driven to 1.0 by flagging everything. Which means sensitivity alone is never evidence. Say the last bullet slowly; it is the setup for slide 14.</a:t>
            </a:r>
          </a:p>
          <a:p/>
          <a:p>
            <a:r>
              <a:t>--- Mermaid source 1 (render and place on the diagram box) ---</a:t>
            </a:r>
          </a:p>
          <a:p>
            <a:r>
              <a:t>flowchart LR</a:t>
            </a:r>
          </a:p>
          <a:p>
            <a:r>
              <a:t>    subgraph SENS["Sensitivity — start from the TRUTH"]</a:t>
            </a:r>
          </a:p>
          <a:p>
            <a:r>
              <a:t>      A["Of everyone who&lt;br/&gt;really is positive…"] --&gt; B["…how many did&lt;br/&gt;we flag?"]</a:t>
            </a:r>
          </a:p>
          <a:p>
            <a:r>
              <a:t>    end</a:t>
            </a:r>
          </a:p>
          <a:p>
            <a:r>
              <a:t>    subgraph PREC["Precision — start from the PREDICTION"]</a:t>
            </a:r>
          </a:p>
          <a:p>
            <a:r>
              <a:t>      C["Of everyone we&lt;br/&gt;flagged…"] --&gt; D["…how many really&lt;br/&gt;are positive?"]</a:t>
            </a:r>
          </a:p>
          <a:p>
            <a:r>
              <a:t>    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by counting bodies out of 100,000 on screen, never by manipulating the formula — it is faster, checkable in a meeting, and much harder to get wrong. Then the correction, which is better than the original: the same data honestly supports "4× more likely" (vs. the whole population) or "24× more likely" (vs. non-gamers) — and both describe 2 in 10,000. A relative risk without an absolute risk is not information. Ask always: multiplied from what, compared to whom? Transfer it to work: "80% of outages involved framework X" is exactly what you'd expect if X had no effect, when 80% of commits use X.</a:t>
            </a:r>
          </a:p>
          <a:p/>
          <a:p>
            <a:r>
              <a:t>--- Mermaid source 1 (render and place on the diagram box) ---</a:t>
            </a:r>
          </a:p>
          <a:p>
            <a:r>
              <a:t>flowchart TD</a:t>
            </a:r>
          </a:p>
          <a:p>
            <a:r>
              <a:t>    A["Entire population&lt;br/&gt;100,000 people"] --&gt; B["Play violent video games&lt;br/&gt;19,000 people"]</a:t>
            </a:r>
          </a:p>
          <a:p>
            <a:r>
              <a:t>    A --&gt; C["Do NOT play&lt;br/&gt;81,000 people"]</a:t>
            </a:r>
          </a:p>
          <a:p>
            <a:r>
              <a:t>    B --&gt; D["…and are homicidal&lt;br/&gt;4.25 people"]</a:t>
            </a:r>
          </a:p>
          <a:p>
            <a:r>
              <a:t>    C --&gt; E["…and are homicidal&lt;br/&gt;0.75 people"]</a:t>
            </a:r>
          </a:p>
          <a:p>
            <a:r>
              <a:t>    D --&gt; F["P(homicidal | gamer)&lt;br/&gt;= 4.25 / 19,000 = 0.02%"]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hook. Do not doubt the number — identify it. Read the vendor's sentence back and point at the population it describes. Then the killer aside: flag every patient and you have 100% sensitivity and a worthless test, so sensitivity alone can never be evidence. First question earned.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 is cooperative; the matrix is real; the 99% checks out. 79.8% is a defensible screening tool and this is where most evaluations stop and most purchases happen. Then plant the unease: every number so far came from the vendor. You have verified their internal consistency and nothing else. What can you check independently? Exactly one thing — and it's public.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fair to the vendor here — enrichment is standard, correct practice. Validating a rare-condition test on an unenriched sample would need 20,000 patients. Nobody did anything wrong. But sensitivity and specificity travel with the test, and precision does not. Move the population and precision changes with not one line of the model changing. This is the slide the whole session exists for.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3.39% first — that's the reveal as the source stages it. Then correct it in front of the room, because this is the best two minutes in the deck: the source has an arithmetic slip (.0099/.248 = 3.99, not 3.39) and a deeper error — it reuses the vendor's 24.8% positive rate, which belongs to the vendor's 20% population. A deck teaching people not to mix populations mixed populations. Say that plainly. The honest 13.8% is better for the vendor and changes nothing. Then re-poll the room against the flipchart from slide 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useful table in the session — tell people to photograph it. Same test throughout; only the population changes. The second column is the hidden lesson: alert volume moves barely fourfold while precision moves fiftyfold, so a steady alert count is fully compatible with the tool having become worthless. Then the AI-tooling swap: same arithmetic, defect-prediction tool, your repo at 1% — 718 flags per 10,000 commits, 619 false, a third of an engineer consumed, and within a fortnight the flags are closed unread. The dashboard still reports 99%, truthfully, every 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framing sentence deliberately — not usually malicious; human nature under pressure and career survival — because it decides whether the room becomes usefully sceptical or uselessly cynical. Read the middle quote again and point out it is a normal commercial instruction that nobody experiences as a p-hacking instruction. Then the operational consequence: if you think of it as fraud you look for bad actors, find none, and relax; if you think of it as incentive you look at the process and build controls. Close on the third split: the validation set is a controlled artefact — version it, restrict it, log every access. Paraphrase Coase; do not put the quotation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deliverable. Hand out the printed one-pager here. Reiterate that question 4 is the only one the vendor cannot answer for you, and it is the one that changes the decision. Close on the session's single sentence: a number can be completely true and completely misleading, and the gap is the population it was measured in.</a:t>
            </a:r>
          </a:p>
          <a:p/>
          <a:p>
            <a:r>
              <a:t>--- Mermaid source 1 (render and place on the diagram box) ---</a:t>
            </a:r>
          </a:p>
          <a:p>
            <a:r>
              <a:t>flowchart TD</a:t>
            </a:r>
          </a:p>
          <a:p>
            <a:r>
              <a:t>    S["Vendor quotes a&lt;br/&gt;headline accuracy number"] --&gt; Q1{"Sensitivity, precision,&lt;br/&gt;or accuracy?"}</a:t>
            </a:r>
          </a:p>
          <a:p>
            <a:r>
              <a:t>    Q1 --&gt;|"Won't say"| NO["Walk away"]</a:t>
            </a:r>
          </a:p>
          <a:p>
            <a:r>
              <a:t>    Q1 --&gt;|"Identified"| Q2{"Full confusion matrix,&lt;br/&gt;raw counts?"}</a:t>
            </a:r>
          </a:p>
          <a:p>
            <a:r>
              <a:t>    Q2 --&gt;|"No"| NO</a:t>
            </a:r>
          </a:p>
          <a:p>
            <a:r>
              <a:t>    Q2 --&gt;|"Yes"| Q3{"Their base rate vs.&lt;br/&gt;my base rate?"}</a:t>
            </a:r>
          </a:p>
          <a:p>
            <a:r>
              <a:t>    Q3 --&gt;|"Similar"| OK["Their precision ≈ your precision.&lt;br/&gt;Proceed to a pilot."]</a:t>
            </a:r>
          </a:p>
          <a:p>
            <a:r>
              <a:t>    Q3 --&gt;|"Theirs is higher"| BAYES["Recompute precision&lt;br/&gt;at YOUR base rate"]</a:t>
            </a:r>
          </a:p>
          <a:p>
            <a:r>
              <a:t>    BAYES --&gt; Q4{"Can you afford that&lt;br/&gt;false-alarm volume,&lt;br/&gt;every day, forever?"}</a:t>
            </a:r>
          </a:p>
          <a:p>
            <a:r>
              <a:t>    Q4 --&gt;|"No"| NARROW["Narrow the population,&lt;br/&gt;stage the test, or don't buy"]</a:t>
            </a:r>
          </a:p>
          <a:p>
            <a:r>
              <a:t>    Q4 --&gt;|"Yes"| PILOT["Pilot — and measure&lt;br/&gt;precision on YOUR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seed question and let it breathe — this room will have examples, and their examples are better than any you can supply. Prompts 2 (is our human-in-the-loop real?) and 4 (what's our base rate, and do we even know it?) are the ones most likely to produce an action item. Capture actions on the flipchart.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lab for anyone who wants to run the numbers themselves — 25 minutes, Colab, no setup. Note that all statistics in this deck were re-derived for this course and that two source-deck errors were corrected on slides 13 and 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Risk I: When AI Is Confidently Wrong</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13 of 16  ·  Use it safely</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Hallucination + mitigations</a:t>
            </a:r>
          </a:p>
          <a:p>
            <a:pPr>
              <a:spcAft>
                <a:spcPts val="1400"/>
              </a:spcAft>
            </a:pPr>
            <a:r>
              <a:rPr sz="2100">
                <a:solidFill>
                  <a:srgbClr val="2563EB"/>
                </a:solidFill>
                <a:latin typeface="Segoe UI"/>
              </a:rPr>
              <a:t>▪  </a:t>
            </a:r>
            <a:r>
              <a:rPr sz="2100">
                <a:solidFill>
                  <a:srgbClr val="111827"/>
                </a:solidFill>
                <a:latin typeface="Segoe UI"/>
              </a:rPr>
              <a:t>The 99% trap</a:t>
            </a:r>
          </a:p>
          <a:p>
            <a:pPr>
              <a:spcAft>
                <a:spcPts val="1400"/>
              </a:spcAft>
            </a:pPr>
            <a:r>
              <a:rPr sz="2100">
                <a:solidFill>
                  <a:srgbClr val="2563EB"/>
                </a:solidFill>
                <a:latin typeface="Segoe UI"/>
              </a:rPr>
              <a:t>▪  </a:t>
            </a:r>
            <a:r>
              <a:rPr sz="2100">
                <a:solidFill>
                  <a:srgbClr val="111827"/>
                </a:solidFill>
                <a:latin typeface="Segoe UI"/>
              </a:rPr>
              <a:t>Why your metric lies</a:t>
            </a:r>
          </a:p>
          <a:p>
            <a:pPr>
              <a:spcAft>
                <a:spcPts val="1400"/>
              </a:spcAft>
            </a:pPr>
            <a:r>
              <a:rPr sz="2100">
                <a:solidFill>
                  <a:srgbClr val="2563EB"/>
                </a:solidFill>
                <a:latin typeface="Segoe UI"/>
              </a:rPr>
              <a:t>▪  </a:t>
            </a:r>
            <a:r>
              <a:rPr sz="2100">
                <a:solidFill>
                  <a:srgbClr val="111827"/>
                </a:solidFill>
                <a:latin typeface="Segoe UI"/>
              </a:rPr>
              <a:t>Base rates</a:t>
            </a:r>
          </a:p>
          <a:p>
            <a:pPr>
              <a:spcAft>
                <a:spcPts val="1400"/>
              </a:spcAft>
            </a:pPr>
            <a:r>
              <a:rPr sz="2100">
                <a:solidFill>
                  <a:srgbClr val="2563EB"/>
                </a:solidFill>
                <a:latin typeface="Segoe UI"/>
              </a:rPr>
              <a:t>▪  </a:t>
            </a:r>
            <a:r>
              <a:rPr sz="2100">
                <a:solidFill>
                  <a:srgbClr val="111827"/>
                </a:solidFill>
                <a:latin typeface="Segoe UI"/>
              </a:rPr>
              <a:t>The vendor role-play</a:t>
            </a:r>
          </a:p>
          <a:p>
            <a:pPr>
              <a:spcAft>
                <a:spcPts val="1400"/>
              </a:spcAft>
            </a:pPr>
            <a:r>
              <a:rPr sz="2100">
                <a:solidFill>
                  <a:srgbClr val="2563EB"/>
                </a:solidFill>
                <a:latin typeface="Segoe UI"/>
              </a:rPr>
              <a:t>▪  </a:t>
            </a:r>
            <a:r>
              <a:rPr sz="2100">
                <a:solidFill>
                  <a:srgbClr val="111827"/>
                </a:solidFill>
                <a:latin typeface="Segoe UI"/>
              </a:rPr>
              <a:t>P-hacking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Would you buy this? (hook — do not resolve)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"Our AI identifies 99% of at-risk cases."</a:t>
            </a:r>
          </a:p>
          <a:p>
            <a:pPr>
              <a:spcAft>
                <a:spcPts val="1400"/>
              </a:spcAft>
            </a:pPr>
            <a:r>
              <a:rPr sz="2100">
                <a:solidFill>
                  <a:srgbClr val="2563EB"/>
                </a:solidFill>
                <a:latin typeface="Segoe UI"/>
              </a:rPr>
              <a:t>▪  </a:t>
            </a:r>
            <a:r>
              <a:rPr sz="2100">
                <a:solidFill>
                  <a:srgbClr val="111827"/>
                </a:solidFill>
                <a:latin typeface="Segoe UI"/>
              </a:rPr>
              <a:t>Buy it?</a:t>
            </a:r>
          </a:p>
          <a:p>
            <a:pPr>
              <a:spcAft>
                <a:spcPts val="1400"/>
              </a:spcAft>
            </a:pPr>
            <a:r>
              <a:rPr sz="2100">
                <a:solidFill>
                  <a:srgbClr val="2563EB"/>
                </a:solidFill>
                <a:latin typeface="Segoe UI"/>
              </a:rPr>
              <a:t>▪  </a:t>
            </a:r>
            <a:r>
              <a:rPr sz="2100">
                <a:solidFill>
                  <a:srgbClr val="111827"/>
                </a:solidFill>
                <a:latin typeface="Segoe UI"/>
              </a:rPr>
              <a:t>Don't buy it?</a:t>
            </a:r>
          </a:p>
          <a:p>
            <a:pPr>
              <a:spcAft>
                <a:spcPts val="1400"/>
              </a:spcAft>
            </a:pPr>
            <a:r>
              <a:rPr sz="2100">
                <a:solidFill>
                  <a:srgbClr val="2563EB"/>
                </a:solidFill>
                <a:latin typeface="Segoe UI"/>
              </a:rPr>
              <a:t>▪  </a:t>
            </a:r>
            <a:r>
              <a:rPr sz="2100">
                <a:solidFill>
                  <a:srgbClr val="111827"/>
                </a:solidFill>
                <a:latin typeface="Segoe UI"/>
              </a:rPr>
              <a:t>Need more information?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Fluent and wrong leave by the same door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Dense data → interpolation → usually right</a:t>
            </a:r>
          </a:p>
          <a:p>
            <a:pPr>
              <a:spcAft>
                <a:spcPts val="1400"/>
              </a:spcAft>
            </a:pPr>
            <a:r>
              <a:rPr sz="1700">
                <a:solidFill>
                  <a:srgbClr val="2563EB"/>
                </a:solidFill>
                <a:latin typeface="Segoe UI"/>
              </a:rPr>
              <a:t>▪  </a:t>
            </a:r>
            <a:r>
              <a:rPr sz="1700">
                <a:solidFill>
                  <a:srgbClr val="111827"/>
                </a:solidFill>
                <a:latin typeface="Segoe UI"/>
              </a:rPr>
              <a:t>Sparse data → extrapolation → possibly invented</a:t>
            </a:r>
          </a:p>
          <a:p>
            <a:pPr>
              <a:spcAft>
                <a:spcPts val="1400"/>
              </a:spcAft>
            </a:pPr>
            <a:r>
              <a:rPr sz="1700">
                <a:solidFill>
                  <a:srgbClr val="2563EB"/>
                </a:solidFill>
                <a:latin typeface="Segoe UI"/>
              </a:rPr>
              <a:t>▪  </a:t>
            </a:r>
            <a:r>
              <a:rPr sz="1700">
                <a:solidFill>
                  <a:srgbClr val="111827"/>
                </a:solidFill>
                <a:latin typeface="Segoe UI"/>
              </a:rPr>
              <a:t>Same fluency. Same confidence. No warning label.</a:t>
            </a:r>
          </a:p>
        </p:txBody>
      </p:sp>
      <p:sp>
        <p:nvSpPr>
          <p:cNvPr id="5" name="Rounded Rectangle 4" descr="Diagram: Fluent and wrong leave by the same door"/>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Prompt  →  Fluent output usually correct  →  Fluent output possibly invented  →  Identical confidence, no warning label</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Two kinds of hallucination, two different fixes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Intrinsic — contradicts the source you gave it</a:t>
            </a:r>
          </a:p>
          <a:p>
            <a:pPr>
              <a:spcAft>
                <a:spcPts val="1400"/>
              </a:spcAft>
            </a:pPr>
            <a:r>
              <a:rPr sz="2100">
                <a:solidFill>
                  <a:srgbClr val="2563EB"/>
                </a:solidFill>
                <a:latin typeface="Segoe UI"/>
              </a:rPr>
              <a:t>▪  </a:t>
            </a:r>
            <a:r>
              <a:rPr sz="2100">
                <a:solidFill>
                  <a:srgbClr val="111827"/>
                </a:solidFill>
                <a:latin typeface="Segoe UI"/>
              </a:rPr>
              <a:t>Extrinsic — unverifiable from that source</a:t>
            </a:r>
          </a:p>
          <a:p>
            <a:pPr>
              <a:spcAft>
                <a:spcPts val="1400"/>
              </a:spcAft>
            </a:pPr>
            <a:r>
              <a:rPr sz="2100">
                <a:solidFill>
                  <a:srgbClr val="2563EB"/>
                </a:solidFill>
                <a:latin typeface="Segoe UI"/>
              </a:rPr>
              <a:t>▪  </a:t>
            </a:r>
            <a:r>
              <a:rPr sz="2100">
                <a:solidFill>
                  <a:srgbClr val="111827"/>
                </a:solidFill>
                <a:latin typeface="Segoe UI"/>
              </a:rPr>
              <a:t>Grounding turns extrinsic into intrinsic</a:t>
            </a:r>
          </a:p>
          <a:p>
            <a:pPr>
              <a:spcAft>
                <a:spcPts val="1400"/>
              </a:spcAft>
            </a:pPr>
            <a:r>
              <a:rPr sz="2100">
                <a:solidFill>
                  <a:srgbClr val="2563EB"/>
                </a:solidFill>
                <a:latin typeface="Segoe UI"/>
              </a:rPr>
              <a:t>▪  </a:t>
            </a:r>
            <a:r>
              <a:rPr sz="2100">
                <a:solidFill>
                  <a:srgbClr val="111827"/>
                </a:solidFill>
                <a:latin typeface="Segoe UI"/>
              </a:rPr>
              <a:t>Intrinsic is checkable. That is the win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Maynez et al. 2020, ACL Anthology, CC BY 4.0 — footer attribution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RAG makes hallucination auditable, not absent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Retrieve → answer only from retrieved text → cite → check every claim against its citation</a:t>
            </a:r>
          </a:p>
          <a:p>
            <a:pPr>
              <a:spcAft>
                <a:spcPts val="1400"/>
              </a:spcAft>
            </a:pPr>
            <a:r>
              <a:rPr sz="2100">
                <a:solidFill>
                  <a:srgbClr val="2563EB"/>
                </a:solidFill>
                <a:latin typeface="Segoe UI"/>
              </a:rPr>
              <a:t>▪  </a:t>
            </a:r>
            <a:r>
              <a:rPr sz="2100">
                <a:solidFill>
                  <a:srgbClr val="111827"/>
                </a:solidFill>
                <a:latin typeface="Segoe UI"/>
              </a:rPr>
              <a:t>New failures: retrieval miss</a:t>
            </a:r>
          </a:p>
          <a:p>
            <a:pPr>
              <a:spcAft>
                <a:spcPts val="1400"/>
              </a:spcAft>
            </a:pPr>
            <a:r>
              <a:rPr sz="2100">
                <a:solidFill>
                  <a:srgbClr val="2563EB"/>
                </a:solidFill>
                <a:latin typeface="Segoe UI"/>
              </a:rPr>
              <a:t>▪  </a:t>
            </a:r>
            <a:r>
              <a:rPr sz="2100">
                <a:solidFill>
                  <a:srgbClr val="111827"/>
                </a:solidFill>
                <a:latin typeface="Segoe UI"/>
              </a:rPr>
              <a:t>wrong-but-similar passage</a:t>
            </a:r>
          </a:p>
          <a:p>
            <a:pPr>
              <a:spcAft>
                <a:spcPts val="1400"/>
              </a:spcAft>
            </a:pPr>
            <a:r>
              <a:rPr sz="2100">
                <a:solidFill>
                  <a:srgbClr val="2563EB"/>
                </a:solidFill>
                <a:latin typeface="Segoe UI"/>
              </a:rPr>
              <a:t>▪  </a:t>
            </a:r>
            <a:r>
              <a:rPr sz="2100">
                <a:solidFill>
                  <a:srgbClr val="111827"/>
                </a:solidFill>
                <a:latin typeface="Segoe UI"/>
              </a:rPr>
              <a:t>synthesis across two correct citations</a:t>
            </a:r>
          </a:p>
          <a:p>
            <a:pPr>
              <a:spcAft>
                <a:spcPts val="1400"/>
              </a:spcAft>
            </a:pPr>
            <a:r>
              <a:rPr sz="2100">
                <a:solidFill>
                  <a:srgbClr val="2563EB"/>
                </a:solidFill>
                <a:latin typeface="Segoe UI"/>
              </a:rPr>
              <a:t>▪  </a:t>
            </a:r>
            <a:r>
              <a:rPr sz="2100">
                <a:solidFill>
                  <a:srgbClr val="111827"/>
                </a:solidFill>
                <a:latin typeface="Segoe UI"/>
              </a:rPr>
              <a:t>stale index</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verification paradox: cheap checking is a property of bad models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Weak model → errors are loud → verify in seconds</a:t>
            </a:r>
          </a:p>
          <a:p>
            <a:pPr>
              <a:spcAft>
                <a:spcPts val="1400"/>
              </a:spcAft>
            </a:pPr>
            <a:r>
              <a:rPr sz="2100">
                <a:solidFill>
                  <a:srgbClr val="2563EB"/>
                </a:solidFill>
                <a:latin typeface="Segoe UI"/>
              </a:rPr>
              <a:t>▪  </a:t>
            </a:r>
            <a:r>
              <a:rPr sz="2100">
                <a:solidFill>
                  <a:srgbClr val="111827"/>
                </a:solidFill>
                <a:latin typeface="Segoe UI"/>
              </a:rPr>
              <a:t>Excellent model → errors are indistinguishable → verify by re-deriving</a:t>
            </a:r>
          </a:p>
          <a:p>
            <a:pPr>
              <a:spcAft>
                <a:spcPts val="1400"/>
              </a:spcAft>
            </a:pPr>
            <a:r>
              <a:rPr sz="2100">
                <a:solidFill>
                  <a:srgbClr val="2563EB"/>
                </a:solidFill>
                <a:latin typeface="Segoe UI"/>
              </a:rPr>
              <a:t>▪  </a:t>
            </a:r>
            <a:r>
              <a:rPr sz="2100">
                <a:solidFill>
                  <a:srgbClr val="111827"/>
                </a:solidFill>
                <a:latin typeface="Segoe UI"/>
              </a:rPr>
              <a:t>The better it gets, the more verification costs.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If it's right 99% of the time, spotting the 1% is harder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Expectation shifts to "usually right"</a:t>
            </a:r>
          </a:p>
          <a:p>
            <a:pPr>
              <a:spcAft>
                <a:spcPts val="1400"/>
              </a:spcAft>
            </a:pPr>
            <a:r>
              <a:rPr sz="1700">
                <a:solidFill>
                  <a:srgbClr val="2563EB"/>
                </a:solidFill>
                <a:latin typeface="Segoe UI"/>
              </a:rPr>
              <a:t>▪  </a:t>
            </a:r>
            <a:r>
              <a:rPr sz="1700">
                <a:solidFill>
                  <a:srgbClr val="111827"/>
                </a:solidFill>
                <a:latin typeface="Segoe UI"/>
              </a:rPr>
              <a:t>Attention thins as throughput grows</a:t>
            </a:r>
          </a:p>
          <a:p>
            <a:pPr>
              <a:spcAft>
                <a:spcPts val="1400"/>
              </a:spcAft>
            </a:pPr>
            <a:r>
              <a:rPr sz="1700">
                <a:solidFill>
                  <a:srgbClr val="2563EB"/>
                </a:solidFill>
                <a:latin typeface="Segoe UI"/>
              </a:rPr>
              <a:t>▪  </a:t>
            </a:r>
            <a:r>
              <a:rPr sz="1700">
                <a:solidFill>
                  <a:srgbClr val="111827"/>
                </a:solidFill>
                <a:latin typeface="Segoe UI"/>
              </a:rPr>
              <a:t>The surviving errors are the subtlest ones — the obvious ones were fixed first</a:t>
            </a:r>
          </a:p>
          <a:p>
            <a:pPr>
              <a:spcAft>
                <a:spcPts val="1400"/>
              </a:spcAft>
            </a:pPr>
            <a:r>
              <a:rPr sz="1700">
                <a:solidFill>
                  <a:srgbClr val="2563EB"/>
                </a:solidFill>
                <a:latin typeface="Segoe UI"/>
              </a:rPr>
              <a:t>▪  </a:t>
            </a:r>
            <a:r>
              <a:rPr sz="1700">
                <a:solidFill>
                  <a:srgbClr val="111827"/>
                </a:solidFill>
                <a:latin typeface="Segoe UI"/>
              </a:rPr>
              <a:t>Model improvement ≠ risk reduction</a:t>
            </a:r>
          </a:p>
        </p:txBody>
      </p:sp>
      <p:sp>
        <p:nvSpPr>
          <p:cNvPr id="5" name="Rounded Rectangle 4" descr="Diagram: If it's right 99% of the time, spotting the 1% is harder"/>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Model accuracy rises 99% correct  →  Reviewer sees a long run of correct outputs  →  Expectation shifts: 'this is usually right'  →  Review time per item falls to near zero  →  Errors become subtle — the easy ones were fixed first  →  Detection probability collapses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"There's a human in the loop" is not a control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Qualified in the subject matter?</a:t>
            </a:r>
          </a:p>
          <a:p>
            <a:pPr>
              <a:spcAft>
                <a:spcPts val="1400"/>
              </a:spcAft>
            </a:pPr>
            <a:r>
              <a:rPr sz="1700">
                <a:solidFill>
                  <a:srgbClr val="2563EB"/>
                </a:solidFill>
                <a:latin typeface="Segoe UI"/>
              </a:rPr>
              <a:t>▪  </a:t>
            </a:r>
            <a:r>
              <a:rPr sz="1700">
                <a:solidFill>
                  <a:srgbClr val="111827"/>
                </a:solidFill>
                <a:latin typeface="Segoe UI"/>
              </a:rPr>
              <a:t>Source of truth at review time?</a:t>
            </a:r>
          </a:p>
          <a:p>
            <a:pPr>
              <a:spcAft>
                <a:spcPts val="1400"/>
              </a:spcAft>
            </a:pPr>
            <a:r>
              <a:rPr sz="1700">
                <a:solidFill>
                  <a:srgbClr val="2563EB"/>
                </a:solidFill>
                <a:latin typeface="Segoe UI"/>
              </a:rPr>
              <a:t>▪  </a:t>
            </a:r>
            <a:r>
              <a:rPr sz="1700">
                <a:solidFill>
                  <a:srgbClr val="111827"/>
                </a:solidFill>
                <a:latin typeface="Segoe UI"/>
              </a:rPr>
              <a:t>Time per item × items per day — do the multiplication</a:t>
            </a:r>
          </a:p>
          <a:p>
            <a:pPr>
              <a:spcAft>
                <a:spcPts val="1400"/>
              </a:spcAft>
            </a:pPr>
            <a:r>
              <a:rPr sz="1700">
                <a:solidFill>
                  <a:srgbClr val="2563EB"/>
                </a:solidFill>
                <a:latin typeface="Segoe UI"/>
              </a:rPr>
              <a:t>▪  </a:t>
            </a:r>
            <a:r>
              <a:rPr sz="1700">
                <a:solidFill>
                  <a:srgbClr val="111827"/>
                </a:solidFill>
                <a:latin typeface="Segoe UI"/>
              </a:rPr>
              <a:t>Measured on catch rate or throughput?</a:t>
            </a:r>
          </a:p>
          <a:p>
            <a:pPr>
              <a:spcAft>
                <a:spcPts val="1400"/>
              </a:spcAft>
            </a:pPr>
            <a:r>
              <a:rPr sz="1700">
                <a:solidFill>
                  <a:srgbClr val="2563EB"/>
                </a:solidFill>
                <a:latin typeface="Segoe UI"/>
              </a:rPr>
              <a:t>▪  </a:t>
            </a:r>
            <a:r>
              <a:rPr sz="1700">
                <a:solidFill>
                  <a:srgbClr val="111827"/>
                </a:solidFill>
                <a:latin typeface="Segoe UI"/>
              </a:rPr>
              <a:t>Could they have produced the right answer themselves?</a:t>
            </a:r>
          </a:p>
        </p:txBody>
      </p:sp>
      <p:sp>
        <p:nvSpPr>
          <p:cNvPr id="5" name="Rounded Rectangle 4" descr="Diagram: &quot;There's a human in the loop&quot; is not a control"/>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'We have a human in the loop'  →  Theatre  →  A real control. Now sample it.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98% accurate. Zero useful.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Model rule: "If they're called Michael, they'll quit."</a:t>
            </a:r>
          </a:p>
          <a:p>
            <a:pPr>
              <a:spcAft>
                <a:spcPts val="1400"/>
              </a:spcAft>
            </a:pPr>
            <a:r>
              <a:rPr sz="2100">
                <a:solidFill>
                  <a:srgbClr val="2563EB"/>
                </a:solidFill>
                <a:latin typeface="Segoe UI"/>
              </a:rPr>
              <a:t>▪  </a:t>
            </a:r>
            <a:r>
              <a:rPr sz="2100">
                <a:solidFill>
                  <a:srgbClr val="111827"/>
                </a:solidFill>
                <a:latin typeface="Segoe UI"/>
              </a:rPr>
              <a:t>100 employees</a:t>
            </a:r>
          </a:p>
          <a:p>
            <a:pPr>
              <a:spcAft>
                <a:spcPts val="1400"/>
              </a:spcAft>
            </a:pPr>
            <a:r>
              <a:rPr sz="2100">
                <a:solidFill>
                  <a:srgbClr val="2563EB"/>
                </a:solidFill>
                <a:latin typeface="Segoe UI"/>
              </a:rPr>
              <a:t>▪  </a:t>
            </a:r>
            <a:r>
              <a:rPr sz="2100">
                <a:solidFill>
                  <a:srgbClr val="111827"/>
                </a:solidFill>
                <a:latin typeface="Segoe UI"/>
              </a:rPr>
              <a:t>The one Michael stayed</a:t>
            </a:r>
          </a:p>
          <a:p>
            <a:pPr>
              <a:spcAft>
                <a:spcPts val="1400"/>
              </a:spcAft>
            </a:pPr>
            <a:r>
              <a:rPr sz="2100">
                <a:solidFill>
                  <a:srgbClr val="2563EB"/>
                </a:solidFill>
                <a:latin typeface="Segoe UI"/>
              </a:rPr>
              <a:t>▪  </a:t>
            </a:r>
            <a:r>
              <a:rPr sz="2100">
                <a:solidFill>
                  <a:srgbClr val="111827"/>
                </a:solidFill>
                <a:latin typeface="Segoe UI"/>
              </a:rPr>
              <a:t>Someone else quit</a:t>
            </a:r>
          </a:p>
          <a:p>
            <a:pPr>
              <a:spcAft>
                <a:spcPts val="1400"/>
              </a:spcAft>
            </a:pPr>
            <a:r>
              <a:rPr sz="2100">
                <a:solidFill>
                  <a:srgbClr val="2563EB"/>
                </a:solidFill>
                <a:latin typeface="Segoe UI"/>
              </a:rPr>
              <a:t>▪  </a:t>
            </a:r>
            <a:r>
              <a:rPr sz="2100">
                <a:solidFill>
                  <a:srgbClr val="111827"/>
                </a:solidFill>
                <a:latin typeface="Segoe UI"/>
              </a:rPr>
              <a:t>Wrong on both cases that matter</a:t>
            </a:r>
          </a:p>
          <a:p>
            <a:pPr>
              <a:spcAft>
                <a:spcPts val="1400"/>
              </a:spcAft>
            </a:pPr>
            <a:r>
              <a:rPr sz="2100">
                <a:solidFill>
                  <a:srgbClr val="2563EB"/>
                </a:solidFill>
                <a:latin typeface="Segoe UI"/>
              </a:rPr>
              <a:t>▪  </a:t>
            </a:r>
            <a:r>
              <a:rPr sz="2100">
                <a:solidFill>
                  <a:srgbClr val="111827"/>
                </a:solidFill>
                <a:latin typeface="Segoe UI"/>
              </a:rPr>
              <a:t>Accuracy: 98%.</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four-cell table that accuracy hides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confusion matrix (rows = truth, columns = prediction): TP 0</a:t>
            </a:r>
          </a:p>
          <a:p>
            <a:pPr>
              <a:spcAft>
                <a:spcPts val="1400"/>
              </a:spcAft>
            </a:pPr>
            <a:r>
              <a:rPr sz="2100">
                <a:solidFill>
                  <a:srgbClr val="2563EB"/>
                </a:solidFill>
                <a:latin typeface="Segoe UI"/>
              </a:rPr>
              <a:t>▪  </a:t>
            </a:r>
            <a:r>
              <a:rPr sz="2100">
                <a:solidFill>
                  <a:srgbClr val="111827"/>
                </a:solidFill>
                <a:latin typeface="Segoe UI"/>
              </a:rPr>
              <a:t>FN 1</a:t>
            </a:r>
          </a:p>
          <a:p>
            <a:pPr>
              <a:spcAft>
                <a:spcPts val="1400"/>
              </a:spcAft>
            </a:pPr>
            <a:r>
              <a:rPr sz="2100">
                <a:solidFill>
                  <a:srgbClr val="2563EB"/>
                </a:solidFill>
                <a:latin typeface="Segoe UI"/>
              </a:rPr>
              <a:t>▪  </a:t>
            </a:r>
            <a:r>
              <a:rPr sz="2100">
                <a:solidFill>
                  <a:srgbClr val="111827"/>
                </a:solidFill>
                <a:latin typeface="Segoe UI"/>
              </a:rPr>
              <a:t>FP 1</a:t>
            </a:r>
          </a:p>
          <a:p>
            <a:pPr>
              <a:spcAft>
                <a:spcPts val="1400"/>
              </a:spcAft>
            </a:pPr>
            <a:r>
              <a:rPr sz="2100">
                <a:solidFill>
                  <a:srgbClr val="2563EB"/>
                </a:solidFill>
                <a:latin typeface="Segoe UI"/>
              </a:rPr>
              <a:t>▪  </a:t>
            </a:r>
            <a:r>
              <a:rPr sz="2100">
                <a:solidFill>
                  <a:srgbClr val="111827"/>
                </a:solidFill>
                <a:latin typeface="Segoe UI"/>
              </a:rPr>
              <a:t>TN 98</a:t>
            </a:r>
          </a:p>
          <a:p>
            <a:pPr>
              <a:spcAft>
                <a:spcPts val="1400"/>
              </a:spcAft>
            </a:pPr>
            <a:r>
              <a:rPr sz="2100">
                <a:solidFill>
                  <a:srgbClr val="2563EB"/>
                </a:solidFill>
                <a:latin typeface="Segoe UI"/>
              </a:rPr>
              <a:t>▪  </a:t>
            </a:r>
            <a:r>
              <a:rPr sz="2100">
                <a:solidFill>
                  <a:srgbClr val="111827"/>
                </a:solidFill>
                <a:latin typeface="Segoe UI"/>
              </a:rPr>
              <a:t>Sensitivity 0</a:t>
            </a:r>
          </a:p>
          <a:p>
            <a:pPr>
              <a:spcAft>
                <a:spcPts val="1400"/>
              </a:spcAft>
            </a:pPr>
            <a:r>
              <a:rPr sz="2100">
                <a:solidFill>
                  <a:srgbClr val="2563EB"/>
                </a:solidFill>
                <a:latin typeface="Segoe UI"/>
              </a:rPr>
              <a:t>▪  </a:t>
            </a:r>
            <a:r>
              <a:rPr sz="2100">
                <a:solidFill>
                  <a:srgbClr val="111827"/>
                </a:solidFill>
                <a:latin typeface="Segoe UI"/>
              </a:rPr>
              <a:t>Precision 0</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metric definitions and formulas per scikit-learn (BSD-3) — footer attribution.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Sensitivity and precision point in opposite directions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Sensitivity = P(flagged | truly positive) — what a vendor quotes</a:t>
            </a:r>
          </a:p>
          <a:p>
            <a:pPr>
              <a:spcAft>
                <a:spcPts val="1400"/>
              </a:spcAft>
            </a:pPr>
            <a:r>
              <a:rPr sz="1700">
                <a:solidFill>
                  <a:srgbClr val="2563EB"/>
                </a:solidFill>
                <a:latin typeface="Segoe UI"/>
              </a:rPr>
              <a:t>▪  </a:t>
            </a:r>
            <a:r>
              <a:rPr sz="1700">
                <a:solidFill>
                  <a:srgbClr val="111827"/>
                </a:solidFill>
                <a:latin typeface="Segoe UI"/>
              </a:rPr>
              <a:t>Precision = P(truly positive | flagged) — what you live with</a:t>
            </a:r>
          </a:p>
          <a:p>
            <a:pPr>
              <a:spcAft>
                <a:spcPts val="1400"/>
              </a:spcAft>
            </a:pPr>
            <a:r>
              <a:rPr sz="1700">
                <a:solidFill>
                  <a:srgbClr val="2563EB"/>
                </a:solidFill>
                <a:latin typeface="Segoe UI"/>
              </a:rPr>
              <a:t>▪  </a:t>
            </a:r>
            <a:r>
              <a:rPr sz="1700">
                <a:solidFill>
                  <a:srgbClr val="111827"/>
                </a:solidFill>
                <a:latin typeface="Segoe UI"/>
              </a:rPr>
              <a:t>Flag everyone → sensitivity 100%</a:t>
            </a:r>
          </a:p>
          <a:p>
            <a:pPr>
              <a:spcAft>
                <a:spcPts val="1400"/>
              </a:spcAft>
            </a:pPr>
            <a:r>
              <a:rPr sz="1700">
                <a:solidFill>
                  <a:srgbClr val="2563EB"/>
                </a:solidFill>
                <a:latin typeface="Segoe UI"/>
              </a:rPr>
              <a:t>▪  </a:t>
            </a:r>
            <a:r>
              <a:rPr sz="1700">
                <a:solidFill>
                  <a:srgbClr val="111827"/>
                </a:solidFill>
                <a:latin typeface="Segoe UI"/>
              </a:rPr>
              <a:t>The gap between them depends on how rare the positive class is.</a:t>
            </a:r>
          </a:p>
        </p:txBody>
      </p:sp>
      <p:sp>
        <p:nvSpPr>
          <p:cNvPr id="5" name="Rounded Rectangle 4" descr="Diagram: Sensitivity and precision point in opposite direction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Sensitivity — start from the TRUTH  →  Of everyone who really is positive…  →  …how many did we flag?  →  Precision — start from the PREDICTION  →  Of everyone we flagged…  →  …how many really are positive?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85% of offenders were gamers. So 0.02% of gamers are offenders.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P(gamer | homicidal) = 85%</a:t>
            </a:r>
          </a:p>
          <a:p>
            <a:pPr>
              <a:spcAft>
                <a:spcPts val="1400"/>
              </a:spcAft>
            </a:pPr>
            <a:r>
              <a:rPr sz="1700">
                <a:solidFill>
                  <a:srgbClr val="2563EB"/>
                </a:solidFill>
                <a:latin typeface="Segoe UI"/>
              </a:rPr>
              <a:t>▪  </a:t>
            </a:r>
            <a:r>
              <a:rPr sz="1700">
                <a:solidFill>
                  <a:srgbClr val="111827"/>
                </a:solidFill>
                <a:latin typeface="Segoe UI"/>
              </a:rPr>
              <a:t>P(homicidal | gamer) = 0.02%</a:t>
            </a:r>
          </a:p>
          <a:p>
            <a:pPr>
              <a:spcAft>
                <a:spcPts val="1400"/>
              </a:spcAft>
            </a:pPr>
            <a:r>
              <a:rPr sz="1700">
                <a:solidFill>
                  <a:srgbClr val="2563EB"/>
                </a:solidFill>
                <a:latin typeface="Segoe UI"/>
              </a:rPr>
              <a:t>▪  </a:t>
            </a:r>
            <a:r>
              <a:rPr sz="1700">
                <a:solidFill>
                  <a:srgbClr val="111827"/>
                </a:solidFill>
                <a:latin typeface="Segoe UI"/>
              </a:rPr>
              <a:t>Out of 100,000: 19,000 gamers, 4.25 homicidal</a:t>
            </a:r>
          </a:p>
          <a:p>
            <a:pPr>
              <a:spcAft>
                <a:spcPts val="1400"/>
              </a:spcAft>
            </a:pPr>
            <a:r>
              <a:rPr sz="1700">
                <a:solidFill>
                  <a:srgbClr val="2563EB"/>
                </a:solidFill>
                <a:latin typeface="Segoe UI"/>
              </a:rPr>
              <a:t>▪  </a:t>
            </a:r>
            <a:r>
              <a:rPr sz="1700">
                <a:solidFill>
                  <a:srgbClr val="111827"/>
                </a:solidFill>
                <a:latin typeface="Segoe UI"/>
              </a:rPr>
              <a:t>Never associate a common trait with an uncommon one.</a:t>
            </a:r>
          </a:p>
        </p:txBody>
      </p:sp>
      <p:sp>
        <p:nvSpPr>
          <p:cNvPr id="5" name="Rounded Rectangle 4" descr="Diagram: 85% of offenders were gamers. So 0.02% of gamers are offender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Entire population 100,000 people  →  Play violent video games 19,000 people  →  Do NOT play 81,000 people  →  …and are homicidal 4.25 people  →  …and are homicidal 0.75 people  →  P(homicidal | gamer) = 4.25 / 19,000 = 0.02%</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REVEAL 1: "99% of at-risk patients test positive" — 99% of what?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That is sensitivity: P(positive | at risk)</a:t>
            </a:r>
          </a:p>
          <a:p>
            <a:pPr>
              <a:spcAft>
                <a:spcPts val="1400"/>
              </a:spcAft>
            </a:pPr>
            <a:r>
              <a:rPr sz="2100">
                <a:solidFill>
                  <a:srgbClr val="2563EB"/>
                </a:solidFill>
                <a:latin typeface="Segoe UI"/>
              </a:rPr>
              <a:t>▪  </a:t>
            </a:r>
            <a:r>
              <a:rPr sz="2100">
                <a:solidFill>
                  <a:srgbClr val="111827"/>
                </a:solidFill>
                <a:latin typeface="Segoe UI"/>
              </a:rPr>
              <a:t>Measured only on at-risk patients</a:t>
            </a:r>
          </a:p>
          <a:p>
            <a:pPr>
              <a:spcAft>
                <a:spcPts val="1400"/>
              </a:spcAft>
            </a:pPr>
            <a:r>
              <a:rPr sz="2100">
                <a:solidFill>
                  <a:srgbClr val="2563EB"/>
                </a:solidFill>
                <a:latin typeface="Segoe UI"/>
              </a:rPr>
              <a:t>▪  </a:t>
            </a:r>
            <a:r>
              <a:rPr sz="2100">
                <a:solidFill>
                  <a:srgbClr val="111827"/>
                </a:solidFill>
                <a:latin typeface="Segoe UI"/>
              </a:rPr>
              <a:t>A test that flags everyone scores 100%</a:t>
            </a:r>
          </a:p>
          <a:p>
            <a:pPr>
              <a:spcAft>
                <a:spcPts val="1400"/>
              </a:spcAft>
            </a:pPr>
            <a:r>
              <a:rPr sz="2100">
                <a:solidFill>
                  <a:srgbClr val="2563EB"/>
                </a:solidFill>
                <a:latin typeface="Segoe UI"/>
              </a:rPr>
              <a:t>▪  </a:t>
            </a:r>
            <a:r>
              <a:rPr sz="2100">
                <a:solidFill>
                  <a:srgbClr val="111827"/>
                </a:solidFill>
                <a:latin typeface="Segoe UI"/>
              </a:rPr>
              <a:t>Ask: what is the precision?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REVEAL 2: precision is 79.8%, and that still isn't your answer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1,000 tested patients</a:t>
            </a:r>
          </a:p>
          <a:p>
            <a:pPr>
              <a:spcAft>
                <a:spcPts val="1400"/>
              </a:spcAft>
            </a:pPr>
            <a:r>
              <a:rPr sz="2100">
                <a:solidFill>
                  <a:srgbClr val="2563EB"/>
                </a:solidFill>
                <a:latin typeface="Segoe UI"/>
              </a:rPr>
              <a:t>▪  </a:t>
            </a:r>
            <a:r>
              <a:rPr sz="2100">
                <a:solidFill>
                  <a:srgbClr val="111827"/>
                </a:solidFill>
                <a:latin typeface="Segoe UI"/>
              </a:rPr>
              <a:t>At risk: 198 positive / 2 negative</a:t>
            </a:r>
          </a:p>
          <a:p>
            <a:pPr>
              <a:spcAft>
                <a:spcPts val="1400"/>
              </a:spcAft>
            </a:pPr>
            <a:r>
              <a:rPr sz="2100">
                <a:solidFill>
                  <a:srgbClr val="2563EB"/>
                </a:solidFill>
                <a:latin typeface="Segoe UI"/>
              </a:rPr>
              <a:t>▪  </a:t>
            </a:r>
            <a:r>
              <a:rPr sz="2100">
                <a:solidFill>
                  <a:srgbClr val="111827"/>
                </a:solidFill>
                <a:latin typeface="Segoe UI"/>
              </a:rPr>
              <a:t>Not at risk: 50 positive / 750 negative</a:t>
            </a:r>
          </a:p>
          <a:p>
            <a:pPr>
              <a:spcAft>
                <a:spcPts val="1400"/>
              </a:spcAft>
            </a:pPr>
            <a:r>
              <a:rPr sz="2100">
                <a:solidFill>
                  <a:srgbClr val="2563EB"/>
                </a:solidFill>
                <a:latin typeface="Segoe UI"/>
              </a:rPr>
              <a:t>▪  </a:t>
            </a:r>
            <a:r>
              <a:rPr sz="2100">
                <a:solidFill>
                  <a:srgbClr val="111827"/>
                </a:solidFill>
                <a:latin typeface="Segoe UI"/>
              </a:rPr>
              <a:t>Sensitivity 198/200 = 99% ✓</a:t>
            </a:r>
          </a:p>
          <a:p>
            <a:pPr>
              <a:spcAft>
                <a:spcPts val="1400"/>
              </a:spcAft>
            </a:pPr>
            <a:r>
              <a:rPr sz="2100">
                <a:solidFill>
                  <a:srgbClr val="2563EB"/>
                </a:solidFill>
                <a:latin typeface="Segoe UI"/>
              </a:rPr>
              <a:t>▪  </a:t>
            </a:r>
            <a:r>
              <a:rPr sz="2100">
                <a:solidFill>
                  <a:srgbClr val="111827"/>
                </a:solidFill>
                <a:latin typeface="Segoe UI"/>
              </a:rPr>
              <a:t>Precision 198/248 = 79.8%</a:t>
            </a:r>
          </a:p>
          <a:p>
            <a:pPr>
              <a:spcAft>
                <a:spcPts val="1400"/>
              </a:spcAft>
            </a:pPr>
            <a:r>
              <a:rPr sz="2100">
                <a:solidFill>
                  <a:srgbClr val="2563EB"/>
                </a:solidFill>
                <a:latin typeface="Segoe UI"/>
              </a:rPr>
              <a:t>▪  </a:t>
            </a:r>
            <a:r>
              <a:rPr sz="2100">
                <a:solidFill>
                  <a:srgbClr val="111827"/>
                </a:solidFill>
                <a:latin typeface="Segoe UI"/>
              </a:rPr>
              <a:t>Specificity 750/800 = 93.75%</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REVEAL 3: their sample was 20% at risk. The world is 1%.</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Vendor's test set: 200 / 1,000 = 20% at risk</a:t>
            </a:r>
          </a:p>
          <a:p>
            <a:pPr>
              <a:spcAft>
                <a:spcPts val="1400"/>
              </a:spcAft>
            </a:pPr>
            <a:r>
              <a:rPr sz="2100">
                <a:solidFill>
                  <a:srgbClr val="2563EB"/>
                </a:solidFill>
                <a:latin typeface="Segoe UI"/>
              </a:rPr>
              <a:t>▪  </a:t>
            </a:r>
            <a:r>
              <a:rPr sz="2100">
                <a:solidFill>
                  <a:srgbClr val="111827"/>
                </a:solidFill>
                <a:latin typeface="Segoe UI"/>
              </a:rPr>
              <a:t>Real population: 1% at risk</a:t>
            </a:r>
          </a:p>
          <a:p>
            <a:pPr>
              <a:spcAft>
                <a:spcPts val="1400"/>
              </a:spcAft>
            </a:pPr>
            <a:r>
              <a:rPr sz="2100">
                <a:solidFill>
                  <a:srgbClr val="2563EB"/>
                </a:solidFill>
                <a:latin typeface="Segoe UI"/>
              </a:rPr>
              <a:t>▪  </a:t>
            </a:r>
            <a:r>
              <a:rPr sz="2100">
                <a:solidFill>
                  <a:srgbClr val="111827"/>
                </a:solidFill>
                <a:latin typeface="Segoe UI"/>
              </a:rPr>
              <a:t>A 20× enrichment</a:t>
            </a:r>
          </a:p>
          <a:p>
            <a:pPr>
              <a:spcAft>
                <a:spcPts val="1400"/>
              </a:spcAft>
            </a:pPr>
            <a:r>
              <a:rPr sz="2100">
                <a:solidFill>
                  <a:srgbClr val="2563EB"/>
                </a:solidFill>
                <a:latin typeface="Segoe UI"/>
              </a:rPr>
              <a:t>▪  </a:t>
            </a:r>
            <a:r>
              <a:rPr sz="2100">
                <a:solidFill>
                  <a:srgbClr val="111827"/>
                </a:solidFill>
                <a:latin typeface="Segoe UI"/>
              </a:rPr>
              <a:t>Precision is not a property of the test — it is a property of the test and the population.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REVEAL 4: 99% → 3.39% (and the honest number is 13.8%)</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As the source states it: (.99 × .01) / .248 = 3.39%</a:t>
            </a:r>
          </a:p>
          <a:p>
            <a:pPr>
              <a:spcAft>
                <a:spcPts val="1400"/>
              </a:spcAft>
            </a:pPr>
            <a:r>
              <a:rPr sz="2100">
                <a:solidFill>
                  <a:srgbClr val="2563EB"/>
                </a:solidFill>
                <a:latin typeface="Segoe UI"/>
              </a:rPr>
              <a:t>▪  </a:t>
            </a:r>
            <a:r>
              <a:rPr sz="2100">
                <a:solidFill>
                  <a:srgbClr val="111827"/>
                </a:solidFill>
                <a:latin typeface="Segoe UI"/>
              </a:rPr>
              <a:t>Worked correctly: 0.0099 / 0.0718 = 13.8%</a:t>
            </a:r>
          </a:p>
          <a:p>
            <a:pPr>
              <a:spcAft>
                <a:spcPts val="1400"/>
              </a:spcAft>
            </a:pPr>
            <a:r>
              <a:rPr sz="2100">
                <a:solidFill>
                  <a:srgbClr val="2563EB"/>
                </a:solidFill>
                <a:latin typeface="Segoe UI"/>
              </a:rPr>
              <a:t>▪  </a:t>
            </a:r>
            <a:r>
              <a:rPr sz="2100">
                <a:solidFill>
                  <a:srgbClr val="111827"/>
                </a:solidFill>
                <a:latin typeface="Segoe UI"/>
              </a:rPr>
              <a:t>Per 100,000: 7,178 flagged, 6,188 of them wrong</a:t>
            </a:r>
          </a:p>
          <a:p>
            <a:pPr>
              <a:spcAft>
                <a:spcPts val="1400"/>
              </a:spcAft>
            </a:pPr>
            <a:r>
              <a:rPr sz="2100">
                <a:solidFill>
                  <a:srgbClr val="2563EB"/>
                </a:solidFill>
                <a:latin typeface="Segoe UI"/>
              </a:rPr>
              <a:t>▪  </a:t>
            </a:r>
            <a:r>
              <a:rPr sz="2100">
                <a:solidFill>
                  <a:srgbClr val="111827"/>
                </a:solidFill>
                <a:latin typeface="Segoe UI"/>
              </a:rPr>
              <a:t>Six of every seven positives are false alarms.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One unchanged test: precision from 1.6% to 79.8%</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Prevalence 0.1% → precision 1.6%</a:t>
            </a:r>
          </a:p>
          <a:p>
            <a:pPr>
              <a:spcAft>
                <a:spcPts val="1400"/>
              </a:spcAft>
            </a:pPr>
            <a:r>
              <a:rPr sz="2100">
                <a:solidFill>
                  <a:srgbClr val="2563EB"/>
                </a:solidFill>
                <a:latin typeface="Segoe UI"/>
              </a:rPr>
              <a:t>▪  </a:t>
            </a:r>
            <a:r>
              <a:rPr sz="2100">
                <a:solidFill>
                  <a:srgbClr val="111827"/>
                </a:solidFill>
                <a:latin typeface="Segoe UI"/>
              </a:rPr>
              <a:t>1% → 13.8%</a:t>
            </a:r>
          </a:p>
          <a:p>
            <a:pPr>
              <a:spcAft>
                <a:spcPts val="1400"/>
              </a:spcAft>
            </a:pPr>
            <a:r>
              <a:rPr sz="2100">
                <a:solidFill>
                  <a:srgbClr val="2563EB"/>
                </a:solidFill>
                <a:latin typeface="Segoe UI"/>
              </a:rPr>
              <a:t>▪  </a:t>
            </a:r>
            <a:r>
              <a:rPr sz="2100">
                <a:solidFill>
                  <a:srgbClr val="111827"/>
                </a:solidFill>
                <a:latin typeface="Segoe UI"/>
              </a:rPr>
              <a:t>5% → 45.5%</a:t>
            </a:r>
          </a:p>
          <a:p>
            <a:pPr>
              <a:spcAft>
                <a:spcPts val="1400"/>
              </a:spcAft>
            </a:pPr>
            <a:r>
              <a:rPr sz="2100">
                <a:solidFill>
                  <a:srgbClr val="2563EB"/>
                </a:solidFill>
                <a:latin typeface="Segoe UI"/>
              </a:rPr>
              <a:t>▪  </a:t>
            </a:r>
            <a:r>
              <a:rPr sz="2100">
                <a:solidFill>
                  <a:srgbClr val="111827"/>
                </a:solidFill>
                <a:latin typeface="Segoe UI"/>
              </a:rPr>
              <a:t>20% → 79.8%</a:t>
            </a:r>
          </a:p>
          <a:p>
            <a:pPr>
              <a:spcAft>
                <a:spcPts val="1400"/>
              </a:spcAft>
            </a:pPr>
            <a:r>
              <a:rPr sz="2100">
                <a:solidFill>
                  <a:srgbClr val="2563EB"/>
                </a:solidFill>
                <a:latin typeface="Segoe UI"/>
              </a:rPr>
              <a:t>▪  </a:t>
            </a:r>
            <a:r>
              <a:rPr sz="2100">
                <a:solidFill>
                  <a:srgbClr val="111827"/>
                </a:solidFill>
                <a:latin typeface="Segoe UI"/>
              </a:rPr>
              <a:t>Flag rate barely moves: 6.3% → 24.8%</a:t>
            </a:r>
          </a:p>
          <a:p>
            <a:pPr>
              <a:spcAft>
                <a:spcPts val="1400"/>
              </a:spcAft>
            </a:pPr>
            <a:r>
              <a:rPr sz="2100">
                <a:solidFill>
                  <a:srgbClr val="2563EB"/>
                </a:solidFill>
                <a:latin typeface="Segoe UI"/>
              </a:rPr>
              <a:t>▪  </a:t>
            </a:r>
            <a:r>
              <a:rPr sz="2100">
                <a:solidFill>
                  <a:srgbClr val="111827"/>
                </a:solidFill>
                <a:latin typeface="Segoe UI"/>
              </a:rPr>
              <a:t>Which row of this table are you standing 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P-hacking is usually not fraud. It is a deadline.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"No paper, no funding."</a:t>
            </a:r>
          </a:p>
          <a:p>
            <a:pPr>
              <a:spcAft>
                <a:spcPts val="1400"/>
              </a:spcAft>
            </a:pPr>
            <a:r>
              <a:rPr sz="2100">
                <a:solidFill>
                  <a:srgbClr val="2563EB"/>
                </a:solidFill>
                <a:latin typeface="Segoe UI"/>
              </a:rPr>
              <a:t>▪  </a:t>
            </a:r>
            <a:r>
              <a:rPr sz="2100">
                <a:solidFill>
                  <a:srgbClr val="111827"/>
                </a:solidFill>
                <a:latin typeface="Segoe UI"/>
              </a:rPr>
              <a:t>"Our client wants to see 10% savings."</a:t>
            </a:r>
          </a:p>
          <a:p>
            <a:pPr>
              <a:spcAft>
                <a:spcPts val="1400"/>
              </a:spcAft>
            </a:pPr>
            <a:r>
              <a:rPr sz="2100">
                <a:solidFill>
                  <a:srgbClr val="2563EB"/>
                </a:solidFill>
                <a:latin typeface="Segoe UI"/>
              </a:rPr>
              <a:t>▪  </a:t>
            </a:r>
            <a:r>
              <a:rPr sz="2100">
                <a:solidFill>
                  <a:srgbClr val="111827"/>
                </a:solidFill>
                <a:latin typeface="Segoe UI"/>
              </a:rPr>
              <a:t>"Our VC investors want a demonstration."</a:t>
            </a:r>
          </a:p>
          <a:p>
            <a:pPr>
              <a:spcAft>
                <a:spcPts val="1400"/>
              </a:spcAft>
            </a:pPr>
            <a:r>
              <a:rPr sz="2100">
                <a:solidFill>
                  <a:srgbClr val="2563EB"/>
                </a:solidFill>
                <a:latin typeface="Segoe UI"/>
              </a:rPr>
              <a:t>▪  </a:t>
            </a:r>
            <a:r>
              <a:rPr sz="2100">
                <a:solidFill>
                  <a:srgbClr val="111827"/>
                </a:solidFill>
                <a:latin typeface="Segoe UI"/>
              </a:rPr>
              <a:t>Six techniques — the ML-specific one is shopping for random seeds</a:t>
            </a:r>
          </a:p>
          <a:p>
            <a:pPr>
              <a:spcAft>
                <a:spcPts val="1400"/>
              </a:spcAft>
            </a:pPr>
            <a:r>
              <a:rPr sz="2100">
                <a:solidFill>
                  <a:srgbClr val="2563EB"/>
                </a:solidFill>
                <a:latin typeface="Segoe UI"/>
              </a:rPr>
              <a:t>▪  </a:t>
            </a:r>
            <a:r>
              <a:rPr sz="2100">
                <a:solidFill>
                  <a:srgbClr val="111827"/>
                </a:solidFill>
                <a:latin typeface="Segoe UI"/>
              </a:rPr>
              <a:t>Defence: a validation set touched once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and the three pressures from the DL Day 3 source deck — LINK-ONLY, reworded. Ioannidis 2005 (PLoS…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Four questions. Take a photo.</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1. That percentage — of what population?</a:t>
            </a:r>
          </a:p>
          <a:p>
            <a:pPr>
              <a:spcAft>
                <a:spcPts val="1400"/>
              </a:spcAft>
            </a:pPr>
            <a:r>
              <a:rPr sz="1700">
                <a:solidFill>
                  <a:srgbClr val="2563EB"/>
                </a:solidFill>
                <a:latin typeface="Segoe UI"/>
              </a:rPr>
              <a:t>▪  </a:t>
            </a:r>
            <a:r>
              <a:rPr sz="1700">
                <a:solidFill>
                  <a:srgbClr val="111827"/>
                </a:solidFill>
                <a:latin typeface="Segoe UI"/>
              </a:rPr>
              <a:t>2. Precision, on what test set? Raw counts</a:t>
            </a:r>
          </a:p>
          <a:p>
            <a:pPr>
              <a:spcAft>
                <a:spcPts val="1400"/>
              </a:spcAft>
            </a:pPr>
            <a:r>
              <a:rPr sz="1700">
                <a:solidFill>
                  <a:srgbClr val="2563EB"/>
                </a:solidFill>
                <a:latin typeface="Segoe UI"/>
              </a:rPr>
              <a:t>▪  </a:t>
            </a:r>
            <a:r>
              <a:rPr sz="1700">
                <a:solidFill>
                  <a:srgbClr val="111827"/>
                </a:solidFill>
                <a:latin typeface="Segoe UI"/>
              </a:rPr>
              <a:t>3. Base rate of the positive class in your test set?</a:t>
            </a:r>
          </a:p>
          <a:p>
            <a:pPr>
              <a:spcAft>
                <a:spcPts val="1400"/>
              </a:spcAft>
            </a:pPr>
            <a:r>
              <a:rPr sz="1700">
                <a:solidFill>
                  <a:srgbClr val="2563EB"/>
                </a:solidFill>
                <a:latin typeface="Segoe UI"/>
              </a:rPr>
              <a:t>▪  </a:t>
            </a:r>
            <a:r>
              <a:rPr sz="1700">
                <a:solidFill>
                  <a:srgbClr val="111827"/>
                </a:solidFill>
                <a:latin typeface="Segoe UI"/>
              </a:rPr>
              <a:t>4. Base rate in our population? ← you answer this one</a:t>
            </a:r>
          </a:p>
          <a:p>
            <a:pPr>
              <a:spcAft>
                <a:spcPts val="1400"/>
              </a:spcAft>
            </a:pPr>
            <a:r>
              <a:rPr sz="1700">
                <a:solidFill>
                  <a:srgbClr val="2563EB"/>
                </a:solidFill>
                <a:latin typeface="Segoe UI"/>
              </a:rPr>
              <a:t>▪  </a:t>
            </a:r>
            <a:r>
              <a:rPr sz="1700">
                <a:solidFill>
                  <a:srgbClr val="111827"/>
                </a:solidFill>
                <a:latin typeface="Segoe UI"/>
              </a:rPr>
              <a:t>Then: what happens when it's wrong, and who finds out?</a:t>
            </a:r>
          </a:p>
        </p:txBody>
      </p:sp>
      <p:sp>
        <p:nvSpPr>
          <p:cNvPr id="5" name="Rounded Rectangle 4" descr="Diagram: Four questions. Take a photo."/>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Vendor quotes a headline accuracy number  →  Walk away  →  Their precision ≈ your precision. Proceed to a pilot.  →  Recompute precision at YOUR base rate  →  Narrow the population, stage the test, or don't buy  →  Pilot — and measure precision on YOUR data</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"Where in our own reporting do we quote a number that is technically true and practically misleading?"</a:t>
            </a:r>
          </a:p>
          <a:p>
            <a:pPr>
              <a:spcAft>
                <a:spcPts val="1400"/>
              </a:spcAft>
            </a:pPr>
            <a:r>
              <a:rPr sz="2100">
                <a:solidFill>
                  <a:srgbClr val="2563EB"/>
                </a:solidFill>
                <a:latin typeface="Segoe UI"/>
              </a:rPr>
              <a:t>▪  </a:t>
            </a:r>
            <a:r>
              <a:rPr sz="2100">
                <a:solidFill>
                  <a:srgbClr val="111827"/>
                </a:solidFill>
                <a:latin typeface="Segoe UI"/>
              </a:rPr>
              <a:t>plus the four prompts from exercises/discussion.md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scikit-learn (BSD-3)</a:t>
            </a:r>
          </a:p>
          <a:p>
            <a:pPr>
              <a:spcAft>
                <a:spcPts val="1400"/>
              </a:spcAft>
            </a:pPr>
            <a:r>
              <a:rPr sz="2100">
                <a:solidFill>
                  <a:srgbClr val="2563EB"/>
                </a:solidFill>
                <a:latin typeface="Segoe UI"/>
              </a:rPr>
              <a:t>▪  </a:t>
            </a:r>
            <a:r>
              <a:rPr sz="2100">
                <a:solidFill>
                  <a:srgbClr val="111827"/>
                </a:solidFill>
                <a:latin typeface="Segoe UI"/>
              </a:rPr>
              <a:t>Maynez et al. 2020, ACL Anthology (CC BY 4.0)</a:t>
            </a:r>
          </a:p>
          <a:p>
            <a:pPr>
              <a:spcAft>
                <a:spcPts val="1400"/>
              </a:spcAft>
            </a:pPr>
            <a:r>
              <a:rPr sz="2100">
                <a:solidFill>
                  <a:srgbClr val="2563EB"/>
                </a:solidFill>
                <a:latin typeface="Segoe UI"/>
              </a:rPr>
              <a:t>▪  </a:t>
            </a:r>
            <a:r>
              <a:rPr sz="2100">
                <a:solidFill>
                  <a:srgbClr val="111827"/>
                </a:solidFill>
                <a:latin typeface="Segoe UI"/>
              </a:rPr>
              <a:t>RAGAS — Es et al., EACL 2024 (CC BY 4.0)</a:t>
            </a:r>
          </a:p>
          <a:p>
            <a:pPr>
              <a:spcAft>
                <a:spcPts val="1400"/>
              </a:spcAft>
            </a:pPr>
            <a:r>
              <a:rPr sz="2100">
                <a:solidFill>
                  <a:srgbClr val="2563EB"/>
                </a:solidFill>
                <a:latin typeface="Segoe UI"/>
              </a:rPr>
              <a:t>▪  </a:t>
            </a:r>
            <a:r>
              <a:rPr sz="2100">
                <a:solidFill>
                  <a:srgbClr val="111827"/>
                </a:solidFill>
                <a:latin typeface="Segoe UI"/>
              </a:rPr>
              <a:t>ARES — Saad-Falcon et al., NAACL 2024 (CC BY 4.0)</a:t>
            </a:r>
          </a:p>
          <a:p>
            <a:pPr>
              <a:spcAft>
                <a:spcPts val="1400"/>
              </a:spcAft>
            </a:pPr>
            <a:r>
              <a:rPr sz="2100">
                <a:solidFill>
                  <a:srgbClr val="2563EB"/>
                </a:solidFill>
                <a:latin typeface="Segoe UI"/>
              </a:rPr>
              <a:t>▪  </a:t>
            </a:r>
            <a:r>
              <a:rPr sz="2100">
                <a:solidFill>
                  <a:srgbClr val="111827"/>
                </a:solidFill>
                <a:latin typeface="Segoe UI"/>
              </a:rPr>
              <a:t>Ioannidis 2005, PLoS Medicine</a:t>
            </a:r>
          </a:p>
          <a:p>
            <a:pPr>
              <a:spcAft>
                <a:spcPts val="1400"/>
              </a:spcAft>
            </a:pPr>
            <a:r>
              <a:rPr sz="2100">
                <a:solidFill>
                  <a:srgbClr val="2563EB"/>
                </a:solidFill>
                <a:latin typeface="Segoe UI"/>
              </a:rPr>
              <a:t>▪  </a:t>
            </a:r>
            <a:r>
              <a:rPr sz="2100">
                <a:solidFill>
                  <a:srgbClr val="111827"/>
                </a:solidFill>
                <a:latin typeface="Segoe UI"/>
              </a:rPr>
              <a:t>Session lab + full source list in resources/sources.md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13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 slide. --- ## Deck-builder checklist (in addition to powerpoint_instructions.md §5) - [ ] Sli…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