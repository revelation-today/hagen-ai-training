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Two horizon topics, one method — ask what the evidence shows and notice who benefits from the claim. Flag up front that the quantum segment at the end is the most speculative content in the whole series, and that we will label it as such. Promise the room a straight answer on both.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split: ~30 min AGI, ~15 min quantum. Flag the timing honestly — this is the tightest session in the series. If we run long, the evidence segment is protected and the philosophy detail gets cut.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as an actual poll — ask the room to pick one before showing the list. You will get a split. That split is the lesson: these are five different claims with five different evidence requirements, and the same system can satisfy some and fail others simultaneously. Do not resolve it yet. Say: "hold that disagreement, we'll come back to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drift: imitation → reasoning → generality → efficiency → economics → generalisation. Point out the pattern — each definition retreats from the one that got solved. Turing's test was passed, and the field's response was "that was never a good test." That is not cheating, it's how a field learns its proxy was a proxy — but it means the target moves by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sharpest point in the first ten minutes. The economic definition moves when prices move, not when capability moves. And several of the benchmarks operationalising it are published by the organisations selling the models. Reconnect to Session 13's benchmark checklist — who made it, what does it test, is it measuring what it claims. Not an accusation of bad faith: an observation about incentives.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it intelligent?" is unanswerable. "Does it acquire new skills after deployment?" is answerable. Decomposition converts an argument into a checklist. Be honest that this is one framework among several — cognitive science would draw the lines differently, and memory/learning in particular blur. It earns its place because it maps onto things we can actually test.</a:t>
            </a:r>
          </a:p>
          <a:p/>
          <a:p>
            <a:r>
              <a:t>--- Mermaid source 1 (render and place on the diagram box) ---</a:t>
            </a:r>
          </a:p>
          <a:p>
            <a:r>
              <a:t>graph TD</a:t>
            </a:r>
          </a:p>
          <a:p>
            <a:r>
              <a:t>    I(("General&lt;br/&gt;Intelligence"))</a:t>
            </a:r>
          </a:p>
          <a:p>
            <a:r>
              <a:t>    I --- P1["1 Reasoning"]</a:t>
            </a:r>
          </a:p>
          <a:p>
            <a:r>
              <a:t>    I --- P2["2 Memory"]</a:t>
            </a:r>
          </a:p>
          <a:p>
            <a:r>
              <a:t>    I --- P3["3 Learning"]</a:t>
            </a:r>
          </a:p>
          <a:p>
            <a:r>
              <a:t>    I --- P4["4 Language"]</a:t>
            </a:r>
          </a:p>
          <a:p>
            <a:r>
              <a:t>    I --- P5["5 Perception"]</a:t>
            </a:r>
          </a:p>
          <a:p>
            <a:r>
              <a:t>    I --- P6["6 Self-Awareness"]</a:t>
            </a:r>
          </a:p>
          <a:p>
            <a:r>
              <a:t>    I --- P7["7 Motivation / Values"]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land. (1) Language is strongest — which is exactly why it misleads, because fluency is what humans instinctively read as general intelligence. Never evaluate a system on the quality of its prose. (2) Learning is the clearest gap and the one most central to "general": a deployed model does not learn. Everything that looks like learning is context, an external store, or a retraining run. Say clearly: this is not "AGI is two pillars away" — nobody knows if the pillars are additive.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asymmetry: positive results are published loudly by the people who produced them; negative results are published quietly or not at all. So the public picture of AI capability is biased upward, and correcting for that means going and finding the negatives. All four coming up are cases where a reasonable person expected success.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Apple's Illusion of Thinking [verify — check for replications and rebuttals; this is actively debated]. Give the honest counter-argument out loud: critics say some failures are output-length limits, not reasoning limits — a 10-disc solution is 1,023 moves. Fair, and it weakens the strongest reading. But a system that had the algorithm could say "this needs 2ⁿ−1 moves, here's the rule" instead of enumerating and failing. The inability to abstract is the finding. Land it: chain-of-thought produces text that looks like derivation; whether derivation happened is a separate question the text cannot settle.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chess is the fair test: fully observable, fully determined by the move list, densely represented in training data. If a grounded internal model emerges from text anywhere, it should emerge here. A real board representation would score near-perfectly — chess state has no ambiguity. Ten points over a naive baseline is consistent with "learned which pieces tend to have moved by move 20," not with "tracking a board." Scope it honestly: one probe, one model, one domain — but the burden of proof now sits with the other side.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with the direct operational consequence, so slow down here. If you have a working prompt, a working pipeline, or a working eval on model N, you must re-test on model N+1. Teams skip this because "the new one is better." That is a configuration-management failure with a very familiar shape — it is a dependency upgrade without regression testing. Ask the room: would you ship a library major-version bump untested? Then why a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Chollet's thesis: skill is not intelligence. Being superb at a trained task is skill; intelligence is how fast you get good at something you've never seen. Be fair about ARC-AGI-1 — it was designed to be memorisation-proof and it was substantially beaten. That is a real achievement, and dismissing it isn't skepticism, it's stubbornness. But the cost caveat is part of the measurement: brute-forcing an efficiency benchmark with enormous search is a partial answer. Then land the clean fact: ARC-AGI-2 exists, humans pass it, machines don't. Whatever else is true, "general" is not yet accurate.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Paraphrase every quote — do not read them verbatim from the deck, and do not put quotation marks on the slide. Amodei: it's a transition, not a moment. LeCun: smart parrots, needs embodiment. Mensch: he doesn't believe in God, so he doesn't believe in AGI — the pursuit reads as religious to him. Altman: sooner than most think, and it'll matter less. Then the key move: these are not degrees of optimism on one axis. They disagree about what kind of thing the question is. If AGI were a well-defined engineering milestone, the people closest to it would broadly agree. In physics, the people building the detector agree on what they're detecting.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touchstones. (1) O(n²): a million-token window is not 10× a hundred-thousand-token window, it's 100×. And capacity isn't use — retrieval degrades inside long contexts. A bigger buffer is not memory; human memory compresses, prioritises, forgets deliberately. (2) Embodiment: you knew a thrown ball comes down before you could speak in full sentences. A text-trained model has the sentences about gravity without the intuition underneath — and the chess probe from slide 10 is the evidence. Close with the tell: when the labs building the next generation are simultaneously building different architectures, that tells you what they actually believe.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 register deliberately and say so. Everything up to now rested on measurements of systems you can use today. This is a technology that mostly doesn't work yet, on a contested timeline, whose AI connection is research-stage. Two disclaimers out loud: this is a horizon scan by a non-specialist aimed at helping you evaluate claims, and if quantum is strategically relevant inside Qualcomm, the internal experts know far more than this segment does.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answer before the explanation — this room's time is better spent on the "why" than on suspense. Emphasise the last row: this is not dismissal. The physics is real and the long-term potential in chemistry and materials is genuine. The overclaiming is concentrated in the timeline and the AI connection.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Kill the popular-science version explicitly: "it's both 0 and 1 so it tries all answers at once" is what makes people wrong about what these machines do. The real story is interference — arranging amplitudes so wrong answers cancel and the right one reinforces. An n-qubit register spans 2ⁿ amplitudes and you never see them; you see one n-bit string. Then the sentence to say slowly: a quantum computer is not a faster computer; it is a different computer that is dramatically faster at a short list of problems and worse at almost everything else. That's not a timeline claim — it's a claim about what the machine 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useful technical fact in the segment because it gives them a headline-reading rule that works for years. Three questions for any announcement: physical or logical? two-qubit gate error rate? sustainable circuit depth? A thousand noisy physical qubits and a hundred good logical qubits are not comparable objects, and the press release usually won't distinguish them. Then show the timeline as eras, not dates — and say plainly that anyone putting years on it is guessing, in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data-loading problem in one sentence — quantum advantage is easiest where the input is small and the computation is huge (factoring, molecules); ML is the opposite shape, enormous input and simple arithmetic. Close to the worst-case profile. Then pivot hard to PQC and make it personal to the room: crypto-agility, key and certificate inventory, firmware and code signing, hybrid rollout, supply chain, and devices shipping today with a 10–15 year service life. Land it: the quantum question that reaches your desk is "is our cryptography replaceable?" — and it arrives long before any quantum computer runs a useful program.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emotional close — take the extra thirty seconds. In Session 1, before anyone in the room knew what an attention head was, we said an LLM generates a plausible continuation rather than retrieving a fact. Fifteen sessions later, the frontier results are exactly what that model predicts. Then the five habits: what is it generating · the metric can hide the failure · constrain the system to do less · verify and check the verifier · who made this claim and what would falsify it. And the line the series has been building toward — the interesting engineering is in the gap between the demo and production, which is this room's entire discipline. AI doesn't remove that discipline; it makes it the scarce skill.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the two starred items hardest. For developers: build the eval before the feature — 20 to 50 examples with known-good answers. That single habit separates people who ship AI features from people who demo them. For managers: add model version to your configuration inventory and treat model upgrades as dependency changes needing regression testing — which follows directly from slide 11. Both are doable this month.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callback poll: "we defined AGI five different ways at the start — has anyone's answer changed?" Then the series prompt: what will you do differently next Monday? Expect quantum questions to be more speculative than the answers can support — model saying "I don't know, and here's how you'd find out." That is the behaviour the series has been teaching.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ARC-AGI repository — it's open, the tasks are playable, and trying five of them is the fastest way to feel the gap. Note that all benchmark numbers in this deck were verified on the delivery date and will drift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a:spAutoFit/>
          </a:bodyPr>
          <a:lstStyle/>
          <a:p>
            <a:pPr algn="l">
              <a:spcAft>
                <a:spcPts val="1000"/>
              </a:spcAft>
            </a:pPr>
            <a:r>
              <a:rPr sz="4000" b="1">
                <a:solidFill>
                  <a:srgbClr val="1F2A37"/>
                </a:solidFill>
                <a:latin typeface="Segoe UI"/>
              </a:rPr>
              <a:t>What Is AGI, and an Outlook on Quantum</a:t>
            </a:r>
          </a:p>
        </p:txBody>
      </p:sp>
      <p:sp>
        <p:nvSpPr>
          <p:cNvPr id="3" name="Rectangle 2"/>
          <p:cNvSpPr/>
          <p:nvPr/>
        </p:nvSpPr>
        <p:spPr>
          <a:xfrm>
            <a:off x="822960" y="3703320"/>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977639"/>
            <a:ext cx="10515600" cy="822960"/>
          </a:xfrm>
          <a:prstGeom prst="rect">
            <a:avLst/>
          </a:prstGeom>
          <a:noFill/>
        </p:spPr>
        <p:txBody>
          <a:bodyPr wrap="square" anchor="t">
            <a:spAutoFit/>
          </a:bodyPr>
          <a:lstStyle/>
          <a:p>
            <a:pPr algn="l">
              <a:spcAft>
                <a:spcPts val="1000"/>
              </a:spcAft>
            </a:pPr>
            <a:r>
              <a:rPr sz="1700" b="0">
                <a:solidFill>
                  <a:srgbClr val="6B7280"/>
                </a:solidFill>
                <a:latin typeface="Segoe UI"/>
              </a:rPr>
              <a:t>Session 16 of 16  ·  Judge it</a:t>
            </a:r>
          </a:p>
          <a:p>
            <a:pPr algn="l">
              <a:spcAft>
                <a:spcPts val="1000"/>
              </a:spcAft>
            </a:pPr>
            <a:r>
              <a:rPr sz="1700" b="0">
                <a:solidFill>
                  <a:srgbClr val="6B7280"/>
                </a:solidFill>
                <a:latin typeface="Segoe UI"/>
              </a:rPr>
              <a:t>AI Training Series  ·  45 min + 15 min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Agenda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9-row agenda from README.md (Hook → definitions → pillars → evidence → labs disagree → Transformer limits → quantum ⚠️ → series close → Q&amp;A).</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Hook: define AGI</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"Everyone in this room means something different by 'AGI'." - Bullets (as a live poll, revealed one at a time): does any task a human can</a:t>
            </a:r>
          </a:p>
          <a:p>
            <a:pPr>
              <a:spcAft>
                <a:spcPts val="1400"/>
              </a:spcAft>
            </a:pPr>
            <a:r>
              <a:rPr sz="2100">
                <a:solidFill>
                  <a:srgbClr val="2563EB"/>
                </a:solidFill>
                <a:latin typeface="Segoe UI"/>
              </a:rPr>
              <a:t>▪  </a:t>
            </a:r>
            <a:r>
              <a:rPr sz="2100">
                <a:solidFill>
                  <a:srgbClr val="111827"/>
                </a:solidFill>
                <a:latin typeface="Segoe UI"/>
              </a:rPr>
              <a:t>is conscious</a:t>
            </a:r>
          </a:p>
          <a:p>
            <a:pPr>
              <a:spcAft>
                <a:spcPts val="1400"/>
              </a:spcAft>
            </a:pPr>
            <a:r>
              <a:rPr sz="2100">
                <a:solidFill>
                  <a:srgbClr val="2563EB"/>
                </a:solidFill>
                <a:latin typeface="Segoe UI"/>
              </a:rPr>
              <a:t>▪  </a:t>
            </a:r>
            <a:r>
              <a:rPr sz="2100">
                <a:solidFill>
                  <a:srgbClr val="111827"/>
                </a:solidFill>
                <a:latin typeface="Segoe UI"/>
              </a:rPr>
              <a:t>replaces most jobs</a:t>
            </a:r>
          </a:p>
          <a:p>
            <a:pPr>
              <a:spcAft>
                <a:spcPts val="1400"/>
              </a:spcAft>
            </a:pPr>
            <a:r>
              <a:rPr sz="2100">
                <a:solidFill>
                  <a:srgbClr val="2563EB"/>
                </a:solidFill>
                <a:latin typeface="Segoe UI"/>
              </a:rPr>
              <a:t>▪  </a:t>
            </a:r>
            <a:r>
              <a:rPr sz="2100">
                <a:solidFill>
                  <a:srgbClr val="111827"/>
                </a:solidFill>
                <a:latin typeface="Segoe UI"/>
              </a:rPr>
              <a:t>improves itself</a:t>
            </a:r>
          </a:p>
          <a:p>
            <a:pPr>
              <a:spcAft>
                <a:spcPts val="1400"/>
              </a:spcAft>
            </a:pPr>
            <a:r>
              <a:rPr sz="2100">
                <a:solidFill>
                  <a:srgbClr val="2563EB"/>
                </a:solidFill>
                <a:latin typeface="Segoe UI"/>
              </a:rPr>
              <a:t>▪  </a:t>
            </a:r>
            <a:r>
              <a:rPr sz="2100">
                <a:solidFill>
                  <a:srgbClr val="111827"/>
                </a:solidFill>
                <a:latin typeface="Segoe UI"/>
              </a:rPr>
              <a:t>passes as human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definition keeps moving</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"AGI has been redefined roughly every decade since 1950."</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framing after the source deck's timeline (LINK-ONLY — do not reproduce their slide); this table is our 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One of these is not like the others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"Six definitions describe the system. One describes the economy."</a:t>
            </a:r>
          </a:p>
          <a:p>
            <a:pPr>
              <a:spcAft>
                <a:spcPts val="1400"/>
              </a:spcAft>
            </a:pPr>
            <a:r>
              <a:rPr sz="2100">
                <a:solidFill>
                  <a:srgbClr val="2563EB"/>
                </a:solidFill>
                <a:latin typeface="Segoe UI"/>
              </a:rPr>
              <a:t>▪  </a:t>
            </a:r>
            <a:r>
              <a:rPr sz="2100">
                <a:solidFill>
                  <a:srgbClr val="111827"/>
                </a:solidFill>
                <a:latin typeface="Segoe UI"/>
              </a:rPr>
              <a:t>every other definition = a property of the machine</a:t>
            </a:r>
          </a:p>
          <a:p>
            <a:pPr>
              <a:spcAft>
                <a:spcPts val="1400"/>
              </a:spcAft>
            </a:pPr>
            <a:r>
              <a:rPr sz="2100">
                <a:solidFill>
                  <a:srgbClr val="2563EB"/>
                </a:solidFill>
                <a:latin typeface="Segoe UI"/>
              </a:rPr>
              <a:t>▪  </a:t>
            </a:r>
            <a:r>
              <a:rPr sz="2100">
                <a:solidFill>
                  <a:srgbClr val="111827"/>
                </a:solidFill>
                <a:latin typeface="Segoe UI"/>
              </a:rPr>
              <a:t>2023 industry definition = labour-market substitution</a:t>
            </a:r>
          </a:p>
          <a:p>
            <a:pPr>
              <a:spcAft>
                <a:spcPts val="1400"/>
              </a:spcAft>
            </a:pPr>
            <a:r>
              <a:rPr sz="2100">
                <a:solidFill>
                  <a:srgbClr val="2563EB"/>
                </a:solidFill>
                <a:latin typeface="Segoe UI"/>
              </a:rPr>
              <a:t>▪  </a:t>
            </a:r>
            <a:r>
              <a:rPr sz="2100">
                <a:solidFill>
                  <a:srgbClr val="111827"/>
                </a:solidFill>
                <a:latin typeface="Segoe UI"/>
              </a:rPr>
              <a:t>satisfied by a narrow tool that's merely cheaper</a:t>
            </a:r>
          </a:p>
          <a:p>
            <a:pPr>
              <a:spcAft>
                <a:spcPts val="1400"/>
              </a:spcAft>
            </a:pPr>
            <a:r>
              <a:rPr sz="2100">
                <a:solidFill>
                  <a:srgbClr val="2563EB"/>
                </a:solidFill>
                <a:latin typeface="Segoe UI"/>
              </a:rPr>
              <a:t>▪  </a:t>
            </a:r>
            <a:r>
              <a:rPr sz="2100">
                <a:solidFill>
                  <a:srgbClr val="111827"/>
                </a:solidFill>
                <a:latin typeface="Segoe UI"/>
              </a:rPr>
              <a:t>unsatisfied by a general system that's too expensive</a:t>
            </a:r>
          </a:p>
          <a:p>
            <a:pPr>
              <a:spcAft>
                <a:spcPts val="1400"/>
              </a:spcAft>
            </a:pPr>
            <a:r>
              <a:rPr sz="2100">
                <a:solidFill>
                  <a:srgbClr val="2563EB"/>
                </a:solidFill>
                <a:latin typeface="Segoe UI"/>
              </a:rPr>
              <a:t>▪  </a:t>
            </a:r>
            <a:r>
              <a:rPr sz="2100">
                <a:solidFill>
                  <a:srgbClr val="111827"/>
                </a:solidFill>
                <a:latin typeface="Segoe UI"/>
              </a:rPr>
              <a:t>a business milestone in scientific clothing</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Seven pillars of intelligence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"Decompose before you argue: seven components, one checklist."</a:t>
            </a:r>
          </a:p>
        </p:txBody>
      </p:sp>
      <p:sp>
        <p:nvSpPr>
          <p:cNvPr id="5" name="Rounded Rectangle 4" descr="Diagram: Seven pillars of intelligence"/>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1 Reasoning  →  2 Memory  →  3 Learning  →  4 Language  →  5 Perception  →  6 Self-Awareness</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
        <p:nvSpPr>
          <p:cNvPr id="7" name="TextBox 6"/>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framework framing after the source deck (LINK-ONLY — concept only, our own diagram and wording).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pillar scorecard</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"Strongest where humans are most easily fooled.</a:t>
            </a:r>
          </a:p>
          <a:p>
            <a:pPr>
              <a:spcAft>
                <a:spcPts val="1400"/>
              </a:spcAft>
            </a:pPr>
            <a:r>
              <a:rPr sz="2100">
                <a:solidFill>
                  <a:srgbClr val="2563EB"/>
                </a:solidFill>
                <a:latin typeface="Segoe UI"/>
              </a:rPr>
              <a:t>▪  </a:t>
            </a:r>
            <a:r>
              <a:rPr sz="2100">
                <a:solidFill>
                  <a:srgbClr val="111827"/>
                </a:solidFill>
                <a:latin typeface="Segoe UI"/>
              </a:rPr>
              <a:t>Weakest on the word 'general'."</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Section divider: the evidence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"Four results that don't fit the story."</a:t>
            </a:r>
          </a:p>
          <a:p>
            <a:pPr>
              <a:spcAft>
                <a:spcPts val="1400"/>
              </a:spcAft>
            </a:pPr>
            <a:r>
              <a:rPr sz="2100">
                <a:solidFill>
                  <a:srgbClr val="2563EB"/>
                </a:solidFill>
                <a:latin typeface="Segoe UI"/>
              </a:rPr>
              <a:t>▪  </a:t>
            </a:r>
            <a:r>
              <a:rPr sz="2100">
                <a:solidFill>
                  <a:srgbClr val="111827"/>
                </a:solidFill>
                <a:latin typeface="Segoe UI"/>
              </a:rPr>
              <a:t>This is the part of the session that matters.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Reasoning models fail puzzles children solve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"Performance didn't degrade. It collapsed."</a:t>
            </a:r>
          </a:p>
          <a:p>
            <a:pPr>
              <a:spcAft>
                <a:spcPts val="1400"/>
              </a:spcAft>
            </a:pPr>
            <a:r>
              <a:rPr sz="2100">
                <a:solidFill>
                  <a:srgbClr val="2563EB"/>
                </a:solidFill>
                <a:latin typeface="Segoe UI"/>
              </a:rPr>
              <a:t>▪  </a:t>
            </a:r>
            <a:r>
              <a:rPr sz="2100">
                <a:solidFill>
                  <a:srgbClr val="111827"/>
                </a:solidFill>
                <a:latin typeface="Segoe UI"/>
              </a:rPr>
              <a:t>Tower of Hanoi — a 3-line recursive rule</a:t>
            </a:r>
          </a:p>
          <a:p>
            <a:pPr>
              <a:spcAft>
                <a:spcPts val="1400"/>
              </a:spcAft>
            </a:pPr>
            <a:r>
              <a:rPr sz="2100">
                <a:solidFill>
                  <a:srgbClr val="2563EB"/>
                </a:solidFill>
                <a:latin typeface="Segoe UI"/>
              </a:rPr>
              <a:t>▪  </a:t>
            </a:r>
            <a:r>
              <a:rPr sz="2100">
                <a:solidFill>
                  <a:srgbClr val="111827"/>
                </a:solidFill>
                <a:latin typeface="Segoe UI"/>
              </a:rPr>
              <a:t>difficulty is a dial (add a disc)</a:t>
            </a:r>
          </a:p>
          <a:p>
            <a:pPr>
              <a:spcAft>
                <a:spcPts val="1400"/>
              </a:spcAft>
            </a:pPr>
            <a:r>
              <a:rPr sz="2100">
                <a:solidFill>
                  <a:srgbClr val="2563EB"/>
                </a:solidFill>
                <a:latin typeface="Segoe UI"/>
              </a:rPr>
              <a:t>▪  </a:t>
            </a:r>
            <a:r>
              <a:rPr sz="2100">
                <a:solidFill>
                  <a:srgbClr val="111827"/>
                </a:solidFill>
                <a:latin typeface="Segoe UI"/>
              </a:rPr>
              <a:t>children solve it</a:t>
            </a:r>
          </a:p>
          <a:p>
            <a:pPr>
              <a:spcAft>
                <a:spcPts val="1400"/>
              </a:spcAft>
            </a:pPr>
            <a:r>
              <a:rPr sz="2100">
                <a:solidFill>
                  <a:srgbClr val="2563EB"/>
                </a:solidFill>
                <a:latin typeface="Segoe UI"/>
              </a:rPr>
              <a:t>▪  </a:t>
            </a:r>
            <a:r>
              <a:rPr sz="2100">
                <a:solidFill>
                  <a:srgbClr val="111827"/>
                </a:solidFill>
                <a:latin typeface="Segoe UI"/>
              </a:rPr>
              <a:t>past a threshold, models collapse</a:t>
            </a:r>
          </a:p>
          <a:p>
            <a:pPr>
              <a:spcAft>
                <a:spcPts val="1400"/>
              </a:spcAft>
            </a:pPr>
            <a:r>
              <a:rPr sz="2100">
                <a:solidFill>
                  <a:srgbClr val="2563EB"/>
                </a:solidFill>
                <a:latin typeface="Segoe UI"/>
              </a:rPr>
              <a:t>▪  </a:t>
            </a:r>
            <a:r>
              <a:rPr sz="2100">
                <a:solidFill>
                  <a:srgbClr val="111827"/>
                </a:solidFill>
                <a:latin typeface="Segoe UI"/>
              </a:rPr>
              <a:t>some reduced effort as difficulty rose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Apple paper = LINK-ONLY (link on resources slide). Chart is our own schematic — label it as such.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world model that wasn't there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"Give an LLM a chess game in text. It beats guessing by ten points."</a:t>
            </a:r>
          </a:p>
          <a:p>
            <a:pPr>
              <a:spcAft>
                <a:spcPts val="1400"/>
              </a:spcAft>
            </a:pPr>
            <a:r>
              <a:rPr sz="2100">
                <a:solidFill>
                  <a:srgbClr val="2563EB"/>
                </a:solidFill>
                <a:latin typeface="Segoe UI"/>
              </a:rPr>
              <a:t>▪  </a:t>
            </a:r>
            <a:r>
              <a:rPr sz="2100">
                <a:solidFill>
                  <a:srgbClr val="111827"/>
                </a:solidFill>
                <a:latin typeface="Segoe UI"/>
              </a:rPr>
              <a:t>probing = read the internal state with a small classifier</a:t>
            </a:r>
          </a:p>
          <a:p>
            <a:pPr>
              <a:spcAft>
                <a:spcPts val="1400"/>
              </a:spcAft>
            </a:pPr>
            <a:r>
              <a:rPr sz="2100">
                <a:solidFill>
                  <a:srgbClr val="2563EB"/>
                </a:solidFill>
                <a:latin typeface="Segoe UI"/>
              </a:rPr>
              <a:t>▪  </a:t>
            </a:r>
            <a:r>
              <a:rPr sz="2100">
                <a:solidFill>
                  <a:srgbClr val="111827"/>
                </a:solidFill>
                <a:latin typeface="Segoe UI"/>
              </a:rPr>
              <a:t>whose turn: 100% (trivial — it's move parity)</a:t>
            </a:r>
          </a:p>
          <a:p>
            <a:pPr>
              <a:spcAft>
                <a:spcPts val="1400"/>
              </a:spcAft>
            </a:pPr>
            <a:r>
              <a:rPr sz="2100">
                <a:solidFill>
                  <a:srgbClr val="2563EB"/>
                </a:solidFill>
                <a:latin typeface="Segoe UI"/>
              </a:rPr>
              <a:t>▪  </a:t>
            </a:r>
            <a:r>
              <a:rPr sz="2100">
                <a:solidFill>
                  <a:srgbClr val="111827"/>
                </a:solidFill>
                <a:latin typeface="Segoe UI"/>
              </a:rPr>
              <a:t>piece positions: ~10 pts over random</a:t>
            </a:r>
          </a:p>
          <a:p>
            <a:pPr>
              <a:spcAft>
                <a:spcPts val="1400"/>
              </a:spcAft>
            </a:pPr>
            <a:r>
              <a:rPr sz="2100">
                <a:solidFill>
                  <a:srgbClr val="2563EB"/>
                </a:solidFill>
                <a:latin typeface="Segoe UI"/>
              </a:rPr>
              <a:t>▪  </a:t>
            </a:r>
            <a:r>
              <a:rPr sz="2100">
                <a:solidFill>
                  <a:srgbClr val="111827"/>
                </a:solidFill>
                <a:latin typeface="Segoe UI"/>
              </a:rPr>
              <a:t>chess is the friendliest possible case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upgrade that made it worse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reasoning models hallucinated more than the model they replaced."</a:t>
            </a:r>
          </a:p>
          <a:p>
            <a:pPr>
              <a:spcAft>
                <a:spcPts val="1400"/>
              </a:spcAft>
            </a:pPr>
            <a:r>
              <a:rPr sz="2100">
                <a:solidFill>
                  <a:srgbClr val="2563EB"/>
                </a:solidFill>
                <a:latin typeface="Segoe UI"/>
              </a:rPr>
              <a:t>▪  </a:t>
            </a:r>
            <a:r>
              <a:rPr sz="2100">
                <a:solidFill>
                  <a:srgbClr val="111827"/>
                </a:solidFill>
                <a:latin typeface="Segoe UI"/>
              </a:rPr>
              <a:t>expectation: think first → fewer errors</a:t>
            </a:r>
          </a:p>
          <a:p>
            <a:pPr>
              <a:spcAft>
                <a:spcPts val="1400"/>
              </a:spcAft>
            </a:pPr>
            <a:r>
              <a:rPr sz="2100">
                <a:solidFill>
                  <a:srgbClr val="2563EB"/>
                </a:solidFill>
                <a:latin typeface="Segoe UI"/>
              </a:rPr>
              <a:t>▪  </a:t>
            </a:r>
            <a:r>
              <a:rPr sz="2100">
                <a:solidFill>
                  <a:srgbClr val="111827"/>
                </a:solidFill>
                <a:latin typeface="Segoe UI"/>
              </a:rPr>
              <a:t>observed: o3 / o4-mini worse than 4o on factual recall [verify]</a:t>
            </a:r>
          </a:p>
          <a:p>
            <a:pPr>
              <a:spcAft>
                <a:spcPts val="1400"/>
              </a:spcAft>
            </a:pPr>
            <a:r>
              <a:rPr sz="2100">
                <a:solidFill>
                  <a:srgbClr val="2563EB"/>
                </a:solidFill>
                <a:latin typeface="Segoe UI"/>
              </a:rPr>
              <a:t>▪  </a:t>
            </a:r>
            <a:r>
              <a:rPr sz="2100">
                <a:solidFill>
                  <a:srgbClr val="111827"/>
                </a:solidFill>
                <a:latin typeface="Segoe UI"/>
              </a:rPr>
              <a:t>capability is not a scalar</a:t>
            </a:r>
          </a:p>
          <a:p>
            <a:pPr>
              <a:spcAft>
                <a:spcPts val="1400"/>
              </a:spcAft>
            </a:pPr>
            <a:r>
              <a:rPr sz="2100">
                <a:solidFill>
                  <a:srgbClr val="2563EB"/>
                </a:solidFill>
                <a:latin typeface="Segoe UI"/>
              </a:rPr>
              <a:t>▪  </a:t>
            </a:r>
            <a:r>
              <a:rPr sz="2100">
                <a:solidFill>
                  <a:srgbClr val="111827"/>
                </a:solidFill>
                <a:latin typeface="Segoe UI"/>
              </a:rPr>
              <a:t>a newer model is not strictly better</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vendor evaluation data = LINK-ONLY (link, don't screenshot). Our own rendering of the direction of the 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Humans yes. AI no.</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"ARC-AGI-2: ordinary people solve these. Frontier AI does not."</a:t>
            </a:r>
          </a:p>
          <a:p>
            <a:pPr>
              <a:spcAft>
                <a:spcPts val="1400"/>
              </a:spcAft>
            </a:pPr>
            <a:r>
              <a:rPr sz="2100">
                <a:solidFill>
                  <a:srgbClr val="2563EB"/>
                </a:solidFill>
                <a:latin typeface="Segoe UI"/>
              </a:rPr>
              <a:t>▪  </a:t>
            </a:r>
            <a:r>
              <a:rPr sz="2100">
                <a:solidFill>
                  <a:srgbClr val="111827"/>
                </a:solidFill>
                <a:latin typeface="Segoe UI"/>
              </a:rPr>
              <a:t>grid puzzles, no language, no world knowledge</a:t>
            </a:r>
          </a:p>
          <a:p>
            <a:pPr>
              <a:spcAft>
                <a:spcPts val="1400"/>
              </a:spcAft>
            </a:pPr>
            <a:r>
              <a:rPr sz="2100">
                <a:solidFill>
                  <a:srgbClr val="2563EB"/>
                </a:solidFill>
                <a:latin typeface="Segoe UI"/>
              </a:rPr>
              <a:t>▪  </a:t>
            </a:r>
            <a:r>
              <a:rPr sz="2100">
                <a:solidFill>
                  <a:srgbClr val="111827"/>
                </a:solidFill>
                <a:latin typeface="Segoe UI"/>
              </a:rPr>
              <a:t>2–4 examples then a test</a:t>
            </a:r>
          </a:p>
          <a:p>
            <a:pPr>
              <a:spcAft>
                <a:spcPts val="1400"/>
              </a:spcAft>
            </a:pPr>
            <a:r>
              <a:rPr sz="2100">
                <a:solidFill>
                  <a:srgbClr val="2563EB"/>
                </a:solidFill>
                <a:latin typeface="Segoe UI"/>
              </a:rPr>
              <a:t>▪  </a:t>
            </a:r>
            <a:r>
              <a:rPr sz="2100">
                <a:solidFill>
                  <a:srgbClr val="111827"/>
                </a:solidFill>
                <a:latin typeface="Segoe UI"/>
              </a:rPr>
              <a:t>every task a novel rule</a:t>
            </a:r>
          </a:p>
          <a:p>
            <a:pPr>
              <a:spcAft>
                <a:spcPts val="1400"/>
              </a:spcAft>
            </a:pPr>
            <a:r>
              <a:rPr sz="2100">
                <a:solidFill>
                  <a:srgbClr val="2563EB"/>
                </a:solidFill>
                <a:latin typeface="Segoe UI"/>
              </a:rPr>
              <a:t>▪  </a:t>
            </a:r>
            <a:r>
              <a:rPr sz="2100">
                <a:solidFill>
                  <a:srgbClr val="111827"/>
                </a:solidFill>
                <a:latin typeface="Segoe UI"/>
              </a:rPr>
              <a:t>humans usually solve in ≤2 tries</a:t>
            </a:r>
          </a:p>
          <a:p>
            <a:pPr>
              <a:spcAft>
                <a:spcPts val="1400"/>
              </a:spcAft>
            </a:pPr>
            <a:r>
              <a:rPr sz="2100">
                <a:solidFill>
                  <a:srgbClr val="2563EB"/>
                </a:solidFill>
                <a:latin typeface="Segoe UI"/>
              </a:rPr>
              <a:t>▪  </a:t>
            </a:r>
            <a:r>
              <a:rPr sz="2100">
                <a:solidFill>
                  <a:srgbClr val="111827"/>
                </a:solidFill>
                <a:latin typeface="Segoe UI"/>
              </a:rPr>
              <a:t>ARC-AGI-1 ~75% (solved, at extreme compute cost)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ARC-AGI, Apache-2.0 — footer tag ARC-AGI (Chollet), Apache-2.0.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labs themselves disagree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"Six labs.</a:t>
            </a:r>
          </a:p>
          <a:p>
            <a:pPr>
              <a:spcAft>
                <a:spcPts val="1400"/>
              </a:spcAft>
            </a:pPr>
            <a:r>
              <a:rPr sz="2100">
                <a:solidFill>
                  <a:srgbClr val="2563EB"/>
                </a:solidFill>
                <a:latin typeface="Segoe UI"/>
              </a:rPr>
              <a:t>▪  </a:t>
            </a:r>
            <a:r>
              <a:rPr sz="2100">
                <a:solidFill>
                  <a:srgbClr val="111827"/>
                </a:solidFill>
                <a:latin typeface="Segoe UI"/>
              </a:rPr>
              <a:t>Six incompatible answers.</a:t>
            </a:r>
          </a:p>
          <a:p>
            <a:pPr>
              <a:spcAft>
                <a:spcPts val="1400"/>
              </a:spcAft>
            </a:pPr>
            <a:r>
              <a:rPr sz="2100">
                <a:solidFill>
                  <a:srgbClr val="2563EB"/>
                </a:solidFill>
                <a:latin typeface="Segoe UI"/>
              </a:rPr>
              <a:t>▪  </a:t>
            </a:r>
            <a:r>
              <a:rPr sz="2100">
                <a:solidFill>
                  <a:srgbClr val="111827"/>
                </a:solidFill>
                <a:latin typeface="Segoe UI"/>
              </a:rPr>
              <a:t>That's the finding."</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positions [verify]; quotes paraphrased, attributed to the speaker not the deck. Primary lab posts linked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Five structural limits of the Transformer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"Scaling doesn't obviously fix any of these."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 Section divider: quantum</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"Outlook: Quantum Computing"</a:t>
            </a:r>
          </a:p>
          <a:p>
            <a:pPr>
              <a:spcAft>
                <a:spcPts val="1400"/>
              </a:spcAft>
            </a:pPr>
            <a:r>
              <a:rPr sz="2100">
                <a:solidFill>
                  <a:srgbClr val="2563EB"/>
                </a:solidFill>
                <a:latin typeface="Segoe UI"/>
              </a:rPr>
              <a:t>▪  </a:t>
            </a:r>
            <a:r>
              <a:rPr sz="2100">
                <a:solidFill>
                  <a:srgbClr val="111827"/>
                </a:solidFill>
                <a:latin typeface="Segoe UI"/>
              </a:rPr>
              <a:t>⚠️ THE MOST SPECULATIVE CONTENT IN THIS SERIES</a:t>
            </a:r>
          </a:p>
          <a:p>
            <a:pPr>
              <a:spcAft>
                <a:spcPts val="1400"/>
              </a:spcAft>
            </a:pPr>
            <a:r>
              <a:rPr sz="2100">
                <a:solidFill>
                  <a:srgbClr val="2563EB"/>
                </a:solidFill>
                <a:latin typeface="Segoe UI"/>
              </a:rPr>
              <a:t>▪  </a:t>
            </a:r>
            <a:r>
              <a:rPr sz="2100">
                <a:solidFill>
                  <a:srgbClr val="111827"/>
                </a:solidFill>
                <a:latin typeface="Segoe UI"/>
              </a:rPr>
              <a:t>~15 minutes.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bottom line, first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"Near-term impact on your work: minimal.</a:t>
            </a:r>
          </a:p>
          <a:p>
            <a:pPr>
              <a:spcAft>
                <a:spcPts val="1400"/>
              </a:spcAft>
            </a:pPr>
            <a:r>
              <a:rPr sz="2100">
                <a:solidFill>
                  <a:srgbClr val="2563EB"/>
                </a:solidFill>
                <a:latin typeface="Segoe UI"/>
              </a:rPr>
              <a:t>▪  </a:t>
            </a:r>
            <a:r>
              <a:rPr sz="2100">
                <a:solidFill>
                  <a:srgbClr val="111827"/>
                </a:solidFill>
                <a:latin typeface="Segoe UI"/>
              </a:rPr>
              <a:t>One exception."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Not a faster computer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"A quantum computer will never speed up your build."</a:t>
            </a:r>
          </a:p>
          <a:p>
            <a:pPr>
              <a:spcAft>
                <a:spcPts val="1400"/>
              </a:spcAft>
            </a:pPr>
            <a:r>
              <a:rPr sz="2100">
                <a:solidFill>
                  <a:srgbClr val="2563EB"/>
                </a:solidFill>
                <a:latin typeface="Segoe UI"/>
              </a:rPr>
              <a:t>▪  </a:t>
            </a:r>
            <a:r>
              <a:rPr sz="2100">
                <a:solidFill>
                  <a:srgbClr val="111827"/>
                </a:solidFill>
                <a:latin typeface="Segoe UI"/>
              </a:rPr>
              <a:t>superposition</a:t>
            </a:r>
          </a:p>
          <a:p>
            <a:pPr>
              <a:spcAft>
                <a:spcPts val="1400"/>
              </a:spcAft>
            </a:pPr>
            <a:r>
              <a:rPr sz="2100">
                <a:solidFill>
                  <a:srgbClr val="2563EB"/>
                </a:solidFill>
                <a:latin typeface="Segoe UI"/>
              </a:rPr>
              <a:t>▪  </a:t>
            </a:r>
            <a:r>
              <a:rPr sz="2100">
                <a:solidFill>
                  <a:srgbClr val="111827"/>
                </a:solidFill>
                <a:latin typeface="Segoe UI"/>
              </a:rPr>
              <a:t>entanglement</a:t>
            </a:r>
          </a:p>
          <a:p>
            <a:pPr>
              <a:spcAft>
                <a:spcPts val="1400"/>
              </a:spcAft>
            </a:pPr>
            <a:r>
              <a:rPr sz="2100">
                <a:solidFill>
                  <a:srgbClr val="2563EB"/>
                </a:solidFill>
                <a:latin typeface="Segoe UI"/>
              </a:rPr>
              <a:t>▪  </a:t>
            </a:r>
            <a:r>
              <a:rPr sz="2100">
                <a:solidFill>
                  <a:srgbClr val="111827"/>
                </a:solidFill>
                <a:latin typeface="Segoe UI"/>
              </a:rPr>
              <a:t>interference — where the power actually is</a:t>
            </a:r>
          </a:p>
          <a:p>
            <a:pPr>
              <a:spcAft>
                <a:spcPts val="1400"/>
              </a:spcAft>
            </a:pPr>
            <a:r>
              <a:rPr sz="2100">
                <a:solidFill>
                  <a:srgbClr val="2563EB"/>
                </a:solidFill>
                <a:latin typeface="Segoe UI"/>
              </a:rPr>
              <a:t>▪  </a:t>
            </a:r>
            <a:r>
              <a:rPr sz="2100">
                <a:solidFill>
                  <a:srgbClr val="111827"/>
                </a:solidFill>
                <a:latin typeface="Segoe UI"/>
              </a:rPr>
              <a:t>you measure once → one classical string</a:t>
            </a:r>
          </a:p>
          <a:p>
            <a:pPr>
              <a:spcAft>
                <a:spcPts val="1400"/>
              </a:spcAft>
            </a:pPr>
            <a:r>
              <a:rPr sz="2100">
                <a:solidFill>
                  <a:srgbClr val="2563EB"/>
                </a:solidFill>
                <a:latin typeface="Segoe UI"/>
              </a:rPr>
              <a:t>▪  </a:t>
            </a:r>
            <a:r>
              <a:rPr sz="2100">
                <a:solidFill>
                  <a:srgbClr val="111827"/>
                </a:solidFill>
                <a:latin typeface="Segoe UI"/>
              </a:rPr>
              <a:t>no free parallel search</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Error correction is the bottleneck, not qubit count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"When you read '1,000 qubits' — ask: physical or logical?"</a:t>
            </a:r>
          </a:p>
          <a:p>
            <a:pPr>
              <a:spcAft>
                <a:spcPts val="1400"/>
              </a:spcAft>
            </a:pPr>
            <a:r>
              <a:rPr sz="2100">
                <a:solidFill>
                  <a:srgbClr val="2563EB"/>
                </a:solidFill>
                <a:latin typeface="Segoe UI"/>
              </a:rPr>
              <a:t>▪  </a:t>
            </a:r>
            <a:r>
              <a:rPr sz="2100">
                <a:solidFill>
                  <a:srgbClr val="111827"/>
                </a:solidFill>
                <a:latin typeface="Segoe UI"/>
              </a:rPr>
              <a:t>NISQ = noisy, intermediate-scale, short circuits</a:t>
            </a:r>
          </a:p>
          <a:p>
            <a:pPr>
              <a:spcAft>
                <a:spcPts val="1400"/>
              </a:spcAft>
            </a:pPr>
            <a:r>
              <a:rPr sz="2100">
                <a:solidFill>
                  <a:srgbClr val="2563EB"/>
                </a:solidFill>
                <a:latin typeface="Segoe UI"/>
              </a:rPr>
              <a:t>▪  </a:t>
            </a:r>
            <a:r>
              <a:rPr sz="2100">
                <a:solidFill>
                  <a:srgbClr val="111827"/>
                </a:solidFill>
                <a:latin typeface="Segoe UI"/>
              </a:rPr>
              <a:t>no-cloning → no classical redundancy</a:t>
            </a:r>
          </a:p>
          <a:p>
            <a:pPr>
              <a:spcAft>
                <a:spcPts val="1400"/>
              </a:spcAft>
            </a:pPr>
            <a:r>
              <a:rPr sz="2100">
                <a:solidFill>
                  <a:srgbClr val="2563EB"/>
                </a:solidFill>
                <a:latin typeface="Segoe UI"/>
              </a:rPr>
              <a:t>▪  </a:t>
            </a:r>
            <a:r>
              <a:rPr sz="2100">
                <a:solidFill>
                  <a:srgbClr val="111827"/>
                </a:solidFill>
                <a:latin typeface="Segoe UI"/>
              </a:rPr>
              <a:t>1 logical qubit ≈ 10²–10³+ physical [verify]</a:t>
            </a:r>
          </a:p>
          <a:p>
            <a:pPr>
              <a:spcAft>
                <a:spcPts val="1400"/>
              </a:spcAft>
            </a:pPr>
            <a:r>
              <a:rPr sz="2100">
                <a:solidFill>
                  <a:srgbClr val="2563EB"/>
                </a:solidFill>
                <a:latin typeface="Segoe UI"/>
              </a:rPr>
              <a:t>▪  </a:t>
            </a:r>
            <a:r>
              <a:rPr sz="2100">
                <a:solidFill>
                  <a:srgbClr val="111827"/>
                </a:solidFill>
                <a:latin typeface="Segoe UI"/>
              </a:rPr>
              <a:t>useful algorithms need thousands of logical [verify]</a:t>
            </a:r>
          </a:p>
          <a:p>
            <a:pPr>
              <a:spcAft>
                <a:spcPts val="1400"/>
              </a:spcAft>
            </a:pPr>
            <a:r>
              <a:rPr sz="2100">
                <a:solidFill>
                  <a:srgbClr val="2563EB"/>
                </a:solidFill>
                <a:latin typeface="Segoe UI"/>
              </a:rPr>
              <a:t>▪  </a:t>
            </a:r>
            <a:r>
              <a:rPr sz="2100">
                <a:solidFill>
                  <a:srgbClr val="111827"/>
                </a:solidFill>
                <a:latin typeface="Segoe UI"/>
              </a:rPr>
              <a:t>headlines count the wrong number</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AI intersection, and the part that's actually real</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"Two revolutions the press stapled together — and one genuine deadline." - Bullets (left/two-column): AI intersection: quantum simulation → training data (credible)</a:t>
            </a:r>
          </a:p>
          <a:p>
            <a:pPr>
              <a:spcAft>
                <a:spcPts val="1400"/>
              </a:spcAft>
            </a:pPr>
            <a:r>
              <a:rPr sz="2100">
                <a:solidFill>
                  <a:srgbClr val="2563EB"/>
                </a:solidFill>
                <a:latin typeface="Segoe UI"/>
              </a:rPr>
              <a:t>▪  </a:t>
            </a:r>
            <a:r>
              <a:rPr sz="2100">
                <a:solidFill>
                  <a:srgbClr val="111827"/>
                </a:solidFill>
                <a:latin typeface="Segoe UI"/>
              </a:rPr>
              <a:t>optimisation (contested)</a:t>
            </a:r>
          </a:p>
          <a:p>
            <a:pPr>
              <a:spcAft>
                <a:spcPts val="1400"/>
              </a:spcAft>
            </a:pPr>
            <a:r>
              <a:rPr sz="2100">
                <a:solidFill>
                  <a:srgbClr val="2563EB"/>
                </a:solidFill>
                <a:latin typeface="Segoe UI"/>
              </a:rPr>
              <a:t>▪  </a:t>
            </a:r>
            <a:r>
              <a:rPr sz="2100">
                <a:solidFill>
                  <a:srgbClr val="111827"/>
                </a:solidFill>
                <a:latin typeface="Segoe UI"/>
              </a:rPr>
              <a:t>QML (research: data loading + barren plateaus)</a:t>
            </a:r>
          </a:p>
          <a:p>
            <a:pPr>
              <a:spcAft>
                <a:spcPts val="1400"/>
              </a:spcAft>
            </a:pPr>
            <a:r>
              <a:rPr sz="2100">
                <a:solidFill>
                  <a:srgbClr val="2563EB"/>
                </a:solidFill>
                <a:latin typeface="Segoe UI"/>
              </a:rPr>
              <a:t>▪  </a:t>
            </a:r>
            <a:r>
              <a:rPr sz="2100">
                <a:solidFill>
                  <a:srgbClr val="111827"/>
                </a:solidFill>
                <a:latin typeface="Segoe UI"/>
              </a:rPr>
              <a:t>LLM acceleration (no path) — several proposed speedups dequantised. - Bullets (right): PQC — real and dated: Shor breaks RSA / DH / ECC</a:t>
            </a:r>
          </a:p>
          <a:p>
            <a:pPr>
              <a:spcAft>
                <a:spcPts val="1400"/>
              </a:spcAft>
            </a:pPr>
            <a:r>
              <a:rPr sz="2100">
                <a:solidFill>
                  <a:srgbClr val="2563EB"/>
                </a:solidFill>
                <a:latin typeface="Segoe UI"/>
              </a:rPr>
              <a:t>▪  </a:t>
            </a:r>
            <a:r>
              <a:rPr sz="2100">
                <a:solidFill>
                  <a:srgbClr val="111827"/>
                </a:solidFill>
                <a:latin typeface="Segoe UI"/>
              </a:rPr>
              <a:t>symmetric crypto survives with longer keys</a:t>
            </a:r>
          </a:p>
          <a:p>
            <a:pPr>
              <a:spcAft>
                <a:spcPts val="1400"/>
              </a:spcAft>
            </a:pPr>
            <a:r>
              <a:rPr sz="2100">
                <a:solidFill>
                  <a:srgbClr val="2563EB"/>
                </a:solidFill>
                <a:latin typeface="Segoe UI"/>
              </a:rPr>
              <a:t>▪  </a:t>
            </a:r>
            <a:r>
              <a:rPr sz="2100">
                <a:solidFill>
                  <a:srgbClr val="111827"/>
                </a:solidFill>
                <a:latin typeface="Segoe UI"/>
              </a:rPr>
              <a:t>"harvest now, decrypt later"</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NIST PQC — public domain, embeddable. [verify] current publication numbers and algorithm set.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Closing the series: back to Session 1</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"Session 1's mental model predicted Session 16's evidence."</a:t>
            </a:r>
          </a:p>
          <a:p>
            <a:pPr>
              <a:spcAft>
                <a:spcPts val="1400"/>
              </a:spcAft>
            </a:pPr>
            <a:r>
              <a:rPr sz="2100">
                <a:solidFill>
                  <a:srgbClr val="2563EB"/>
                </a:solidFill>
                <a:latin typeface="Segoe UI"/>
              </a:rPr>
              <a:t>▪  </a:t>
            </a:r>
            <a:r>
              <a:rPr sz="2100">
                <a:solidFill>
                  <a:srgbClr val="111827"/>
                </a:solidFill>
                <a:latin typeface="Segoe UI"/>
              </a:rPr>
              <a:t>autocomplete on steroids — pattern completion, not lookup</a:t>
            </a:r>
          </a:p>
          <a:p>
            <a:pPr>
              <a:spcAft>
                <a:spcPts val="1400"/>
              </a:spcAft>
            </a:pPr>
            <a:r>
              <a:rPr sz="2100">
                <a:solidFill>
                  <a:srgbClr val="2563EB"/>
                </a:solidFill>
                <a:latin typeface="Segoe UI"/>
              </a:rPr>
              <a:t>▪  </a:t>
            </a:r>
            <a:r>
              <a:rPr sz="2100">
                <a:solidFill>
                  <a:srgbClr val="111827"/>
                </a:solidFill>
                <a:latin typeface="Segoe UI"/>
              </a:rPr>
              <a:t>Hanoi collapse ✓</a:t>
            </a:r>
          </a:p>
          <a:p>
            <a:pPr>
              <a:spcAft>
                <a:spcPts val="1400"/>
              </a:spcAft>
            </a:pPr>
            <a:r>
              <a:rPr sz="2100">
                <a:solidFill>
                  <a:srgbClr val="2563EB"/>
                </a:solidFill>
                <a:latin typeface="Segoe UI"/>
              </a:rPr>
              <a:t>▪  </a:t>
            </a:r>
            <a:r>
              <a:rPr sz="2100">
                <a:solidFill>
                  <a:srgbClr val="111827"/>
                </a:solidFill>
                <a:latin typeface="Segoe UI"/>
              </a:rPr>
              <a:t>no world model ✓</a:t>
            </a:r>
          </a:p>
          <a:p>
            <a:pPr>
              <a:spcAft>
                <a:spcPts val="1400"/>
              </a:spcAft>
            </a:pPr>
            <a:r>
              <a:rPr sz="2100">
                <a:solidFill>
                  <a:srgbClr val="2563EB"/>
                </a:solidFill>
                <a:latin typeface="Segoe UI"/>
              </a:rPr>
              <a:t>▪  </a:t>
            </a:r>
            <a:r>
              <a:rPr sz="2100">
                <a:solidFill>
                  <a:srgbClr val="111827"/>
                </a:solidFill>
                <a:latin typeface="Segoe UI"/>
              </a:rPr>
              <a:t>ARC-AGI-2 ✓</a:t>
            </a:r>
          </a:p>
          <a:p>
            <a:pPr>
              <a:spcAft>
                <a:spcPts val="1400"/>
              </a:spcAft>
            </a:pPr>
            <a:r>
              <a:rPr sz="2100">
                <a:solidFill>
                  <a:srgbClr val="2563EB"/>
                </a:solidFill>
                <a:latin typeface="Segoe UI"/>
              </a:rPr>
              <a:t>▪  </a:t>
            </a:r>
            <a:r>
              <a:rPr sz="2100">
                <a:solidFill>
                  <a:srgbClr val="111827"/>
                </a:solidFill>
                <a:latin typeface="Segoe UI"/>
              </a:rPr>
              <a:t>good mental models keep paying</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Where to go next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"Pick one path.</a:t>
            </a:r>
          </a:p>
          <a:p>
            <a:pPr>
              <a:spcAft>
                <a:spcPts val="1400"/>
              </a:spcAft>
            </a:pPr>
            <a:r>
              <a:rPr sz="2100">
                <a:solidFill>
                  <a:srgbClr val="2563EB"/>
                </a:solidFill>
                <a:latin typeface="Segoe UI"/>
              </a:rPr>
              <a:t>▪  </a:t>
            </a:r>
            <a:r>
              <a:rPr sz="2100">
                <a:solidFill>
                  <a:srgbClr val="111827"/>
                </a:solidFill>
                <a:latin typeface="Segoe UI"/>
              </a:rPr>
              <a:t>Not 'keep reading newsletters'."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Discussion &amp; Q&amp;A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3–4 prompts from exercises/discussion.md, including the closing series prompt.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Resources &amp; credits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LINK-ONLY reading list and the licence attributions from resources/sources.md.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16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as listed. --- ## Deck-builder checklist (session-specific, additional to §5 of powerpoint_instructions.m…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