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contract in one sentence: this is not a lecture, it is a lab, and the deliverable is a notebook you keep. Tell them the slides are minimal on purpose — we're going to live in Colab. Ask everyone to have Colab open now, not in five minutes.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arrow chain in 20 seconds and flag the odd one out — we evaluate before we train, on purpose, and that's the moment the session is built around. Then stop and do the setup check: everyone runs import tensorflow as tf; print(tf.__version__). Do not proceed until hands are down. A room where three people are still logging in at minute twelve loses this session.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running example and immediately deflate it — this problem does not need a neural network, and the course that originated it says so. That honesty is the point: we chose a problem where you can check every answer against your own eyes and print all 16 parameters. Also state the threshold direction now and hold it all session: the output is the probability of dark, so ≥ 0.5 means dark. (The source deck contradicts itself here; we resolved it — see the correction slide.)</a:t>
            </a:r>
          </a:p>
          <a:p/>
          <a:p>
            <a:r>
              <a:t>--- Mermaid source 1 (render and place on the diagram box) ---</a:t>
            </a:r>
          </a:p>
          <a:p>
            <a:r>
              <a:t>flowchart LR</a:t>
            </a:r>
          </a:p>
          <a:p>
            <a:r>
              <a:t>    C["Colour (255,255,204)"] --&gt; N["Network 3-&gt;3-&gt;1"] --&gt; P["0.98 = P(dark)"] --&gt; D{"&gt;= 0.5?"}</a:t>
            </a:r>
          </a:p>
          <a:p>
            <a:r>
              <a:t>    D --&gt;|yes| DARK["DARK text"]</a:t>
            </a:r>
          </a:p>
          <a:p>
            <a:r>
              <a:t>    D --&gt;|no| LIGHT["LIGHT text"]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mental scaffold for the next 35 minutes — put it up now and refer back to it at every lab segment ("we're at compile"). Emphasise the separation: building says nothing about how it learns, compiling says nothing about the data. And point at the dotted loop: that's where practitioners spend 95% of their time, and it's Session 8 in one arrow.</a:t>
            </a:r>
          </a:p>
          <a:p/>
          <a:p>
            <a:r>
              <a:t>--- Mermaid source 1 (render and place on the diagram box) ---</a:t>
            </a:r>
          </a:p>
          <a:p>
            <a:r>
              <a:t>flowchart LR</a:t>
            </a:r>
          </a:p>
          <a:p>
            <a:r>
              <a:t>    B["1. BUILD&lt;br/&gt;Sequential + Dense"] --&gt; C["2. COMPILE&lt;br/&gt;loss + optimizer + metrics"]</a:t>
            </a:r>
          </a:p>
          <a:p>
            <a:r>
              <a:t>    C --&gt; F["3. FIT&lt;br/&gt;epochs + batch_size"]</a:t>
            </a:r>
          </a:p>
          <a:p>
            <a:r>
              <a:t>    F --&gt; E["4. EVALUATE&lt;br/&gt;on unseen data"]</a:t>
            </a:r>
          </a:p>
          <a:p>
            <a:r>
              <a:t>    E -.-&gt;|"change ONE thing, re-run"| B</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lab Cells 1–3 live. Two teaching beats. (1) /255 because 255 is a known maximum — no need to learn it from data; challenge 1 removes it and the score drops. (2) The label-direction check: a model trained on inverted labels trains beautifully and is exactly wrong, and nothing in the log warns you. Thirty seconds of checking, every time someone hands you labelled data. Verify the dataset link resolved this morning; if not, run Cell 1b, which generates the data offline — say so out loud rather than fumbling.</a:t>
            </a:r>
          </a:p>
          <a:p/>
          <a:p>
            <a:r>
              <a:t>--- Mermaid source 1 (render and place on the diagram box) ---</a:t>
            </a:r>
          </a:p>
          <a:p>
            <a:r>
              <a:t>flowchart LR</a:t>
            </a:r>
          </a:p>
          <a:p>
            <a:r>
              <a:t>    A["1,345 rows"] --&gt; B["TRAIN ~896&lt;br/&gt;the model learns here"]</a:t>
            </a:r>
          </a:p>
          <a:p>
            <a:r>
              <a:t>    A --&gt; C["TEST ~449&lt;br/&gt;hidden until the end"]</a:t>
            </a:r>
          </a:p>
          <a:p>
            <a:r>
              <a:t>    B --&gt; M["fit()"] --&gt; E["evaluate()"]</a:t>
            </a:r>
          </a:p>
          <a:p>
            <a:r>
              <a:t>    C --&gt; 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lab Cells 4–5. Derive the 16 out loud — 3×3 weights + 3 biases + 3×1 weights + 1 bias — so it is arithmetic, not a magic number from summary(). Then the anchor line: a frontier language model is this same structure with a few hundred billion of these; the mechanism does not change with the count. Explain each argument only as deep as the room needs: Dense = everything connects to everything; relu = negatives become zero; sigmoid = squash to 0–1 so we can read it as a probability.</a:t>
            </a:r>
          </a:p>
          <a:p/>
          <a:p>
            <a:r>
              <a:t>--- Mermaid source 1 (render and place on the diagram box) ---</a:t>
            </a:r>
          </a:p>
          <a:p>
            <a:r>
              <a:t>flowchart LR</a:t>
            </a:r>
          </a:p>
          <a:p>
            <a:r>
              <a:t>    R["R"] --&gt; H1 &amp; H2 &amp; H3</a:t>
            </a:r>
          </a:p>
          <a:p>
            <a:r>
              <a:t>    G["G"] --&gt; H1 &amp; H2 &amp; H3</a:t>
            </a:r>
          </a:p>
          <a:p>
            <a:r>
              <a:t>    B["B"] --&gt; H1 &amp; H2 &amp; H3</a:t>
            </a:r>
          </a:p>
          <a:p>
            <a:r>
              <a:t>    H1["h1 relu"] --&gt; O</a:t>
            </a:r>
          </a:p>
          <a:p>
            <a:r>
              <a:t>    H2["h2 relu"] --&gt; O</a:t>
            </a:r>
          </a:p>
          <a:p>
            <a:r>
              <a:t>    H3["h3 relu"] --&gt; O</a:t>
            </a:r>
          </a:p>
          <a:p>
            <a:r>
              <a:t>    O["out sigmoid"] --&gt; P["P(dark)"]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short — two minutes, it's the compressible segment. The one idea worth landing: the number that trains the model and the number that reassures you are not the same number. Accuracy is a step function with no usable slope, so it can't drive learning; we optimise a smooth proxy and watch the thing we care about. Mention the correction in passing: the source deck uses squared error here, which is for predicting numbers, not probabilities — we use cross-entropy, and so does Session 8.</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the session exists for — do not rush it, and do not cut it. Poll first: "the model is built but untrained — what accuracy do you predict?" Most will say 50%. Run evaluate(): 0.55. Let someone in the room work out why it's not 50 before you say it — because it answers one class for everything, and that class is 55% of the test set. Then the reveal that matters: 0.55 isn't partial skill, it's arithmetic about the dataset with the model contributing nothing. Sit in the silence for a beat.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Generalise the previous slide immediately, while it's warm. On a balanced toy problem a do-nothing model looks obviously bad. On a 99.5%-healthy dataset it reports 99.5% and sounds like a triumph. They have now watched exactly that model get built, in their own notebook — that memory is the asset. Name the forward links explicitly: Session 8 gives them the instrument that exposes it (confusion matrix), Session 13 aims it at a vendor claiming 99% accuracy.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lab Cell 9 live with verbose=1 and let the log scroll — the room should physically watch loss fall and accuracy climb. Read epoch 1 aloud: accuracy 0.56, loss 0.687 — that's the untrained state from two slides ago, confirming itself, because a loss of ~0.69 means "saying 0.5 to everything". Then the arithmetic nobody expects: epochs × batches = the real number of weight updates. Halving batch size doubles the learning without touching epochs.</a:t>
            </a:r>
          </a:p>
          <a:p/>
          <a:p>
            <a:r>
              <a:t>--- Mermaid source 1 (render and place on the diagram box) ---</a:t>
            </a:r>
          </a:p>
          <a:p>
            <a:r>
              <a:t>flowchart LR</a:t>
            </a:r>
          </a:p>
          <a:p>
            <a:r>
              <a:t>    A["Take a batch&lt;br/&gt;(32 rows)"] --&gt; B["Predict"] --&gt; C["Measure LOSS"]</a:t>
            </a:r>
          </a:p>
          <a:p>
            <a:r>
              <a:t>    C --&gt; D["Assign blame&lt;br/&gt;to each weight"] --&gt; E["Optimizer nudges&lt;br/&gt;all 16 weights"]</a:t>
            </a:r>
          </a:p>
          <a:p>
            <a:r>
              <a:t>    E --&gt;|next batch| 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lab Cell 10. Two lessons. (1) Five epochs underfits — the model started learning and stopped too early. (2) The trap that catches everyone once: fit() called again continues training, it does not restart — so rebuild before every comparison. Then point at the knobs table and land the real message: almost every knob has a failure mode at both ends. There's no direction that is simply "better", which is why this is a search, not a recipe — and why Session 8 is a whole session about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relocating the difficulty, honestly and without cynicism. When a vendor or an internal team demonstrates "we built an AI model", they did what this room just did in twenty-five minutes. That's the correct baseline, and it moves your scepticism to where it belongs: the data, the labels, the held-out evaluation, the judgement afterwards. Then hand off: keep the notebook, Session 8 reloads exactly this data and makes the model actually good. For the managers: the going-forward skill isn't the syntax, it's knowing what those two numbers mean.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minutes. Full prompts and what each surfaces are in exercises/discussion.md. If the room is quiet, open with the vendor-demo question — it converts the lab into something about their job within one answer.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them at content/ for the full written version of everything skipped, and at the lab's "break it / extend it" challenges as homework that takes fifteen minutes and teaches more than the session did. Remind them to save the notebook — Session 8 opens with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2103120"/>
            <a:ext cx="10515600" cy="1463040"/>
          </a:xfrm>
          <a:prstGeom prst="rect">
            <a:avLst/>
          </a:prstGeom>
          <a:noFill/>
        </p:spPr>
        <p:txBody>
          <a:bodyPr wrap="square" anchor="t">
            <a:spAutoFit/>
          </a:bodyPr>
          <a:lstStyle/>
          <a:p>
            <a:pPr algn="l">
              <a:spcAft>
                <a:spcPts val="1000"/>
              </a:spcAft>
            </a:pPr>
            <a:r>
              <a:rPr sz="4000" b="1">
                <a:solidFill>
                  <a:srgbClr val="1F2A37"/>
                </a:solidFill>
                <a:latin typeface="Segoe UI"/>
              </a:rPr>
              <a:t>Hands-On I: Build and Train a Network in Keras</a:t>
            </a:r>
          </a:p>
        </p:txBody>
      </p:sp>
      <p:sp>
        <p:nvSpPr>
          <p:cNvPr id="3" name="Rectangle 2"/>
          <p:cNvSpPr/>
          <p:nvPr/>
        </p:nvSpPr>
        <p:spPr>
          <a:xfrm>
            <a:off x="822960" y="3703320"/>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977639"/>
            <a:ext cx="10515600" cy="822960"/>
          </a:xfrm>
          <a:prstGeom prst="rect">
            <a:avLst/>
          </a:prstGeom>
          <a:noFill/>
        </p:spPr>
        <p:txBody>
          <a:bodyPr wrap="square" anchor="t">
            <a:spAutoFit/>
          </a:bodyPr>
          <a:lstStyle/>
          <a:p>
            <a:pPr algn="l">
              <a:spcAft>
                <a:spcPts val="1000"/>
              </a:spcAft>
            </a:pPr>
            <a:r>
              <a:rPr sz="1700" b="0">
                <a:solidFill>
                  <a:srgbClr val="6B7280"/>
                </a:solidFill>
                <a:latin typeface="Segoe UI"/>
              </a:rPr>
              <a:t>Session 7 of 16  ·  Do it</a:t>
            </a:r>
          </a:p>
          <a:p>
            <a:pPr algn="l">
              <a:spcAft>
                <a:spcPts val="1000"/>
              </a:spcAft>
            </a:pPr>
            <a:r>
              <a:rPr sz="1700" b="0">
                <a:solidFill>
                  <a:srgbClr val="6B7280"/>
                </a:solidFill>
                <a:latin typeface="Segoe UI"/>
              </a:rPr>
              <a:t>AI Training Series  ·  45 min + 15 min Q&amp;A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Agenda + setup check</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The eight-arrow workflow as the agenda: load → scale → split → build → compile → evaluate (untrained!) → fit → evaluate &amp; predict.</a:t>
            </a:r>
          </a:p>
          <a:p>
            <a:pPr>
              <a:spcAft>
                <a:spcPts val="1400"/>
              </a:spcAft>
            </a:pPr>
            <a:r>
              <a:rPr sz="2100">
                <a:solidFill>
                  <a:srgbClr val="2563EB"/>
                </a:solidFill>
                <a:latin typeface="Segoe UI"/>
              </a:rPr>
              <a:t>▪  </a:t>
            </a:r>
            <a:r>
              <a:rPr sz="2100">
                <a:solidFill>
                  <a:srgbClr val="111827"/>
                </a:solidFill>
                <a:latin typeface="Segoe UI"/>
              </a:rPr>
              <a:t>Footer: "45 min + 15 min Q&amp;A".</a:t>
            </a:r>
          </a:p>
          <a:p>
            <a:pPr>
              <a:spcAft>
                <a:spcPts val="1400"/>
              </a:spcAft>
            </a:pPr>
            <a:r>
              <a:rPr sz="2100">
                <a:solidFill>
                  <a:srgbClr val="2563EB"/>
                </a:solidFill>
                <a:latin typeface="Segoe UI"/>
              </a:rPr>
              <a:t>▪  </a:t>
            </a:r>
            <a:r>
              <a:rPr sz="2100">
                <a:solidFill>
                  <a:srgbClr val="111827"/>
                </a:solidFill>
                <a:latin typeface="Segoe UI"/>
              </a:rPr>
              <a:t>Big: colab.research.google.com.</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7  ·  AI Training Series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The problem, and an honest disclaimer</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"A tiny problem, chosen because you can see through it." Bullets: background colour in (R, G, B); one probability out; ≥ 0.5 → DARK text; ~1,300 labelled colours.</a:t>
            </a:r>
          </a:p>
          <a:p>
            <a:pPr>
              <a:spcAft>
                <a:spcPts val="1400"/>
              </a:spcAft>
            </a:pPr>
            <a:r>
              <a:rPr sz="1700">
                <a:solidFill>
                  <a:srgbClr val="2563EB"/>
                </a:solidFill>
                <a:latin typeface="Segoe UI"/>
              </a:rPr>
              <a:t>▪  </a:t>
            </a:r>
            <a:r>
              <a:rPr sz="1700">
                <a:solidFill>
                  <a:srgbClr val="111827"/>
                </a:solidFill>
                <a:latin typeface="Segoe UI"/>
              </a:rPr>
              <a:t>Callout: *"A brightness rule solves this.</a:t>
            </a:r>
          </a:p>
          <a:p>
            <a:pPr>
              <a:spcAft>
                <a:spcPts val="1400"/>
              </a:spcAft>
            </a:pPr>
            <a:r>
              <a:rPr sz="1700">
                <a:solidFill>
                  <a:srgbClr val="2563EB"/>
                </a:solidFill>
                <a:latin typeface="Segoe UI"/>
              </a:rPr>
              <a:t>▪  </a:t>
            </a:r>
            <a:r>
              <a:rPr sz="1700">
                <a:solidFill>
                  <a:srgbClr val="111827"/>
                </a:solidFill>
                <a:latin typeface="Segoe UI"/>
              </a:rPr>
              <a:t>We're using a network because it's small enough to read."*</a:t>
            </a:r>
          </a:p>
        </p:txBody>
      </p:sp>
      <p:sp>
        <p:nvSpPr>
          <p:cNvPr id="5" name="Rounded Rectangle 4" descr="Diagram: The problem, and an honest disclaimer"/>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Colour (255,255,204)  →  Network 3-&gt;3-&gt;1  →  0.98 = P(dark)  →  DARK text  →  LIGHT text</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7  ·  AI Training Series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Four stages, every time</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"Every Keras program is the same four stages." BUILD (shape)</a:t>
            </a:r>
          </a:p>
          <a:p>
            <a:pPr>
              <a:spcAft>
                <a:spcPts val="1400"/>
              </a:spcAft>
            </a:pPr>
            <a:r>
              <a:rPr sz="1700">
                <a:solidFill>
                  <a:srgbClr val="2563EB"/>
                </a:solidFill>
                <a:latin typeface="Segoe UI"/>
              </a:rPr>
              <a:t>▪  </a:t>
            </a:r>
            <a:r>
              <a:rPr sz="1700">
                <a:solidFill>
                  <a:srgbClr val="111827"/>
                </a:solidFill>
                <a:latin typeface="Segoe UI"/>
              </a:rPr>
              <a:t>COMPILE (learning rules)</a:t>
            </a:r>
          </a:p>
          <a:p>
            <a:pPr>
              <a:spcAft>
                <a:spcPts val="1400"/>
              </a:spcAft>
            </a:pPr>
            <a:r>
              <a:rPr sz="1700">
                <a:solidFill>
                  <a:srgbClr val="2563EB"/>
                </a:solidFill>
                <a:latin typeface="Segoe UI"/>
              </a:rPr>
              <a:t>▪  </a:t>
            </a:r>
            <a:r>
              <a:rPr sz="1700">
                <a:solidFill>
                  <a:srgbClr val="111827"/>
                </a:solidFill>
                <a:latin typeface="Segoe UI"/>
              </a:rPr>
              <a:t>FIT (weights change)</a:t>
            </a:r>
          </a:p>
          <a:p>
            <a:pPr>
              <a:spcAft>
                <a:spcPts val="1400"/>
              </a:spcAft>
            </a:pPr>
            <a:r>
              <a:rPr sz="1700">
                <a:solidFill>
                  <a:srgbClr val="2563EB"/>
                </a:solidFill>
                <a:latin typeface="Segoe UI"/>
              </a:rPr>
              <a:t>▪  </a:t>
            </a:r>
            <a:r>
              <a:rPr sz="1700">
                <a:solidFill>
                  <a:srgbClr val="111827"/>
                </a:solidFill>
                <a:latin typeface="Segoe UI"/>
              </a:rPr>
              <a:t>EVALUATE (the honest score). Plus the loop-back arrow: change one thing, re-run</a:t>
            </a:r>
          </a:p>
        </p:txBody>
      </p:sp>
      <p:sp>
        <p:nvSpPr>
          <p:cNvPr id="5" name="Rounded Rectangle 4" descr="Diagram: Four stages, every time"/>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1. BUILD Sequential + Dense  →  2. COMPILE loss + optimizer + metrics  →  3. FIT epochs + batch_size  →  4. EVALUATE on unseen data</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7  ·  AI Training Series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LAB CUE: the data, and why /255</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"Scale the inputs; hold a third back." Bullets: RGB 0–255 → /255 → 0–1; weights start near zero, inputs shouldn't be 255× bigger; test_size=1/3, stratify=y; check which label means "dark" before you trust anything.</a:t>
            </a:r>
          </a:p>
        </p:txBody>
      </p:sp>
      <p:sp>
        <p:nvSpPr>
          <p:cNvPr id="5" name="Rounded Rectangle 4" descr="Diagram: LAB CUE: the data, and why /255"/>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1,345 rows  →  TRAIN ~896 the model learns here  →  TEST ~449 hidden until the end  →  fit()  →  evaluate()</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7  ·  AI Training Series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LAB CUE: the whole model is 16 numbers</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The five-line build cell, large enough to read from the back: Sequential([ Input(shape=(3,)), Dense(3, activation="relu"), Dense(1, activation="sigmoid") ]) Callout: Total params: 16.</a:t>
            </a:r>
          </a:p>
        </p:txBody>
      </p:sp>
      <p:sp>
        <p:nvSpPr>
          <p:cNvPr id="5" name="Rounded Rectangle 4" descr="Diagram: LAB CUE: the whole model is 16 numbers"/>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R  →  G  →  B  →  h1 relu  →  h2 relu  →  h3 relu</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7  ·  AI Training Series</a:t>
            </a:r>
          </a:p>
        </p:txBody>
      </p:sp>
      <p:sp>
        <p:nvSpPr>
          <p:cNvPr id="7" name="TextBox 6"/>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our code; footer tag: "Keras API, Apache-2.0".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LAB CUE: compile — three arguments, three jobs</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Three-row table. loss="binary_crossentropy" → what counts as wrong (the model learns from this). optimizer="adam" → how far to move each weight. metrics=["accuracy"] → reported to you; never optimised.</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7  ·  AI Training Series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THE MOMENT: score it before you train it</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"An untrained network scores 55% — and hasn't made a single decision." Bullets: evaluate() before fit(); accuracy 0.549; probabilities all between 0.41 and 0.61; predicted the same class for all 449 colours.</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7  ·  AI Training Series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Why that matters far beyond a font colour</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"Doing nothing scores well on the problems you care about." Table: light/dark 0.55</a:t>
            </a:r>
          </a:p>
          <a:p>
            <a:pPr>
              <a:spcAft>
                <a:spcPts val="1400"/>
              </a:spcAft>
            </a:pPr>
            <a:r>
              <a:rPr sz="2100">
                <a:solidFill>
                  <a:srgbClr val="2563EB"/>
                </a:solidFill>
                <a:latin typeface="Segoe UI"/>
              </a:rPr>
              <a:t>▪  </a:t>
            </a:r>
            <a:r>
              <a:rPr sz="2100">
                <a:solidFill>
                  <a:srgbClr val="111827"/>
                </a:solidFill>
                <a:latin typeface="Segoe UI"/>
              </a:rPr>
              <a:t>build-pipeline defect 0.95</a:t>
            </a:r>
          </a:p>
          <a:p>
            <a:pPr>
              <a:spcAft>
                <a:spcPts val="1400"/>
              </a:spcAft>
            </a:pPr>
            <a:r>
              <a:rPr sz="2100">
                <a:solidFill>
                  <a:srgbClr val="2563EB"/>
                </a:solidFill>
                <a:latin typeface="Segoe UI"/>
              </a:rPr>
              <a:t>▪  </a:t>
            </a:r>
            <a:r>
              <a:rPr sz="2100">
                <a:solidFill>
                  <a:srgbClr val="111827"/>
                </a:solidFill>
                <a:latin typeface="Segoe UI"/>
              </a:rPr>
              <a:t>rare hardware fault 0.995</a:t>
            </a:r>
          </a:p>
          <a:p>
            <a:pPr>
              <a:spcAft>
                <a:spcPts val="1400"/>
              </a:spcAft>
            </a:pPr>
            <a:r>
              <a:rPr sz="2100">
                <a:solidFill>
                  <a:srgbClr val="2563EB"/>
                </a:solidFill>
                <a:latin typeface="Segoe UI"/>
              </a:rPr>
              <a:t>▪  </a:t>
            </a:r>
            <a:r>
              <a:rPr sz="2100">
                <a:solidFill>
                  <a:srgbClr val="111827"/>
                </a:solidFill>
                <a:latin typeface="Segoe UI"/>
              </a:rPr>
              <a:t>fraud 0.999. Caption: every one of those is achievable by predicting the majority class and detecting nothing.</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7  ·  AI Training Series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LAB CUE: fit() — watch the numbers move</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Four lines of real training log (epoch 1 → 3 → 50 → 100), with loss and accuracy circled.</a:t>
            </a:r>
          </a:p>
          <a:p>
            <a:pPr>
              <a:spcAft>
                <a:spcPts val="1400"/>
              </a:spcAft>
            </a:pPr>
            <a:r>
              <a:rPr sz="1700">
                <a:solidFill>
                  <a:srgbClr val="2563EB"/>
                </a:solidFill>
                <a:latin typeface="Segoe UI"/>
              </a:rPr>
              <a:t>▪  </a:t>
            </a:r>
            <a:r>
              <a:rPr sz="1700">
                <a:solidFill>
                  <a:srgbClr val="111827"/>
                </a:solidFill>
                <a:latin typeface="Segoe UI"/>
              </a:rPr>
              <a:t>Bullets: an epoch = one pass over the data; batch_size = rows per weight update; 100 epochs × 29 batches = 2,900 updates, not 100.</a:t>
            </a:r>
          </a:p>
        </p:txBody>
      </p:sp>
      <p:sp>
        <p:nvSpPr>
          <p:cNvPr id="5" name="Rounded Rectangle 4" descr="Diagram: LAB CUE: fit() — watch the numbers move"/>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Take a batch (32 rows)  →  Predict  →  Measure LOSS  →  Assign blame to each weight  →  Optimizer nudges all 16 weights</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7  ·  AI Training Series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LAB CUE: change one thing, re-run</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"Change one thing. Re-run. Compare." Two results: 5 epochs → 0.717</a:t>
            </a:r>
          </a:p>
          <a:p>
            <a:pPr>
              <a:spcAft>
                <a:spcPts val="1400"/>
              </a:spcAft>
            </a:pPr>
            <a:r>
              <a:rPr sz="2100">
                <a:solidFill>
                  <a:srgbClr val="2563EB"/>
                </a:solidFill>
                <a:latin typeface="Segoe UI"/>
              </a:rPr>
              <a:t>▪  </a:t>
            </a:r>
            <a:r>
              <a:rPr sz="2100">
                <a:solidFill>
                  <a:srgbClr val="111827"/>
                </a:solidFill>
                <a:latin typeface="Segoe UI"/>
              </a:rPr>
              <a:t>100 epochs → 0.958. Beneath, the knobs table (abbreviated to 5 rows: epochs, batch size, learning rate, hidden units, layers) with the "too high / too low" columns</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7  ·  AI Training Series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Debrief: you trained a model. That was the easy part.</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"Twenty-five minutes to 96%. The hard part starts now." Two columns — Done today: built it, trained it, scored it on unseen data, predicted a colour. Not done: which colours it gets wrong</a:t>
            </a:r>
          </a:p>
          <a:p>
            <a:pPr>
              <a:spcAft>
                <a:spcPts val="1400"/>
              </a:spcAft>
            </a:pPr>
            <a:r>
              <a:rPr sz="2100">
                <a:solidFill>
                  <a:srgbClr val="2563EB"/>
                </a:solidFill>
                <a:latin typeface="Segoe UI"/>
              </a:rPr>
              <a:t>▪  </a:t>
            </a:r>
            <a:r>
              <a:rPr sz="2100">
                <a:solidFill>
                  <a:srgbClr val="111827"/>
                </a:solidFill>
                <a:latin typeface="Segoe UI"/>
              </a:rPr>
              <a:t>whether 96% is good for this base rate</a:t>
            </a:r>
          </a:p>
          <a:p>
            <a:pPr>
              <a:spcAft>
                <a:spcPts val="1400"/>
              </a:spcAft>
            </a:pPr>
            <a:r>
              <a:rPr sz="2100">
                <a:solidFill>
                  <a:srgbClr val="2563EB"/>
                </a:solidFill>
                <a:latin typeface="Segoe UI"/>
              </a:rPr>
              <a:t>▪  </a:t>
            </a:r>
            <a:r>
              <a:rPr sz="2100">
                <a:solidFill>
                  <a:srgbClr val="111827"/>
                </a:solidFill>
                <a:latin typeface="Segoe UI"/>
              </a:rPr>
              <a:t>overfitting</a:t>
            </a:r>
          </a:p>
          <a:p>
            <a:pPr>
              <a:spcAft>
                <a:spcPts val="1400"/>
              </a:spcAft>
            </a:pPr>
            <a:r>
              <a:rPr sz="2100">
                <a:solidFill>
                  <a:srgbClr val="2563EB"/>
                </a:solidFill>
                <a:latin typeface="Segoe UI"/>
              </a:rPr>
              <a:t>▪  </a:t>
            </a:r>
            <a:r>
              <a:rPr sz="2100">
                <a:solidFill>
                  <a:srgbClr val="111827"/>
                </a:solidFill>
                <a:latin typeface="Segoe UI"/>
              </a:rPr>
              <a:t>deployment, drift, accountability</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7  ·  AI Training Series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Discussion / Q&amp;A</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3–4 prompts from exercises/discussion.md, e.g. "A vendor demos a model that trains live on stage. What have you actually learned?"</a:t>
            </a:r>
          </a:p>
          <a:p>
            <a:pPr>
              <a:spcAft>
                <a:spcPts val="1400"/>
              </a:spcAft>
            </a:pPr>
            <a:r>
              <a:rPr sz="2100">
                <a:solidFill>
                  <a:srgbClr val="2563EB"/>
                </a:solidFill>
                <a:latin typeface="Segoe UI"/>
              </a:rPr>
              <a:t>▪  </a:t>
            </a:r>
            <a:r>
              <a:rPr sz="2100">
                <a:solidFill>
                  <a:srgbClr val="111827"/>
                </a:solidFill>
                <a:latin typeface="Segoe UI"/>
              </a:rPr>
              <a:t>"Where in your work does someone report a single number that could be hiding its mistakes?"</a:t>
            </a:r>
          </a:p>
          <a:p>
            <a:pPr>
              <a:spcAft>
                <a:spcPts val="1400"/>
              </a:spcAft>
            </a:pPr>
            <a:r>
              <a:rPr sz="2100">
                <a:solidFill>
                  <a:srgbClr val="2563EB"/>
                </a:solidFill>
                <a:latin typeface="Segoe UI"/>
              </a:rPr>
              <a:t>▪  </a:t>
            </a:r>
            <a:r>
              <a:rPr sz="2100">
                <a:solidFill>
                  <a:srgbClr val="111827"/>
                </a:solidFill>
                <a:latin typeface="Segoe UI"/>
              </a:rPr>
              <a:t>"When would you NOT use a neural network?"</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7  ·  AI Training Series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Resources &amp; credits</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Colab</a:t>
            </a:r>
          </a:p>
          <a:p>
            <a:pPr>
              <a:spcAft>
                <a:spcPts val="1400"/>
              </a:spcAft>
            </a:pPr>
            <a:r>
              <a:rPr sz="2100">
                <a:solidFill>
                  <a:srgbClr val="2563EB"/>
                </a:solidFill>
                <a:latin typeface="Segoe UI"/>
              </a:rPr>
              <a:t>▪  </a:t>
            </a:r>
            <a:r>
              <a:rPr sz="2100">
                <a:solidFill>
                  <a:srgbClr val="111827"/>
                </a:solidFill>
                <a:latin typeface="Segoe UI"/>
              </a:rPr>
              <a:t>Keras/TensorFlow docs (Apache-2.0)</a:t>
            </a:r>
          </a:p>
          <a:p>
            <a:pPr>
              <a:spcAft>
                <a:spcPts val="1400"/>
              </a:spcAft>
            </a:pPr>
            <a:r>
              <a:rPr sz="2100">
                <a:solidFill>
                  <a:srgbClr val="2563EB"/>
                </a:solidFill>
                <a:latin typeface="Segoe UI"/>
              </a:rPr>
              <a:t>▪  </a:t>
            </a:r>
            <a:r>
              <a:rPr sz="2100">
                <a:solidFill>
                  <a:srgbClr val="111827"/>
                </a:solidFill>
                <a:latin typeface="Segoe UI"/>
              </a:rPr>
              <a:t>scikit-learn (BSD-3)</a:t>
            </a:r>
          </a:p>
          <a:p>
            <a:pPr>
              <a:spcAft>
                <a:spcPts val="1400"/>
              </a:spcAft>
            </a:pPr>
            <a:r>
              <a:rPr sz="2100">
                <a:solidFill>
                  <a:srgbClr val="2563EB"/>
                </a:solidFill>
                <a:latin typeface="Segoe UI"/>
              </a:rPr>
              <a:t>▪  </a:t>
            </a:r>
            <a:r>
              <a:rPr sz="2100">
                <a:solidFill>
                  <a:srgbClr val="111827"/>
                </a:solidFill>
                <a:latin typeface="Segoe UI"/>
              </a:rPr>
              <a:t>the dataset repo link</a:t>
            </a:r>
          </a:p>
          <a:p>
            <a:pPr>
              <a:spcAft>
                <a:spcPts val="1400"/>
              </a:spcAft>
            </a:pPr>
            <a:r>
              <a:rPr sz="2100">
                <a:solidFill>
                  <a:srgbClr val="2563EB"/>
                </a:solidFill>
                <a:latin typeface="Segoe UI"/>
              </a:rPr>
              <a:t>▪  </a:t>
            </a:r>
            <a:r>
              <a:rPr sz="2100">
                <a:solidFill>
                  <a:srgbClr val="111827"/>
                </a:solidFill>
                <a:latin typeface="Segoe UI"/>
              </a:rPr>
              <a:t>the source course (Nield, Deep Learning for Beginners, O'Reilly — link only)</a:t>
            </a:r>
          </a:p>
          <a:p>
            <a:pPr>
              <a:spcAft>
                <a:spcPts val="1400"/>
              </a:spcAft>
            </a:pPr>
            <a:r>
              <a:rPr sz="2100">
                <a:solidFill>
                  <a:srgbClr val="2563EB"/>
                </a:solidFill>
                <a:latin typeface="Segoe UI"/>
              </a:rPr>
              <a:t>▪  </a:t>
            </a:r>
            <a:r>
              <a:rPr sz="2100">
                <a:solidFill>
                  <a:srgbClr val="111827"/>
                </a:solidFill>
                <a:latin typeface="Segoe UI"/>
              </a:rPr>
              <a:t>this session's lab.md and content/</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7  ·  AI Training Series</a:t>
            </a:r>
          </a:p>
        </p:txBody>
      </p:sp>
      <p:sp>
        <p:nvSpPr>
          <p:cNvPr id="6" name="TextBox 5"/>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attributions per resources/sources.md. The source deck appears here as a link only — never embedded. ---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