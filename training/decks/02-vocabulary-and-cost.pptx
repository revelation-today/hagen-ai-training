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halves today: the words everyone uses loosely, and the bill nobody forecasts correctly. They connect through one term — the token — which turns out to be the unit of reading, writing, and billing all at once. This is the reference session; people come back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minute-budget in README.md. Flag the pivot: everything before the token is definitions; everything after is money. Tell them the one sentence they're getting at minute 43, so they listen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tokenizer live. Paste the English sentence, read the count. Paste the German. Paste a real log line with a timestamp and a hash. Then say the line the session turns on: "Every one of those numbers is a line item." Don't explain anything yet — 90 seconds, then move. Fallback: switch to slide 8b if there's no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get used as synonyms and are not. Walk the nesting once. Then point at the dotted branches — rule-based AI, classical ML, vision networks — because that is where most deployed systems actually live. The useful question when someone says "we're adding AI" is which layer?</a:t>
            </a:r>
          </a:p>
          <a:p/>
          <a:p>
            <a:r>
              <a:t>--- Mermaid source 1 (render and place on the diagram box) ---</a:t>
            </a:r>
          </a:p>
          <a:p>
            <a:r>
              <a:t>graph TD</a:t>
            </a:r>
          </a:p>
          <a:p>
            <a:r>
              <a:t>      AI["&lt;b&gt;Artificial Intelligence&lt;/b&gt;"] --&gt; ML["&lt;b&gt;Machine Learning&lt;/b&gt;&lt;br/&gt;rule learned from data"]</a:t>
            </a:r>
          </a:p>
          <a:p>
            <a:r>
              <a:t>      ML --&gt; DL["&lt;b&gt;Deep Learning&lt;/b&gt;&lt;br/&gt;multi-layer neural nets"]</a:t>
            </a:r>
          </a:p>
          <a:p>
            <a:r>
              <a:t>      DL --&gt; LLM["&lt;b&gt;LLMs&lt;/b&gt;&lt;br/&gt;predict the next token"]</a:t>
            </a:r>
          </a:p>
          <a:p>
            <a:r>
              <a:t>      AI -.-&gt; RB["Rule-based AI&lt;br/&gt;&lt;i&gt;not ML&lt;/i&gt;"]</a:t>
            </a:r>
          </a:p>
          <a:p>
            <a:r>
              <a:t>      ML -.-&gt; CL["Trees, forests, k-means&lt;br/&gt;&lt;i&gt;not deep&lt;/i&gt;"]</a:t>
            </a:r>
          </a:p>
          <a:p>
            <a:r>
              <a:t>      DL -.-&gt; CNN["Vision networks&lt;br/&gt;&lt;i&gt;not language&lt;/i&gt;"]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example, four implementations — this is what makes the nesting concrete rather than a Venn diagram. Land the discipline note: a regex you can read, version, and diff is a better engineering artefact than an opaque model that's three points more accurate — unless those three points are worth the loss. Session 5 makes this concrete; Session 13 makes it uncomfortable.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five weights. This is the whole demystification: a model is a pile of numbers plus arithmetic. It scales identically to a trillion parameters — same idea, more numbers. And note how cheap it is to run — which sets up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Kill the commonest cost misunderstanding in the room: people read the training headlines and assume usage is expensive. Training already happened, at the vendor's expense. Then kill the opposite error: "per call it's fractions of a cent, so cost isn't a concern." Tiny × huge × a context that grows every turn is a real number. Both errors get corrected in the next twenty minutes. Also flag hyperparameters here in one line: human-set, pre-training, and — for this room — configuration items. Unrecorded hyperparameters mean an irreproducible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them the anchor first, then the table that breaks it. The operational punchline: the same information costs different amounts depending on how you serialise it — 50 records as JSON can cost double the same 50 records as a markdown table. That is free money and requires no cleverness. Caveat out loud: every vendor has a different tokeniser, so these are planning numbers, not billing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shown if slide 3's live demo fails. Read the counts, make the same point, move on. Never present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snippet, not the theory. The qualitative pattern is stable across every tokeniser; the digits are not. Then the practical rule: estimate with tiktoken, bill from the API's reported usage block. Tell them to instrument token counts on day one of any pilot — prices drift, token counts don't, and tokens are what tells you whether an optimisation worked.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mechanism, and it's worth thirty seconds because it makes the price ratio stop looking arbitrary. The model doesn't write a paragraph; it writes a token, appends it, and runs again. Then the conclusion the whole second half rests on: tokens are the closest cheap proxy for GPU-seconds, so tokens are what gets charged. A request is not a unit of anything the vendor spends.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one row of arithmetic out loud so they see it's just multiplication. Then the headline: sixty-fold, for the same task. No prompt optimisation closes a 60× gap — so the first question is never "how do I shorten this?", it's "does this task need the frontier model?" Ticket triage is classify-and-summarise; that's a small-model task. Answer it by testing 200 real tickets across all three tiers with blind human grading — not by assuming.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150 tokens, five times the effect depending which end they come from. So "Be concise. Maximum 100 words." is a cost control, not a style preference. Note it holds identically across all three tiers because the 5:1 ratio is the same — this is structural, not a quirk of one vendor.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— this is the slide the session exists for. Identical request counts, 10× apart. Ask the room where their instinct came from: transactions, tickets, seats, API calls — everything else they budget for charges per event, and events are countable in advance. This isn't. Then the governance consequence: a pull request that adds "include the last 10 tickets for context" changes no interface, adds no requests, passes review, and multiplies the bill. An LLM design change is a cost change.</a:t>
            </a:r>
          </a:p>
          <a:p/>
          <a:p>
            <a:r>
              <a:t>--- Mermaid source 1 (render and place on the diagram box) ---</a:t>
            </a:r>
          </a:p>
          <a:p>
            <a:r>
              <a:t>flowchart TD</a:t>
            </a:r>
          </a:p>
          <a:p>
            <a:r>
              <a:t>      R["2,000 requests/month&lt;br/&gt;(identical in all three)"]</a:t>
            </a:r>
          </a:p>
          <a:p>
            <a:r>
              <a:t>      R --&gt; X["&lt;b&gt;X&lt;/b&gt; · ticket only&lt;br/&gt;$17.40"]</a:t>
            </a:r>
          </a:p>
          <a:p>
            <a:r>
              <a:t>      R --&gt; Y["&lt;b&gt;Y&lt;/b&gt; · + 26k-token spec&lt;br/&gt;&lt;b&gt;$173.40&lt;/b&gt; — 10×"]</a:t>
            </a:r>
          </a:p>
          <a:p>
            <a:r>
              <a:t>      R --&gt; Z["&lt;b&gt;Z&lt;/b&gt; · same spec, cached&lt;br/&gt;$33.00"]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mechanism behind the next slide's curve, and most people have never been told it. There is no session on the server. The illusion of a chatbot remembering you is produced entirely by you re-sending the transcript — and you're billed for it every time. Show the turn-3 stack: system prompt + two full exchanges + the new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bars are what you pay; the line is what a per-request forecast predicts. Nobody did anything wrong here — the estimate was built on the wrong unit. Add the second-order point: the last turn costs ~17× the first, so an open-ended chat with no turn limit has unit economics that get worse the more engaged the user is. That's backwards, and it's a product decision, not an infrastructure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are invisible to a request-based forecast. RAG is the sneakiest: retrieval quality improves as you raise k, so there's constant pressure upward, and k lives in a config file no cost reviewer opens. Treat retrieval parameters as cost-bearing configuration items. Agents are the sharpest: one user action, eight model calls, each carrying the whole accumulated trace. This is where forecasts fail hardest.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order is not arbitrary — it's the order of the multipliers. Two honesty notes: tiering down must be measured, because a cheaper model that's wrong more often costs more in rework than it saved in inference; and a sliding window over history isn't free, it makes the assistant visibly forget things. Both are cost/quality trades that deserve a documented decision, not a silent config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actionable thing in this session. One variable token early invalidates everything after it. Show both orderings side by side — this lands instantly with anyone who's built a prompt template. Then the caveats: TTLs are short (often ~5 min), low-traffic workloads miss and pay the write premium, and short prompts don't qualify. Finish with: instrument cache_read_input_tokens. An unmeasured caching strategy is a belief, not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seed question from exercises/discussion.md. The "we don't measure it" poll option is the honest one and usually wins — use it to land the instrumentation point one final time. If the room is quiet, price their workload live using the estimator; five minutes with real numbers beats any slide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SLIDE-SAFE code sources, attributed. Everything else — the tokenizer UI, vendor pricing, the source decks — is link-only. Say out loud that every price in the deck is illustrative and dated, and that resources/sources.md carries the refresh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1F2A37"/>
                </a:solidFill>
                <a:latin typeface="Segoe UI"/>
              </a:rPr>
              <a:t>The Vocabulary, and the Cost 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703320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Session 2 of 16  ·  Understand it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6B7280"/>
                </a:solidFill>
                <a:latin typeface="Segoe UI"/>
              </a:rPr>
              <a:t>AI Training Series  ·  45 min + 15 min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nested vocabulary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Model, training, inference, parameters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token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What it costs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context multiplier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Hook: this sentence costs more in German (live demo)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platform.openai.com/tokenizer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One sentence in English → ~10 tokens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same sentence in German → ~17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One log line → ~39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OpenAI tokenizer — LINK-ONLY, live demo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Four words, one containment relationship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AI ⊃ Machine Learning ⊃ Deep Learning ⊃ LLMs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None of the arrows run backwards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Most working AI sits in the branches, not the LLM box</a:t>
            </a:r>
          </a:p>
        </p:txBody>
      </p:sp>
      <p:sp>
        <p:nvSpPr>
          <p:cNvPr id="5" name="Rounded Rectangle 4" descr="Diagram: Four words, one containment relationship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&lt;b&gt;Artificial Intelligence&lt;/b&gt;  →  &lt;b&gt;Machine Learning&lt;/b&gt; rule learned from data  →  &lt;b&gt;Deep Learning&lt;/b&gt; multi-layer neural nets  →  &lt;b&gt;LLMs&lt;/b&gt; predict the next token  →  Rule-based AI &lt;i&gt;not ML&lt;/i&gt;  →  Trees, forests, k-means &lt;i&gt;not deep&lt;/i&gt;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same problem, at all four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Ticket triage as: hand-written rules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 fitted SLA classifier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 network reading raw text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an LLM that summarises and drafts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Descending buys generality, costs auditability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 model is fitted numbers, not a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Our SLA classifier = 5 numbers + a weighted sum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Nobody wrote +0.84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Running it is 4 multiplications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Training is the vendor's bill; inference is yours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Training — rare, expensive, needs labels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Inference — constant, cheap per call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Calling a hosted LLM = inference only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"Training costs $100M" is true and irrelevant to your invoice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A token is ¾ of a word — until it isn't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1 token ≈ 0.75 words ≈ 4 characters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1,000 words ≈ 1,300 tokens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German 1.8–2.2 tok/word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Code 1.8–2.5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JSON 2.0–3.0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Log lines 2.5–4.0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8b — Fallback: the six token counts (build this, use only if offline)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Static table of the six demo strings and their token counts, from exercises/lab.md.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counts generated with tiktoken (MIT) — attribute in footer.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Count them yourself: five lines of Python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import tiktoken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len(enc.encode(text))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Prose 1.17 tok/word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German 2.38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JSON 3.40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Log line 3.90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tiktoken — MIT. SLIDE-SAFE. Footer: "Code uses tiktoken (MIT)."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Output tokens cost more because each one is a full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Input: processed once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Output: one token at a time, whole model re-run each time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500-token answer = 500 forward passes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Hence ~4–5× the price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Same task, three tiers, 60× spread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Triage one ticket: 1,400 in / 300 out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Frontier $0.0435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Workhorse $0.0087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Small $0.000725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2,000/month → $87 / $17.40 / $1.45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Output is 18 % of the tokens and 52 % of the bill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300 of 1,700 tokens = 17.6 % of traffic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at 5× price = 51.7 % of cost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Cutting 150 output tokens saves 26 %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Cutting 150 input tokens saves 5 %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THE INSIGHT: cost scales with tokens, not requests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2,000 requests/month in all three cases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X: ticket only → $17.40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Y: + a 40-page spec → $173.40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Z: same spec, cached → $33.00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2563EB"/>
                </a:solidFill>
                <a:latin typeface="Segoe UI"/>
              </a:rPr>
              <a:t>▪  </a:t>
            </a:r>
            <a:r>
              <a:rPr sz="1700">
                <a:solidFill>
                  <a:srgbClr val="111827"/>
                </a:solidFill>
                <a:latin typeface="Segoe UI"/>
              </a:rPr>
              <a:t>A per-request model predicts all three are equal</a:t>
            </a:r>
          </a:p>
        </p:txBody>
      </p:sp>
      <p:sp>
        <p:nvSpPr>
          <p:cNvPr id="5" name="Rounded Rectangle 4" descr="Diagram: THE INSIGHT: cost scales with tokens, not requests"/>
          <p:cNvSpPr/>
          <p:nvPr/>
        </p:nvSpPr>
        <p:spPr>
          <a:xfrm>
            <a:off x="5943600" y="1554480"/>
            <a:ext cx="5577840" cy="3840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6B7280"/>
                </a:solidFill>
                <a:latin typeface="Segoe UI"/>
              </a:rPr>
              <a:t>DIAGRAM — render from Mermaid source (in speaker notes)</a:t>
            </a:r>
          </a:p>
          <a:p>
            <a:pPr algn="ctr"/>
            <a:r>
              <a:rPr sz="1500">
                <a:solidFill>
                  <a:srgbClr val="1F2A37"/>
                </a:solidFill>
                <a:latin typeface="Segoe UI"/>
              </a:rPr>
              <a:t>2,000 requests/month (identical in all three)  →  &lt;b&gt;X&lt;/b&gt; · ticket only $17.40  →  &lt;b&gt;Y&lt;/b&gt; · + 26k-token spec &lt;b&gt;$173.40&lt;/b&gt; — 10×  →  &lt;b&gt;Z&lt;/b&gt; · same spec, cached $33.00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Every turn re-sends the whole conversation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The API is stateless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"Memory" = re-sending the transcript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Your 3rd message: 200 tokens typed, 1,900 billed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Conversation cost grows with n², not 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Turn 1: 700 input tokens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Turn 20: 12,100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Cumulative over 20 turns: 128,000 vs. a per-request estimate of 14,000 — 9×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1,000 such chats/mo: $504, budgeted $162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Three multipliers that don't change your request count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Documents — 26k tokens/call, re-sent every turn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RAG — k chunks × chunk size, set in a config file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Agents — 1 user request → 8 billed calls → ~13×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Six levers, in order of leverage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1. Change tier (60×)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2. Cache the stable prefix (~90 % off repeated input)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3. Cap the output (5× unit price)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4. Trim the input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5. Batch (50 %)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6. Don't call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Put the stable content first. A timestamp at the top costs you the cache.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Caching works on a prefix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❌ [timestamp][system][spec][ticket] → 0 % hits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✅ [system][spec] | [timestamp][ticket] → ~90 % off 26,500 tokens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It's a reorder, not a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Q&amp;A /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"Where in your work would a per-request cost estimate have been wrong — and by how much?"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Poll: Have you ever seen an AI bill you couldn't explain? Yes / No / We don't measure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  <a:latin typeface="Segoe UI"/>
              </a:rPr>
              <a:t>Resources &amp; credits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05840" cy="50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tiktoken (MIT)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Hugging Face tokenizers (Apache-2.0)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Live demo: platform.openai.com/tokenizer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Pricing: pull fresh from vendor pages on the day</a:t>
            </a:r>
          </a:p>
          <a:p>
            <a:pPr>
              <a:spcAft>
                <a:spcPts val="1400"/>
              </a:spcAft>
            </a:pPr>
            <a:r>
              <a:rPr sz="2100">
                <a:solidFill>
                  <a:srgbClr val="2563EB"/>
                </a:solidFill>
                <a:latin typeface="Segoe UI"/>
              </a:rPr>
              <a:t>▪  </a:t>
            </a:r>
            <a:r>
              <a:rPr sz="2100">
                <a:solidFill>
                  <a:srgbClr val="111827"/>
                </a:solidFill>
                <a:latin typeface="Segoe UI"/>
              </a:rPr>
              <a:t>Full list: resources/sources.md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27648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Session 2  ·  AI Training Series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632764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1000"/>
              </a:spcAft>
            </a:pPr>
            <a:r>
              <a:rPr sz="1000" b="0">
                <a:solidFill>
                  <a:srgbClr val="6B7280"/>
                </a:solidFill>
                <a:latin typeface="Segoe UI"/>
              </a:rPr>
              <a:t>as listed; SLIDE-SAFE items attributed, LINK-ONLY items linked only. --- ### Build checklist (this deck) 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