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halves tonight. First, prompting applied to work this room actually does — and the one discipline that turns a prompt into an engineering artifact. Second, Claude as a working environment rather than a chat box. Flag once, up front, that the second half is the most time-sensitive material in the whole series and that anything product-specific must be checked against current docs.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Mirror the README minute budget. Say honestly that this session carries two halves that each deserve their own hour, that the reading in content/ is deliberately larger than the session, and that the middle segment — test sets — is the part they cannot reconstruct alone.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explain yet — let them read. Ask which defect is worst. The room usually says the invented version number; the right answer is the silent omission, because it is the only one nobody would catch by reading the output. That distinction — visible errors versus invisible ones — runs through the whole session.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answer to "what would a competent contractor need to do this without asking a question?" Two structural rules carry most of the value: stable content first (it caches, and it diffs), and delimit the input in tags so the model can tell your instructions from your material. That second one is also a partial defence against a log line that reads like an instruction — partial, and Session 14 explains why nothing here is complete.</a:t>
            </a:r>
          </a:p>
          <a:p/>
          <a:p>
            <a:r>
              <a:t>--- Mermaid source 1 (render and place on the diagram box) ---</a:t>
            </a:r>
          </a:p>
          <a:p>
            <a:r>
              <a:t>flowchart TD</a:t>
            </a:r>
          </a:p>
          <a:p>
            <a:r>
              <a:t>    S["1. ROLE"] --&gt; C["2. CONTEXT (stable)"] --&gt; I["3. INPUT (delimited, variable)"] --&gt; T["4. TASK (numbered)"] --&gt; K["5. CONSTRAINTS"] --&gt; O["6. OUTPUT CONTRACT"]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prompt at four stages. Each row is a real failure that a specific layer removed. Land the two starred rows hard: naming the specific thing it must not invent, and giving it a legal way to say "I can't tell". Both address the same root cause — a model completing a pattern fills the slot whether or not it has the information. Notice we never wrote "be accurate" or "be careful". Exhortation is not a control.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two lines do more work than any technique in Session 10. General instructions to be accurate do almost nothing; naming the specific slot it will otherwise fill does a great deal. And a model given no legal way to be uncertain will resolve uncertainty by guessing confidently — offer an exit and it takes it. In a release-management context, "Needs author review" is exactly the output you want.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will produce a coherent narrative, and coherence is exactly the risk — it smooths over the gap where the evidence ran out, and a beautifully written summary asserting an unsupported root cause becomes the thing everyone cites. Forcing the three-way split gives the human reviewer something specific to check: "is this summary right?" is hopeless, "are these nine ESTABLISHED lines actually in the timeline?" is ten minutes. The "what we do not know" section is the one a tired human always skips and the model will populate honestly — a genuinely good use of the tool.</a:t>
            </a:r>
          </a:p>
          <a:p/>
          <a:p>
            <a:r>
              <a:t>--- Mermaid source 1 (render and place on the diagram box) ---</a:t>
            </a:r>
          </a:p>
          <a:p>
            <a:r>
              <a:t>flowchart LR</a:t>
            </a:r>
          </a:p>
          <a:p>
            <a:r>
              <a:t>    T["Raw timeline"] --&gt; M["Model"]</a:t>
            </a:r>
          </a:p>
          <a:p>
            <a:r>
              <a:t>    M --&gt; E["ESTABLISHED"]</a:t>
            </a:r>
          </a:p>
          <a:p>
            <a:r>
              <a:t>    M --&gt; I["INFERRED"]</a:t>
            </a:r>
          </a:p>
          <a:p>
            <a:r>
              <a:t>    M --&gt; U["UNKNOWN"]</a:t>
            </a:r>
          </a:p>
          <a:p>
            <a:r>
              <a:t>    E --&gt; H{"Human checks&lt;br/&gt;E against sources,&lt;br/&gt;challenges each I"}</a:t>
            </a:r>
          </a:p>
          <a:p>
            <a:r>
              <a:t>    I --&gt; H</a:t>
            </a:r>
          </a:p>
          <a:p>
            <a:r>
              <a:t>    U --&gt; H</a:t>
            </a:r>
          </a:p>
          <a:p>
            <a:r>
              <a:t>    H --&gt; P["Published summary"]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triage differs from the first two tasks because no human reads the output — it feeds a ticket or a dashboard. Two details to point at: the enum means it is not possible to get back "critical" or "P1", so every downstream consumer can rely on four values; and asking for a verbatim line rather than a summary means you can grep the original file. Verifiability is a design decision you make when you write the schema. Also note the model choice — clustering by symptom is pattern-matching, so this is a cheap-model task. Prove that on your test set rather than assuming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default response to a bad output is to add a sentence. It helps often enough to be reinforced and rarely enough to leave you with a 400-line prompt full of scar tissue nobody dares delete. Each category has a different test and a different fix. Emphasise category 5 — the one people skip, and the most expensive to skip. If the answer requires last Thursday's deployment record and that record is not in the prompt, no phrasing helps. Two rules make the loop work: one change per pass, same input every pass.</a:t>
            </a:r>
          </a:p>
          <a:p/>
          <a:p>
            <a:r>
              <a:t>--- Mermaid source 1 (render and place on the diagram box) ---</a:t>
            </a:r>
          </a:p>
          <a:p>
            <a:r>
              <a:t>flowchart TD</a:t>
            </a:r>
          </a:p>
          <a:p>
            <a:r>
              <a:t>    F["Bad output"] --&gt; D{"Which category?"}</a:t>
            </a:r>
          </a:p>
          <a:p>
            <a:r>
              <a:t>    D --&gt; C1["1 MISSING CONTEXT"]</a:t>
            </a:r>
          </a:p>
          <a:p>
            <a:r>
              <a:t>    D --&gt; C2["2 AMBIGUOUS TASK"]</a:t>
            </a:r>
          </a:p>
          <a:p>
            <a:r>
              <a:t>    D --&gt; C3["3 UNCONSTRAINED OUTPUT"]</a:t>
            </a:r>
          </a:p>
          <a:p>
            <a:r>
              <a:t>    D --&gt; C4["4 CAPABILITY / MODEL"]</a:t>
            </a:r>
          </a:p>
          <a:p>
            <a:r>
              <a:t>    D --&gt; C5["5 WRONG APPROACH"]</a:t>
            </a:r>
          </a:p>
          <a:p>
            <a:r>
              <a:t>    C1 --&gt; FIX["Change ONE thing,&lt;br/&gt;re-run SAME input"]</a:t>
            </a:r>
          </a:p>
          <a:p>
            <a:r>
              <a:t>    C2 --&gt; FIX</a:t>
            </a:r>
          </a:p>
          <a:p>
            <a:r>
              <a:t>    C3 --&gt; FIX</a:t>
            </a:r>
          </a:p>
          <a:p>
            <a:r>
              <a:t>    C4 --&gt; FIX</a:t>
            </a:r>
          </a:p>
          <a:p>
            <a:r>
              <a:t>    C5 --&gt; STOP["Stop prompting.&lt;br/&gt;Retrieval, code, or a human."]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Pre-baked reveal — do not run live. Show pass 1 and ask the room to diagnose before revealing the answer; let two people disagree, that disagreement is the lesson. The critical observation in pass 1: four changes, three benign, one disabling TLS verification — and the serious one got averaged into the tone of its neighbours. A model asked for an overall verdict produces an overall verdict. The structural fix is requiring a per-item verdict before any aggregate one. If someone objects that pass 2 is "really missing context" too, agree: the categories overlap at the edges, and the value is in stopping to ask, not in getting the label right.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what we did not do in those three passes. We never added an example — few-shot is powerful but expensive in tokens and it anchors hard, including anchoring mistakes. And we never reached for a bigger model or more thinking, because doing that before fixing the prompt hides the real problem and raises your bill permanently. A stronger model papers over an ambiguous instruction, and you still have the ambiguous instruction, waiting for the input to change.</a:t>
            </a:r>
          </a:p>
          <a:p/>
          <a:p>
            <a:r>
              <a:t>--- Mermaid source 1 (render and place on the diagram box) ---</a:t>
            </a:r>
          </a:p>
          <a:p>
            <a:r>
              <a:t>flowchart LR</a:t>
            </a:r>
          </a:p>
          <a:p>
            <a:r>
              <a:t>    A["1 Context"] --&gt; B["2 Procedure"] --&gt; C["3 Output contract"] --&gt; D["4 Few-shot"] --&gt; E["5 Model / thinking"] --&gt; F["6 Decompose"] --&gt; G["7 Stop"]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thesis of the session. Describe the real lifecycle: someone writes a prompt that works, pastes it in a channel, four people copy it, two modify it, nobody knows which modification is better, the model version changes, three copies quietly start failing in ways that show up only in the output, nobody notices for a month. Every one of those is a testing failure, not a prompting failure — and every one is something this room already knows how to prevent in code. A prompt generating customer-facing release notes is production software with an unusually unpredictable runtime, and it typically gets less rigour than a shell script.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once. The dotted line is what pays for the whole exercise: when the model version changes under you, you re-run and know within ten minutes, instead of finding out from a customer. Point out where the cases come from — the diagnosis loop from slide 9. Every prompt you fix donates its input to the suite, so nothing in it is decorative; every case is there because something really went wrong once.</a:t>
            </a:r>
          </a:p>
          <a:p/>
          <a:p>
            <a:r>
              <a:t>--- Mermaid source 1 (render and place on the diagram box) ---</a:t>
            </a:r>
          </a:p>
          <a:p>
            <a:r>
              <a:t>flowchart TD</a:t>
            </a:r>
          </a:p>
          <a:p>
            <a:r>
              <a:t>    F["A real failure"] --&gt; C["Write it as a CASE:&lt;br/&gt;input + what must be true"]</a:t>
            </a:r>
          </a:p>
          <a:p>
            <a:r>
              <a:t>    C --&gt; S[("Test set: 10-20 cases,&lt;br/&gt;in the repo")]</a:t>
            </a:r>
          </a:p>
          <a:p>
            <a:r>
              <a:t>    P["Prompt v_n"] --&gt; R["Run all cases"]</a:t>
            </a:r>
          </a:p>
          <a:p>
            <a:r>
              <a:t>    S --&gt; R</a:t>
            </a:r>
          </a:p>
          <a:p>
            <a:r>
              <a:t>    R --&gt; G["Grade: rules -&gt; judge -&gt; human"]</a:t>
            </a:r>
          </a:p>
          <a:p>
            <a:r>
              <a:t>    G --&gt; M["Pass rate + which failed"]</a:t>
            </a:r>
          </a:p>
          <a:p>
            <a:r>
              <a:t>    M --&gt; D{"Good enough?"}</a:t>
            </a:r>
          </a:p>
          <a:p>
            <a:r>
              <a:t>    D --&gt;|no| E["Diagnose -&gt; ONE change"]</a:t>
            </a:r>
          </a:p>
          <a:p>
            <a:r>
              <a:t>    E --&gt; R</a:t>
            </a:r>
          </a:p>
          <a:p>
            <a:r>
              <a:t>    D --&gt;|yes| SHIP["Ship. Record pass rate&lt;br/&gt;AND the model ID."]</a:t>
            </a:r>
          </a:p>
          <a:p>
            <a:r>
              <a:t>    SHIP -.-&gt;|"model changes OR&lt;br/&gt;new failure in the wild"| 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10–20 — the usual reason teams have no suite is that they imagine needing hundreds and never begin. Never assert an exact expected output; the model is stochastic and prose has a thousand valid forms. Assert properties: does it contain these IDs, does it avoid this pattern, does it validate against this schema. On the judge tier, be honest: a judge is itself an unvalidated prompt with all the same failure modes, and it is biased toward verbose confident answers. Keep its rubric narrow and binary, and spot-check it against human labels — if it agrees with humans 65% of the time your pass rate is decoration. Most people's first judge rubric turns out to be a regex in disguise.</a:t>
            </a:r>
          </a:p>
          <a:p/>
          <a:p>
            <a:r>
              <a:t>--- Mermaid source 1 (render and place on the diagram box) ---</a:t>
            </a:r>
          </a:p>
          <a:p>
            <a:r>
              <a:t>flowchart LR</a:t>
            </a:r>
          </a:p>
          <a:p>
            <a:r>
              <a:t>    A["Tier 1 RULES&lt;br/&gt;free, deterministic"] --&gt; B["Tier 2 JUDGE&lt;br/&gt;cheap, noisy"] --&gt; C["Tier 3 HUMAN&lt;br/&gt;expensive, authoritative"]</a:t>
            </a:r>
          </a:p>
          <a:p>
            <a:r>
              <a:t>    C -.-&gt;|calibrate| 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payoff slide. Read four conclusions off it. One: v3 beats v2, and the gain sits entirely in edge and adversarial cases — exactly the ones nobody checks by hand. Two: the cheap model on the good prompt beats the expensive model on the bad prompt, at a tenth of the cost — the prompt was worth more than the model upgrade, and this is more common than people expect. Three: Haiku fails every adversarial case, so use it for drafting with human review and Sonnet where output goes out unreviewed — that is now an evidence-backed policy, not a preference. Four: v3 still fails one case, you know which, and "known limitation, tracked" is a respectable engineering position where "we don't know what it does on weird inputs" is not. Flag that the same method later settles thinking budget.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currency warning aloud, once, here — features get renamed, merged, and promoted out of beta faster than any deck can track; the criteria are durable, the names are not. Then the three questions that decide almost everything: how many times will you do this, is there stable context you keep re-pasting, and does a human read every output before it matters. Name the most common mistake: living in chat for an obviously recurring task, retyping the background from memory each time, and concluding the model is "inconsistent". It is not inconsistent — it is being given a different prompt every time by someone who has not noticed they are writing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slot. Show a Project with an attached conventions doc; show an Artifact generated and then revised with one specific instruction. Fallback if no network: hand-drawn schematic, never a screenshot of the product. Two points to land. First, Project context goes stale silently — if the conventions doc still says a one-release deprecation window and it changed to two in March, every note since has been confidently wrong; and two attached documents that contradict each other produce output that looks like randomness. When quality degrades, suspect the context first. Second, asking for the artifact rather than advice about it matters because concrete output generates specific criticism — shown an abstract structure you nod; shown the actual post-mortem with your incident in it, you immediately see that section 4 repeats section 2.</a:t>
            </a:r>
          </a:p>
          <a:p/>
          <a:p>
            <a:r>
              <a:t>--- Mermaid source 1 (render and place on the diagram box) ---</a:t>
            </a:r>
          </a:p>
          <a:p>
            <a:r>
              <a:t>flowchart TD</a:t>
            </a:r>
          </a:p>
          <a:p>
            <a:r>
              <a:t>    P["PROJECT&lt;br/&gt;conventions, glossary,&lt;br/&gt;standing instructions"] --&gt; C["Conversation"]</a:t>
            </a:r>
          </a:p>
          <a:p>
            <a:r>
              <a:t>    SP["YOUR SCRATCHPAD&lt;br/&gt;prompt version, discovered&lt;br/&gt;context, failures"] --&gt; C</a:t>
            </a:r>
          </a:p>
          <a:p>
            <a:r>
              <a:t>    I["Today's input"] --&gt; C</a:t>
            </a:r>
          </a:p>
          <a:p>
            <a:r>
              <a:t>    C --&gt; A["ARTIFACT — the deliverable"]</a:t>
            </a:r>
          </a:p>
          <a:p>
            <a:r>
              <a:t>    A --&gt; R{"Human review:&lt;br/&gt;every factual claim"}</a:t>
            </a:r>
          </a:p>
          <a:p>
            <a:r>
              <a:t>    R --&gt;|good| OUT["Ships"]</a:t>
            </a:r>
          </a:p>
          <a:p>
            <a:r>
              <a:t>    R --&gt;|"found a failure"| SP</a:t>
            </a:r>
          </a:p>
          <a:p>
            <a:r>
              <a:t>    SP -.-&gt;|"recurring context"| P</a:t>
            </a:r>
          </a:p>
          <a:p>
            <a:r>
              <a:t>    SP -.-&gt;|"failures"| TS[("Prompt test set")]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2023 advice — "let's think step by step" — was real, and it has been productised. It is now a budget you authorise, not a string you paste; stop spending prompt space on it and spend those lines on context instead. What you still steer by prompting is the shape of the reasoning: ask for a specific inspectable intermediate ("list every config value alongside the constraint it interacts with, then give the verdict") rather than "think step by step". Cost and latency rise roughly linearly; accuracy rises then flattens. Note this is the third time the suite has settled a question — prompt version, model, now thinking budget. Same method, twenty minutes each. And the correction people need most: reasoning budget fixes exactly one diagnosis category. It does not add knowledge, fix missing context, or prevent hallucination.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Governance first, because it answers the obvious question: Anthropic donated MCP to the Agentic AI Foundation under the Linux Foundation in Dec 2025, with OpenAI and Block as co-founders. When your two biggest competitors co-found your protocol's foundation, "is this a real standard?" is settled. Teach the stateless core — it is why servers are ordinary, scalable, testable services, and it is the part that survives revisions. Then the two sentences that matter operationally: the server is the enforcement point, never the model's judgement — least privilege lives in your code, not in a system prompt; and most connector ideas should be a paste. Close by flagging the risk you are deliberately not opening: untrusted content in context plus a tool that can act is the prompt-injection configuration, and that is Session 14.</a:t>
            </a:r>
          </a:p>
          <a:p/>
          <a:p>
            <a:r>
              <a:t>--- Mermaid source 1 (render and place on the diagram box) ---</a:t>
            </a:r>
          </a:p>
          <a:p>
            <a:r>
              <a:t>flowchart TD</a:t>
            </a:r>
          </a:p>
          <a:p>
            <a:r>
              <a:t>    subgraph HOST["Host application"]</a:t>
            </a:r>
          </a:p>
          <a:p>
            <a:r>
              <a:t>        M["The model"] --- C1["MCP Client"]</a:t>
            </a:r>
          </a:p>
          <a:p>
            <a:r>
              <a:t>    end</a:t>
            </a:r>
          </a:p>
          <a:p>
            <a:r>
              <a:t>    C1 &lt;--&gt;|"JSON-RPC over stdio&lt;br/&gt;or Streamable HTTP"| S1["MCP Server&lt;br/&gt;(your adapter)"]</a:t>
            </a:r>
          </a:p>
          <a:p>
            <a:r>
              <a:t>    S1 --- D1[("Your release DB")]</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model, same access, wildly different outcomes — and the differences are boring and learnable. Two to emphasise. "Make it verifiable by design": ask for the source line supporting each claim, and ask for what it deliberately excluded and why — silent omission is the failure mode you cannot detect by reading the output, because what is missing leaves no trace. And "feed failures back" is the one that compounds: failure → scratchpad → test case → prompt fix → suite re-run → recurring context promoted into the Project. Without that loop you accumulate anecdotes instead of capability. Point them at the one-page checklist in content/08 and tell them to pin it. Close on the data-handling line: sanitise by default, the risk arrives inside a paste, not inside a question — and every example tonight was invented for exactly that reason.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the third one first if the room is quiet — it is the easiest to answer and it sets an honest tone. The second question is the one that produces the most useful answers for release and problem management specifically. Full prompts and what each surfaces are in exercises/discussion.md.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two things worth their time this week: the one-page checklist in content/08, and the lab — build a 10-case test set for one prompt they already use. Repeat the currency warning once more, and note the MCP spec date so nobody teaches this deck from a stale copy.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2103120"/>
            <a:ext cx="10515600" cy="1463040"/>
          </a:xfrm>
          <a:prstGeom prst="rect">
            <a:avLst/>
          </a:prstGeom>
          <a:noFill/>
        </p:spPr>
        <p:txBody>
          <a:bodyPr wrap="square" anchor="t">
            <a:spAutoFit/>
          </a:bodyPr>
          <a:lstStyle/>
          <a:p>
            <a:pPr algn="l">
              <a:spcAft>
                <a:spcPts val="1000"/>
              </a:spcAft>
            </a:pPr>
            <a:r>
              <a:rPr sz="4000" b="1">
                <a:solidFill>
                  <a:srgbClr val="1F2A37"/>
                </a:solidFill>
                <a:latin typeface="Segoe UI"/>
              </a:rPr>
              <a:t>Prompting II + Working With Claude</a:t>
            </a:r>
          </a:p>
        </p:txBody>
      </p:sp>
      <p:sp>
        <p:nvSpPr>
          <p:cNvPr id="3" name="Rectangle 2"/>
          <p:cNvSpPr/>
          <p:nvPr/>
        </p:nvSpPr>
        <p:spPr>
          <a:xfrm>
            <a:off x="822960" y="3703320"/>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977639"/>
            <a:ext cx="10515600" cy="822960"/>
          </a:xfrm>
          <a:prstGeom prst="rect">
            <a:avLst/>
          </a:prstGeom>
          <a:noFill/>
        </p:spPr>
        <p:txBody>
          <a:bodyPr wrap="square" anchor="t">
            <a:spAutoFit/>
          </a:bodyPr>
          <a:lstStyle/>
          <a:p>
            <a:pPr algn="l">
              <a:spcAft>
                <a:spcPts val="1000"/>
              </a:spcAft>
            </a:pPr>
            <a:r>
              <a:rPr sz="1700" b="0">
                <a:solidFill>
                  <a:srgbClr val="6B7280"/>
                </a:solidFill>
                <a:latin typeface="Segoe UI"/>
              </a:rPr>
              <a:t>Session 11 of 16  ·  Use it well</a:t>
            </a:r>
          </a:p>
          <a:p>
            <a:pPr algn="l">
              <a:spcAft>
                <a:spcPts val="1000"/>
              </a:spcAft>
            </a:pPr>
            <a:r>
              <a:rPr sz="1700" b="0">
                <a:solidFill>
                  <a:srgbClr val="6B7280"/>
                </a:solidFill>
                <a:latin typeface="Segoe UI"/>
              </a:rPr>
              <a:t>AI Training Series  ·  45 min + 15 min Q&amp;A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Agenda</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Worked prompts on real tasks → iterating a bad prompt live → prompt test sets → which Claude surface → scratchpad, Projects, Artifacts → extended thinking → MCP → habits.</a:t>
            </a:r>
          </a:p>
          <a:p>
            <a:pPr>
              <a:spcAft>
                <a:spcPts val="1400"/>
              </a:spcAft>
            </a:pPr>
            <a:r>
              <a:rPr sz="2100">
                <a:solidFill>
                  <a:srgbClr val="2563EB"/>
                </a:solidFill>
                <a:latin typeface="Segoe UI"/>
              </a:rPr>
              <a:t>▪  </a:t>
            </a:r>
            <a:r>
              <a:rPr sz="2100">
                <a:solidFill>
                  <a:srgbClr val="111827"/>
                </a:solidFill>
                <a:latin typeface="Segoe UI"/>
              </a:rPr>
              <a:t>"45 min + 15 min Q&amp;A."</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Hook: same model, same task, two prompts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gap is the prompt, not the model." Two columns: left, Write release notes for these changes: + output; right, the production prompt (collapsed) + output.</a:t>
            </a:r>
          </a:p>
          <a:p>
            <a:pPr>
              <a:spcAft>
                <a:spcPts val="1400"/>
              </a:spcAft>
            </a:pPr>
            <a:r>
              <a:rPr sz="2100">
                <a:solidFill>
                  <a:srgbClr val="2563EB"/>
                </a:solidFill>
                <a:latin typeface="Segoe UI"/>
              </a:rPr>
              <a:t>▪  </a:t>
            </a:r>
            <a:r>
              <a:rPr sz="2100">
                <a:solidFill>
                  <a:srgbClr val="111827"/>
                </a:solidFill>
                <a:latin typeface="Segoe UI"/>
              </a:rPr>
              <a:t>Highlight three defects in the left output: invented version number, internal refactor described as a customer feature, two changes silently dropped.</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Every production prompt has six layers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"A prompt is a brief, not a request." Role</a:t>
            </a:r>
          </a:p>
          <a:p>
            <a:pPr>
              <a:spcAft>
                <a:spcPts val="1400"/>
              </a:spcAft>
            </a:pPr>
            <a:r>
              <a:rPr sz="1700">
                <a:solidFill>
                  <a:srgbClr val="2563EB"/>
                </a:solidFill>
                <a:latin typeface="Segoe UI"/>
              </a:rPr>
              <a:t>▪  </a:t>
            </a:r>
            <a:r>
              <a:rPr sz="1700">
                <a:solidFill>
                  <a:srgbClr val="111827"/>
                </a:solidFill>
                <a:latin typeface="Segoe UI"/>
              </a:rPr>
              <a:t>Context</a:t>
            </a:r>
          </a:p>
          <a:p>
            <a:pPr>
              <a:spcAft>
                <a:spcPts val="1400"/>
              </a:spcAft>
            </a:pPr>
            <a:r>
              <a:rPr sz="1700">
                <a:solidFill>
                  <a:srgbClr val="2563EB"/>
                </a:solidFill>
                <a:latin typeface="Segoe UI"/>
              </a:rPr>
              <a:t>▪  </a:t>
            </a:r>
            <a:r>
              <a:rPr sz="1700">
                <a:solidFill>
                  <a:srgbClr val="111827"/>
                </a:solidFill>
                <a:latin typeface="Segoe UI"/>
              </a:rPr>
              <a:t>Delimited input</a:t>
            </a:r>
          </a:p>
          <a:p>
            <a:pPr>
              <a:spcAft>
                <a:spcPts val="1400"/>
              </a:spcAft>
            </a:pPr>
            <a:r>
              <a:rPr sz="1700">
                <a:solidFill>
                  <a:srgbClr val="2563EB"/>
                </a:solidFill>
                <a:latin typeface="Segoe UI"/>
              </a:rPr>
              <a:t>▪  </a:t>
            </a:r>
            <a:r>
              <a:rPr sz="1700">
                <a:solidFill>
                  <a:srgbClr val="111827"/>
                </a:solidFill>
                <a:latin typeface="Segoe UI"/>
              </a:rPr>
              <a:t>Task</a:t>
            </a:r>
          </a:p>
          <a:p>
            <a:pPr>
              <a:spcAft>
                <a:spcPts val="1400"/>
              </a:spcAft>
            </a:pPr>
            <a:r>
              <a:rPr sz="1700">
                <a:solidFill>
                  <a:srgbClr val="2563EB"/>
                </a:solidFill>
                <a:latin typeface="Segoe UI"/>
              </a:rPr>
              <a:t>▪  </a:t>
            </a:r>
            <a:r>
              <a:rPr sz="1700">
                <a:solidFill>
                  <a:srgbClr val="111827"/>
                </a:solidFill>
                <a:latin typeface="Segoe UI"/>
              </a:rPr>
              <a:t>Constraints</a:t>
            </a:r>
          </a:p>
          <a:p>
            <a:pPr>
              <a:spcAft>
                <a:spcPts val="1400"/>
              </a:spcAft>
            </a:pPr>
            <a:r>
              <a:rPr sz="1700">
                <a:solidFill>
                  <a:srgbClr val="2563EB"/>
                </a:solidFill>
                <a:latin typeface="Segoe UI"/>
              </a:rPr>
              <a:t>▪  </a:t>
            </a:r>
            <a:r>
              <a:rPr sz="1700">
                <a:solidFill>
                  <a:srgbClr val="111827"/>
                </a:solidFill>
                <a:latin typeface="Segoe UI"/>
              </a:rPr>
              <a:t>Output contract. One line: stable first, variable last.</a:t>
            </a:r>
          </a:p>
        </p:txBody>
      </p:sp>
      <p:sp>
        <p:nvSpPr>
          <p:cNvPr id="5" name="Rounded Rectangle 4" descr="Diagram: Every production prompt has six layer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 ROLE  →  2. CONTEXT (stable)  →  3. INPUT (delimited, variable)  →  4. TASK (numbered)  →  5. CONSTRAINTS  →  6. OUTPUT CONTRACT</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What each layer bought (release notes)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Table — Layer added | Failure removed.</a:t>
            </a:r>
          </a:p>
          <a:p>
            <a:pPr>
              <a:spcAft>
                <a:spcPts val="1400"/>
              </a:spcAft>
            </a:pPr>
            <a:r>
              <a:rPr sz="2100">
                <a:solidFill>
                  <a:srgbClr val="2563EB"/>
                </a:solidFill>
                <a:latin typeface="Segoe UI"/>
              </a:rPr>
              <a:t>▪  </a:t>
            </a:r>
            <a:r>
              <a:rPr sz="2100">
                <a:solidFill>
                  <a:srgbClr val="111827"/>
                </a:solidFill>
                <a:latin typeface="Segoe UI"/>
              </a:rPr>
              <a:t>Rows: role+audience → marketing tone, irrelevant internals; explicit procedure → silent omissions; delimiters → instructions/data blurring; word bans → filler; "do not invent X" → fabricated version numbers; escape hatch → confident guesses; output contract → drifting format.</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two lines worth more than the rest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"Name the fabrication.</a:t>
            </a:r>
          </a:p>
          <a:p>
            <a:pPr>
              <a:spcAft>
                <a:spcPts val="1400"/>
              </a:spcAft>
            </a:pPr>
            <a:r>
              <a:rPr sz="2100">
                <a:solidFill>
                  <a:srgbClr val="2563EB"/>
                </a:solidFill>
                <a:latin typeface="Segoe UI"/>
              </a:rPr>
              <a:t>▪  </a:t>
            </a:r>
            <a:r>
              <a:rPr sz="2100">
                <a:solidFill>
                  <a:srgbClr val="111827"/>
                </a:solidFill>
                <a:latin typeface="Segoe UI"/>
              </a:rPr>
              <a:t>Offer an exit." Two code blocks: Do NOT invent a version number, a release date, or a severity that is not present in &lt;changes&gt;. and `If an entry is too ambiguous to classify confidently, put it under "Needs author review" with a one-line statement of what is unclear.</a:t>
            </a:r>
          </a:p>
          <a:p>
            <a:pPr>
              <a:spcAft>
                <a:spcPts val="1400"/>
              </a:spcAft>
            </a:pPr>
            <a:r>
              <a:rPr sz="2100">
                <a:solidFill>
                  <a:srgbClr val="2563EB"/>
                </a:solidFill>
                <a:latin typeface="Segoe UI"/>
              </a:rPr>
              <a:t>▪  </a:t>
            </a:r>
            <a:r>
              <a:rPr sz="2100">
                <a:solidFill>
                  <a:srgbClr val="111827"/>
                </a:solidFill>
                <a:latin typeface="Segoe UI"/>
              </a:rPr>
              <a:t>Do not guess.`</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Incident summaries: separate what you know from what you inferred</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"Coherence is the thing you must not trust." Three labels: ESTABLISHED (in the timeline)</a:t>
            </a:r>
          </a:p>
          <a:p>
            <a:pPr>
              <a:spcAft>
                <a:spcPts val="1400"/>
              </a:spcAft>
            </a:pPr>
            <a:r>
              <a:rPr sz="1700">
                <a:solidFill>
                  <a:srgbClr val="2563EB"/>
                </a:solidFill>
                <a:latin typeface="Segoe UI"/>
              </a:rPr>
              <a:t>▪  </a:t>
            </a:r>
            <a:r>
              <a:rPr sz="1700">
                <a:solidFill>
                  <a:srgbClr val="111827"/>
                </a:solidFill>
                <a:latin typeface="Segoe UI"/>
              </a:rPr>
              <a:t>INFERRED (tagged with its basis)</a:t>
            </a:r>
          </a:p>
          <a:p>
            <a:pPr>
              <a:spcAft>
                <a:spcPts val="1400"/>
              </a:spcAft>
            </a:pPr>
            <a:r>
              <a:rPr sz="1700">
                <a:solidFill>
                  <a:srgbClr val="2563EB"/>
                </a:solidFill>
                <a:latin typeface="Segoe UI"/>
              </a:rPr>
              <a:t>▪  </a:t>
            </a:r>
            <a:r>
              <a:rPr sz="1700">
                <a:solidFill>
                  <a:srgbClr val="111827"/>
                </a:solidFill>
                <a:latin typeface="Segoe UI"/>
              </a:rPr>
              <a:t>UNKNOWN (with what would resolve it). Plus: required section — "What we do not know."</a:t>
            </a:r>
          </a:p>
        </p:txBody>
      </p:sp>
      <p:sp>
        <p:nvSpPr>
          <p:cNvPr id="5" name="Rounded Rectangle 4" descr="Diagram: Incident summaries: separate what you know from what you inferred"/>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Raw timeline  →  Model  →  ESTABLISHED  →  INFERRED  →  UNKNOWN  →  Published summary</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When the output is for a machine, the schema is the prompt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"Asking for JSON is a request.</a:t>
            </a:r>
          </a:p>
          <a:p>
            <a:pPr>
              <a:spcAft>
                <a:spcPts val="1400"/>
              </a:spcAft>
            </a:pPr>
            <a:r>
              <a:rPr sz="2100">
                <a:solidFill>
                  <a:srgbClr val="2563EB"/>
                </a:solidFill>
                <a:latin typeface="Segoe UI"/>
              </a:rPr>
              <a:t>▪  </a:t>
            </a:r>
            <a:r>
              <a:rPr sz="2100">
                <a:solidFill>
                  <a:srgbClr val="111827"/>
                </a:solidFill>
                <a:latin typeface="Segoe UI"/>
              </a:rPr>
              <a:t>A schema is a contract." Log-triage tool schema, abridged: symptom / count / severity (enum: high, medium, low, unknown) / example_line ("copied verbatim").</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Diagnose before you treat: five categories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"Adding words is not a fix." 1 Missing context</a:t>
            </a:r>
          </a:p>
          <a:p>
            <a:pPr>
              <a:spcAft>
                <a:spcPts val="1400"/>
              </a:spcAft>
            </a:pPr>
            <a:r>
              <a:rPr sz="1700">
                <a:solidFill>
                  <a:srgbClr val="2563EB"/>
                </a:solidFill>
                <a:latin typeface="Segoe UI"/>
              </a:rPr>
              <a:t>▪  </a:t>
            </a:r>
            <a:r>
              <a:rPr sz="1700">
                <a:solidFill>
                  <a:srgbClr val="111827"/>
                </a:solidFill>
                <a:latin typeface="Segoe UI"/>
              </a:rPr>
              <a:t>2 Ambiguous task</a:t>
            </a:r>
          </a:p>
          <a:p>
            <a:pPr>
              <a:spcAft>
                <a:spcPts val="1400"/>
              </a:spcAft>
            </a:pPr>
            <a:r>
              <a:rPr sz="1700">
                <a:solidFill>
                  <a:srgbClr val="2563EB"/>
                </a:solidFill>
                <a:latin typeface="Segoe UI"/>
              </a:rPr>
              <a:t>▪  </a:t>
            </a:r>
            <a:r>
              <a:rPr sz="1700">
                <a:solidFill>
                  <a:srgbClr val="111827"/>
                </a:solidFill>
                <a:latin typeface="Segoe UI"/>
              </a:rPr>
              <a:t>3 Unconstrained output</a:t>
            </a:r>
          </a:p>
          <a:p>
            <a:pPr>
              <a:spcAft>
                <a:spcPts val="1400"/>
              </a:spcAft>
            </a:pPr>
            <a:r>
              <a:rPr sz="1700">
                <a:solidFill>
                  <a:srgbClr val="2563EB"/>
                </a:solidFill>
                <a:latin typeface="Segoe UI"/>
              </a:rPr>
              <a:t>▪  </a:t>
            </a:r>
            <a:r>
              <a:rPr sz="1700">
                <a:solidFill>
                  <a:srgbClr val="111827"/>
                </a:solidFill>
                <a:latin typeface="Segoe UI"/>
              </a:rPr>
              <a:t>4 Capability/model mismatch</a:t>
            </a:r>
          </a:p>
          <a:p>
            <a:pPr>
              <a:spcAft>
                <a:spcPts val="1400"/>
              </a:spcAft>
            </a:pPr>
            <a:r>
              <a:rPr sz="1700">
                <a:solidFill>
                  <a:srgbClr val="2563EB"/>
                </a:solidFill>
                <a:latin typeface="Segoe UI"/>
              </a:rPr>
              <a:t>▪  </a:t>
            </a:r>
            <a:r>
              <a:rPr sz="1700">
                <a:solidFill>
                  <a:srgbClr val="111827"/>
                </a:solidFill>
                <a:latin typeface="Segoe UI"/>
              </a:rPr>
              <a:t>5 Wrong approach entirely</a:t>
            </a:r>
          </a:p>
        </p:txBody>
      </p:sp>
      <p:sp>
        <p:nvSpPr>
          <p:cNvPr id="5" name="Rounded Rectangle 4" descr="Diagram: Diagnose before you treat: five categorie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Bad output  →  1 MISSING CONTEXT  →  2 AMBIGUOUS TASK  →  3 UNCONSTRAINED OUTPUT  →  4 CAPABILITY / MODEL  →  5 WRONG APPROACH</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Live: three passes on a config-review prompt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Build across three reveals.</a:t>
            </a:r>
          </a:p>
          <a:p>
            <a:pPr>
              <a:spcAft>
                <a:spcPts val="1400"/>
              </a:spcAft>
            </a:pPr>
            <a:r>
              <a:rPr sz="2100">
                <a:solidFill>
                  <a:srgbClr val="2563EB"/>
                </a:solidFill>
                <a:latin typeface="Segoe UI"/>
              </a:rPr>
              <a:t>▪  </a:t>
            </a:r>
            <a:r>
              <a:rPr sz="2100">
                <a:solidFill>
                  <a:srgbClr val="111827"/>
                </a:solidFill>
                <a:latin typeface="Segoe UI"/>
              </a:rPr>
              <a:t>Pass 1 output ("appears generally safe…") → diagnosis: ambiguous task + missing context.</a:t>
            </a:r>
          </a:p>
          <a:p>
            <a:pPr>
              <a:spcAft>
                <a:spcPts val="1400"/>
              </a:spcAft>
            </a:pPr>
            <a:r>
              <a:rPr sz="2100">
                <a:solidFill>
                  <a:srgbClr val="2563EB"/>
                </a:solidFill>
                <a:latin typeface="Segoe UI"/>
              </a:rPr>
              <a:t>▪  </a:t>
            </a:r>
            <a:r>
              <a:rPr sz="2100">
                <a:solidFill>
                  <a:srgbClr val="111827"/>
                </a:solidFill>
                <a:latin typeface="Segoe UI"/>
              </a:rPr>
              <a:t>Pass 2 output (right analysis, six paragraphs of prose) → diagnosis: unconstrained output.</a:t>
            </a:r>
          </a:p>
          <a:p>
            <a:pPr>
              <a:spcAft>
                <a:spcPts val="1400"/>
              </a:spcAft>
            </a:pPr>
            <a:r>
              <a:rPr sz="2100">
                <a:solidFill>
                  <a:srgbClr val="2563EB"/>
                </a:solidFill>
                <a:latin typeface="Segoe UI"/>
              </a:rPr>
              <a:t>▪  </a:t>
            </a:r>
            <a:r>
              <a:rPr sz="2100">
                <a:solidFill>
                  <a:srgbClr val="111827"/>
                </a:solidFill>
                <a:latin typeface="Segoe UI"/>
              </a:rPr>
              <a:t>Pass 3: the verdict table.</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Escalate in order, stop at the first thing that works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Context → Procedure → Output contract → Few-shot examples → Model / reasoning budget → Decompose → Stop, it's not a prompting problem.</a:t>
            </a:r>
          </a:p>
          <a:p>
            <a:pPr>
              <a:spcAft>
                <a:spcPts val="1400"/>
              </a:spcAft>
            </a:pPr>
            <a:r>
              <a:rPr sz="1700">
                <a:solidFill>
                  <a:srgbClr val="2563EB"/>
                </a:solidFill>
                <a:latin typeface="Segoe UI"/>
              </a:rPr>
              <a:t>▪  </a:t>
            </a:r>
            <a:r>
              <a:rPr sz="1700">
                <a:solidFill>
                  <a:srgbClr val="111827"/>
                </a:solidFill>
                <a:latin typeface="Segoe UI"/>
              </a:rPr>
              <a:t>One line: each step costs more than the last.</a:t>
            </a:r>
          </a:p>
        </p:txBody>
      </p:sp>
      <p:sp>
        <p:nvSpPr>
          <p:cNvPr id="5" name="Rounded Rectangle 4" descr="Diagram: Escalate in order, stop at the first thing that work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1 Context  →  2 Procedure  →  3 Output contract  →  4 Few-shot  →  5 Model / thinking  →  6 Decompose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A prompt without a test set is folklore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"You would not accept 'the new build script feels faster'." Table: Version control</a:t>
            </a:r>
          </a:p>
          <a:p>
            <a:pPr>
              <a:spcAft>
                <a:spcPts val="1400"/>
              </a:spcAft>
            </a:pPr>
            <a:r>
              <a:rPr sz="2100">
                <a:solidFill>
                  <a:srgbClr val="2563EB"/>
                </a:solidFill>
                <a:latin typeface="Segoe UI"/>
              </a:rPr>
              <a:t>▪  </a:t>
            </a:r>
            <a:r>
              <a:rPr sz="2100">
                <a:solidFill>
                  <a:srgbClr val="111827"/>
                </a:solidFill>
                <a:latin typeface="Segoe UI"/>
              </a:rPr>
              <a:t>A test suite</a:t>
            </a:r>
          </a:p>
          <a:p>
            <a:pPr>
              <a:spcAft>
                <a:spcPts val="1400"/>
              </a:spcAft>
            </a:pPr>
            <a:r>
              <a:rPr sz="2100">
                <a:solidFill>
                  <a:srgbClr val="2563EB"/>
                </a:solidFill>
                <a:latin typeface="Segoe UI"/>
              </a:rPr>
              <a:t>▪  </a:t>
            </a:r>
            <a:r>
              <a:rPr sz="2100">
                <a:solidFill>
                  <a:srgbClr val="111827"/>
                </a:solidFill>
                <a:latin typeface="Segoe UI"/>
              </a:rPr>
              <a:t>Regression testing on upgrade</a:t>
            </a:r>
          </a:p>
          <a:p>
            <a:pPr>
              <a:spcAft>
                <a:spcPts val="1400"/>
              </a:spcAft>
            </a:pPr>
            <a:r>
              <a:rPr sz="2100">
                <a:solidFill>
                  <a:srgbClr val="2563EB"/>
                </a:solidFill>
                <a:latin typeface="Segoe UI"/>
              </a:rPr>
              <a:t>▪  </a:t>
            </a:r>
            <a:r>
              <a:rPr sz="2100">
                <a:solidFill>
                  <a:srgbClr val="111827"/>
                </a:solidFill>
                <a:latin typeface="Segoe UI"/>
              </a:rPr>
              <a:t>Code review</a:t>
            </a:r>
          </a:p>
          <a:p>
            <a:pPr>
              <a:spcAft>
                <a:spcPts val="1400"/>
              </a:spcAft>
            </a:pPr>
            <a:r>
              <a:rPr sz="2100">
                <a:solidFill>
                  <a:srgbClr val="2563EB"/>
                </a:solidFill>
                <a:latin typeface="Segoe UI"/>
              </a:rPr>
              <a:t>▪  </a:t>
            </a:r>
            <a:r>
              <a:rPr sz="2100">
                <a:solidFill>
                  <a:srgbClr val="111827"/>
                </a:solidFill>
                <a:latin typeface="Segoe UI"/>
              </a:rPr>
              <a:t>Bug becomes a test case — with a "in place for prompts?" column reading Rarely / Almost never / Almost never / Sometimes / Almost never</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loop</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"A failure becomes a case.</a:t>
            </a:r>
          </a:p>
          <a:p>
            <a:pPr>
              <a:spcAft>
                <a:spcPts val="1400"/>
              </a:spcAft>
            </a:pPr>
            <a:r>
              <a:rPr sz="1700">
                <a:solidFill>
                  <a:srgbClr val="2563EB"/>
                </a:solidFill>
                <a:latin typeface="Segoe UI"/>
              </a:rPr>
              <a:t>▪  </a:t>
            </a:r>
            <a:r>
              <a:rPr sz="1700">
                <a:solidFill>
                  <a:srgbClr val="111827"/>
                </a:solidFill>
                <a:latin typeface="Segoe UI"/>
              </a:rPr>
              <a:t>A case never stops paying." The loop diagram.</a:t>
            </a:r>
          </a:p>
        </p:txBody>
      </p:sp>
      <p:sp>
        <p:nvSpPr>
          <p:cNvPr id="5" name="Rounded Rectangle 4" descr="Diagram: The loop"/>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A real failure  →  Write it as a CASE: input + what must be true  →  ("Test set: 10-20 cases, in the repo")  →  Prompt v_n  →  Run all cases  →  Grade: rules -&gt; judge -&gt; human</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Twenty cases, three grading tiers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Left: case mix — Typical 40%</a:t>
            </a:r>
          </a:p>
          <a:p>
            <a:pPr>
              <a:spcAft>
                <a:spcPts val="1400"/>
              </a:spcAft>
            </a:pPr>
            <a:r>
              <a:rPr sz="1700">
                <a:solidFill>
                  <a:srgbClr val="2563EB"/>
                </a:solidFill>
                <a:latin typeface="Segoe UI"/>
              </a:rPr>
              <a:t>▪  </a:t>
            </a:r>
            <a:r>
              <a:rPr sz="1700">
                <a:solidFill>
                  <a:srgbClr val="111827"/>
                </a:solidFill>
                <a:latin typeface="Segoe UI"/>
              </a:rPr>
              <a:t>Edge 30%</a:t>
            </a:r>
          </a:p>
          <a:p>
            <a:pPr>
              <a:spcAft>
                <a:spcPts val="1400"/>
              </a:spcAft>
            </a:pPr>
            <a:r>
              <a:rPr sz="1700">
                <a:solidFill>
                  <a:srgbClr val="2563EB"/>
                </a:solidFill>
                <a:latin typeface="Segoe UI"/>
              </a:rPr>
              <a:t>▪  </a:t>
            </a:r>
            <a:r>
              <a:rPr sz="1700">
                <a:solidFill>
                  <a:srgbClr val="111827"/>
                </a:solidFill>
                <a:latin typeface="Segoe UI"/>
              </a:rPr>
              <a:t>Adversarial 15%</a:t>
            </a:r>
          </a:p>
          <a:p>
            <a:pPr>
              <a:spcAft>
                <a:spcPts val="1400"/>
              </a:spcAft>
            </a:pPr>
            <a:r>
              <a:rPr sz="1700">
                <a:solidFill>
                  <a:srgbClr val="2563EB"/>
                </a:solidFill>
                <a:latin typeface="Segoe UI"/>
              </a:rPr>
              <a:t>▪  </a:t>
            </a:r>
            <a:r>
              <a:rPr sz="1700">
                <a:solidFill>
                  <a:srgbClr val="111827"/>
                </a:solidFill>
                <a:latin typeface="Segoe UI"/>
              </a:rPr>
              <a:t>Regression 15%. Right: Rules (free, deterministic) → Judge (cheap, noisy) → Human (expensive, authoritative). One line: assert on properties, never on exact output.</a:t>
            </a:r>
          </a:p>
        </p:txBody>
      </p:sp>
      <p:sp>
        <p:nvSpPr>
          <p:cNvPr id="5" name="Rounded Rectangle 4" descr="Diagram: Twenty cases, three grading tiers"/>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Tier 1 RULES free, deterministic  →  Tier 2 JUDGE cheap, noisy  →  Tier 3 HUMAN expensive, authoritative</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table that settles arguments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The comparison grid — v2_sonnet 14/20 $0.031</a:t>
            </a:r>
          </a:p>
          <a:p>
            <a:pPr>
              <a:spcAft>
                <a:spcPts val="1400"/>
              </a:spcAft>
            </a:pPr>
            <a:r>
              <a:rPr sz="2100">
                <a:solidFill>
                  <a:srgbClr val="2563EB"/>
                </a:solidFill>
                <a:latin typeface="Segoe UI"/>
              </a:rPr>
              <a:t>▪  </a:t>
            </a:r>
            <a:r>
              <a:rPr sz="2100">
                <a:solidFill>
                  <a:srgbClr val="111827"/>
                </a:solidFill>
                <a:latin typeface="Segoe UI"/>
              </a:rPr>
              <a:t>v3_sonnet 19/20 $0.038</a:t>
            </a:r>
          </a:p>
          <a:p>
            <a:pPr>
              <a:spcAft>
                <a:spcPts val="1400"/>
              </a:spcAft>
            </a:pPr>
            <a:r>
              <a:rPr sz="2100">
                <a:solidFill>
                  <a:srgbClr val="2563EB"/>
                </a:solidFill>
                <a:latin typeface="Segoe UI"/>
              </a:rPr>
              <a:t>▪  </a:t>
            </a:r>
            <a:r>
              <a:rPr sz="2100">
                <a:solidFill>
                  <a:srgbClr val="111827"/>
                </a:solidFill>
                <a:latin typeface="Segoe UI"/>
              </a:rPr>
              <a:t>v3_haiku 16/20 $0.004, broken out by typical / edge / adversarial / regression. Footer: illustrative figures — recompute at current pricing.</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Which Claude surface for which task</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 Verify against current Claude docs at delivery. Decision table, abridged to six rows: one-off question → Chat</a:t>
            </a:r>
          </a:p>
          <a:p>
            <a:pPr>
              <a:spcAft>
                <a:spcPts val="1400"/>
              </a:spcAft>
            </a:pPr>
            <a:r>
              <a:rPr sz="2100">
                <a:solidFill>
                  <a:srgbClr val="2563EB"/>
                </a:solidFill>
                <a:latin typeface="Segoe UI"/>
              </a:rPr>
              <a:t>▪  </a:t>
            </a:r>
            <a:r>
              <a:rPr sz="2100">
                <a:solidFill>
                  <a:srgbClr val="111827"/>
                </a:solidFill>
                <a:latin typeface="Segoe UI"/>
              </a:rPr>
              <a:t>recurring drafting with stable background → Project</a:t>
            </a:r>
          </a:p>
          <a:p>
            <a:pPr>
              <a:spcAft>
                <a:spcPts val="1400"/>
              </a:spcAft>
            </a:pPr>
            <a:r>
              <a:rPr sz="2100">
                <a:solidFill>
                  <a:srgbClr val="2563EB"/>
                </a:solidFill>
                <a:latin typeface="Segoe UI"/>
              </a:rPr>
              <a:t>▪  </a:t>
            </a:r>
            <a:r>
              <a:rPr sz="2100">
                <a:solidFill>
                  <a:srgbClr val="111827"/>
                </a:solidFill>
                <a:latin typeface="Segoe UI"/>
              </a:rPr>
              <a:t>a document you will revise → Artifact</a:t>
            </a:r>
          </a:p>
          <a:p>
            <a:pPr>
              <a:spcAft>
                <a:spcPts val="1400"/>
              </a:spcAft>
            </a:pPr>
            <a:r>
              <a:rPr sz="2100">
                <a:solidFill>
                  <a:srgbClr val="2563EB"/>
                </a:solidFill>
                <a:latin typeface="Segoe UI"/>
              </a:rPr>
              <a:t>▪  </a:t>
            </a:r>
            <a:r>
              <a:rPr sz="2100">
                <a:solidFill>
                  <a:srgbClr val="111827"/>
                </a:solidFill>
                <a:latin typeface="Segoe UI"/>
              </a:rPr>
              <a:t>multi-constraint judgement → + extended thinking</a:t>
            </a:r>
          </a:p>
          <a:p>
            <a:pPr>
              <a:spcAft>
                <a:spcPts val="1400"/>
              </a:spcAft>
            </a:pPr>
            <a:r>
              <a:rPr sz="2100">
                <a:solidFill>
                  <a:srgbClr val="2563EB"/>
                </a:solidFill>
                <a:latin typeface="Segoe UI"/>
              </a:rPr>
              <a:t>▪  </a:t>
            </a:r>
            <a:r>
              <a:rPr sz="2100">
                <a:solidFill>
                  <a:srgbClr val="111827"/>
                </a:solidFill>
                <a:latin typeface="Segoe UI"/>
              </a:rPr>
              <a:t>high volume or feeds a system → API + test suite</a:t>
            </a:r>
          </a:p>
          <a:p>
            <a:pPr>
              <a:spcAft>
                <a:spcPts val="1400"/>
              </a:spcAft>
            </a:pPr>
            <a:r>
              <a:rPr sz="2100">
                <a:solidFill>
                  <a:srgbClr val="2563EB"/>
                </a:solidFill>
                <a:latin typeface="Segoe UI"/>
              </a:rPr>
              <a:t>▪  </a:t>
            </a:r>
            <a:r>
              <a:rPr sz="2100">
                <a:solidFill>
                  <a:srgbClr val="111827"/>
                </a:solidFill>
                <a:latin typeface="Segoe UI"/>
              </a:rPr>
              <a:t>needs live data from another system → Connector/MCP</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Stable context, and making it produce the thing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 Verify at delivery. Two ideas: Projects — conventions, glossary, standing instructions live once, not in every message; context is a dependency and it rots — date it, own it, review it. Artifacts — ask for the deliverable, not advice about the deliverable.</a:t>
            </a:r>
          </a:p>
        </p:txBody>
      </p:sp>
      <p:sp>
        <p:nvSpPr>
          <p:cNvPr id="5" name="Rounded Rectangle 4" descr="Diagram: Stable context, and making it produce the thing"/>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PROJECT conventions, glossary, standing instructions  →  Conversation  →  YOUR SCRATCHPAD prompt version, discovered context, failures  →  Today's input  →  ARTIFACT — the deliverable  →  Ships</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Extended thinking is a dial, not a quality setting</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 Verify at delivery. Table: off (~2 s, 1×)</a:t>
            </a:r>
          </a:p>
          <a:p>
            <a:pPr>
              <a:spcAft>
                <a:spcPts val="1400"/>
              </a:spcAft>
            </a:pPr>
            <a:r>
              <a:rPr sz="2100">
                <a:solidFill>
                  <a:srgbClr val="2563EB"/>
                </a:solidFill>
                <a:latin typeface="Segoe UI"/>
              </a:rPr>
              <a:t>▪  </a:t>
            </a:r>
            <a:r>
              <a:rPr sz="2100">
                <a:solidFill>
                  <a:srgbClr val="111827"/>
                </a:solidFill>
                <a:latin typeface="Segoe UI"/>
              </a:rPr>
              <a:t>modest ~1–2k (~8 s, 2–3×)</a:t>
            </a:r>
          </a:p>
          <a:p>
            <a:pPr>
              <a:spcAft>
                <a:spcPts val="1400"/>
              </a:spcAft>
            </a:pPr>
            <a:r>
              <a:rPr sz="2100">
                <a:solidFill>
                  <a:srgbClr val="2563EB"/>
                </a:solidFill>
                <a:latin typeface="Segoe UI"/>
              </a:rPr>
              <a:t>▪  </a:t>
            </a:r>
            <a:r>
              <a:rPr sz="2100">
                <a:solidFill>
                  <a:srgbClr val="111827"/>
                </a:solidFill>
                <a:latin typeface="Segoe UI"/>
              </a:rPr>
              <a:t>large ~8–16k (~40 s, 8–15×). Below: measured on one suite — none 13/20, 2000 → 19/20, 8000 → 19/20. Conclusion: use 2000.</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MCP in one honest slide</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4937760" cy="4206240"/>
          </a:xfrm>
          <a:prstGeom prst="rect">
            <a:avLst/>
          </a:prstGeom>
          <a:noFill/>
        </p:spPr>
        <p:txBody>
          <a:bodyPr wrap="square">
            <a:spAutoFit/>
          </a:bodyPr>
          <a:lstStyle/>
          <a:p>
            <a:pPr>
              <a:spcAft>
                <a:spcPts val="1400"/>
              </a:spcAft>
            </a:pPr>
            <a:r>
              <a:rPr sz="1700">
                <a:solidFill>
                  <a:srgbClr val="2563EB"/>
                </a:solidFill>
                <a:latin typeface="Segoe UI"/>
              </a:rPr>
              <a:t>▪  </a:t>
            </a:r>
            <a:r>
              <a:rPr sz="1700">
                <a:solidFill>
                  <a:srgbClr val="111827"/>
                </a:solidFill>
                <a:latin typeface="Segoe UI"/>
              </a:rPr>
              <a:t>"A standard, not a hook." Host → Client → Server, over stdio or Streamable HTTP (HTTP+SSE deprecated).</a:t>
            </a:r>
          </a:p>
          <a:p>
            <a:pPr>
              <a:spcAft>
                <a:spcPts val="1400"/>
              </a:spcAft>
            </a:pPr>
            <a:r>
              <a:rPr sz="1700">
                <a:solidFill>
                  <a:srgbClr val="2563EB"/>
                </a:solidFill>
                <a:latin typeface="Segoe UI"/>
              </a:rPr>
              <a:t>▪  </a:t>
            </a:r>
            <a:r>
              <a:rPr sz="1700">
                <a:solidFill>
                  <a:srgbClr val="111827"/>
                </a:solidFill>
                <a:latin typeface="Segoe UI"/>
              </a:rPr>
              <a:t>Stateless at the protocol layer.</a:t>
            </a:r>
          </a:p>
          <a:p>
            <a:pPr>
              <a:spcAft>
                <a:spcPts val="1400"/>
              </a:spcAft>
            </a:pPr>
            <a:r>
              <a:rPr sz="1700">
                <a:solidFill>
                  <a:srgbClr val="2563EB"/>
                </a:solidFill>
                <a:latin typeface="Segoe UI"/>
              </a:rPr>
              <a:t>▪  </a:t>
            </a:r>
            <a:r>
              <a:rPr sz="1700">
                <a:solidFill>
                  <a:srgbClr val="111827"/>
                </a:solidFill>
                <a:latin typeface="Segoe UI"/>
              </a:rPr>
              <a:t>Tools act; resources are read. Below: most connector ideas should be a paste.</a:t>
            </a:r>
          </a:p>
        </p:txBody>
      </p:sp>
      <p:sp>
        <p:nvSpPr>
          <p:cNvPr id="5" name="Rounded Rectangle 4" descr="Diagram: MCP in one honest slide"/>
          <p:cNvSpPr/>
          <p:nvPr/>
        </p:nvSpPr>
        <p:spPr>
          <a:xfrm>
            <a:off x="5943600" y="1554480"/>
            <a:ext cx="5577840" cy="3840480"/>
          </a:xfrm>
          <a:prstGeom prst="roundRect">
            <a:avLst/>
          </a:prstGeom>
          <a:solidFill>
            <a:srgbClr val="F3F4F6"/>
          </a:solidFill>
          <a:ln w="12700">
            <a:solidFill>
              <a:srgbClr val="6B728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6B7280"/>
                </a:solidFill>
                <a:latin typeface="Segoe UI"/>
              </a:rPr>
              <a:t>DIAGRAM — render from Mermaid source (in speaker notes)</a:t>
            </a:r>
          </a:p>
          <a:p>
            <a:pPr algn="ctr"/>
            <a:r>
              <a:rPr sz="1500">
                <a:solidFill>
                  <a:srgbClr val="1F2A37"/>
                </a:solidFill>
                <a:latin typeface="Segoe UI"/>
              </a:rPr>
              <a:t>Host application  →  The model  →  MCP Client  →  MCP Server (your adapter)  →  ("Your release DB")</a:t>
            </a:r>
          </a:p>
        </p:txBody>
      </p:sp>
      <p:sp>
        <p:nvSpPr>
          <p:cNvPr id="6" name="TextBox 5"/>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
        <p:nvSpPr>
          <p:cNvPr id="7" name="TextBox 6"/>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Model Context Protocol · Agentic AI Foundation (Linux Foundation) — SLIDE-SAFE with attribution. Footer 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The habits, and the one-page checklist</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Give it what only you know</a:t>
            </a:r>
          </a:p>
          <a:p>
            <a:pPr>
              <a:spcAft>
                <a:spcPts val="1400"/>
              </a:spcAft>
            </a:pPr>
            <a:r>
              <a:rPr sz="2100">
                <a:solidFill>
                  <a:srgbClr val="2563EB"/>
                </a:solidFill>
                <a:latin typeface="Segoe UI"/>
              </a:rPr>
              <a:t>▪  </a:t>
            </a:r>
            <a:r>
              <a:rPr sz="2100">
                <a:solidFill>
                  <a:srgbClr val="111827"/>
                </a:solidFill>
                <a:latin typeface="Segoe UI"/>
              </a:rPr>
              <a:t>Ask for the artifact</a:t>
            </a:r>
          </a:p>
          <a:p>
            <a:pPr>
              <a:spcAft>
                <a:spcPts val="1400"/>
              </a:spcAft>
            </a:pPr>
            <a:r>
              <a:rPr sz="2100">
                <a:solidFill>
                  <a:srgbClr val="2563EB"/>
                </a:solidFill>
                <a:latin typeface="Segoe UI"/>
              </a:rPr>
              <a:t>▪  </a:t>
            </a:r>
            <a:r>
              <a:rPr sz="2100">
                <a:solidFill>
                  <a:srgbClr val="111827"/>
                </a:solidFill>
                <a:latin typeface="Segoe UI"/>
              </a:rPr>
              <a:t>One change per pass</a:t>
            </a:r>
          </a:p>
          <a:p>
            <a:pPr>
              <a:spcAft>
                <a:spcPts val="1400"/>
              </a:spcAft>
            </a:pPr>
            <a:r>
              <a:rPr sz="2100">
                <a:solidFill>
                  <a:srgbClr val="2563EB"/>
                </a:solidFill>
                <a:latin typeface="Segoe UI"/>
              </a:rPr>
              <a:t>▪  </a:t>
            </a:r>
            <a:r>
              <a:rPr sz="2100">
                <a:solidFill>
                  <a:srgbClr val="111827"/>
                </a:solidFill>
                <a:latin typeface="Segoe UI"/>
              </a:rPr>
              <a:t>Make it verifiable by design</a:t>
            </a:r>
          </a:p>
          <a:p>
            <a:pPr>
              <a:spcAft>
                <a:spcPts val="1400"/>
              </a:spcAft>
            </a:pPr>
            <a:r>
              <a:rPr sz="2100">
                <a:solidFill>
                  <a:srgbClr val="2563EB"/>
                </a:solidFill>
                <a:latin typeface="Segoe UI"/>
              </a:rPr>
              <a:t>▪  </a:t>
            </a:r>
            <a:r>
              <a:rPr sz="2100">
                <a:solidFill>
                  <a:srgbClr val="111827"/>
                </a:solidFill>
                <a:latin typeface="Segoe UI"/>
              </a:rPr>
              <a:t>Keep the stable part stable</a:t>
            </a:r>
          </a:p>
          <a:p>
            <a:pPr>
              <a:spcAft>
                <a:spcPts val="1400"/>
              </a:spcAft>
            </a:pPr>
            <a:r>
              <a:rPr sz="2100">
                <a:solidFill>
                  <a:srgbClr val="2563EB"/>
                </a:solidFill>
                <a:latin typeface="Segoe UI"/>
              </a:rPr>
              <a:t>▪  </a:t>
            </a:r>
            <a:r>
              <a:rPr sz="2100">
                <a:solidFill>
                  <a:srgbClr val="111827"/>
                </a:solidFill>
                <a:latin typeface="Segoe UI"/>
              </a:rPr>
              <a:t>Know when to stop</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Discussion</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Three prompts from exercises/discussion.md: "Which of your recurring tasks would survive a 20-case test set — and which would fail it today?"</a:t>
            </a:r>
          </a:p>
          <a:p>
            <a:pPr>
              <a:spcAft>
                <a:spcPts val="1400"/>
              </a:spcAft>
            </a:pPr>
            <a:r>
              <a:rPr sz="2100">
                <a:solidFill>
                  <a:srgbClr val="2563EB"/>
                </a:solidFill>
                <a:latin typeface="Segoe UI"/>
              </a:rPr>
              <a:t>▪  </a:t>
            </a:r>
            <a:r>
              <a:rPr sz="2100">
                <a:solidFill>
                  <a:srgbClr val="111827"/>
                </a:solidFill>
                <a:latin typeface="Segoe UI"/>
              </a:rPr>
              <a:t>"Where in your workflow would a silent omission do the most damage?"</a:t>
            </a:r>
          </a:p>
          <a:p>
            <a:pPr>
              <a:spcAft>
                <a:spcPts val="1400"/>
              </a:spcAft>
            </a:pPr>
            <a:r>
              <a:rPr sz="2100">
                <a:solidFill>
                  <a:srgbClr val="2563EB"/>
                </a:solidFill>
                <a:latin typeface="Segoe UI"/>
              </a:rPr>
              <a:t>▪  </a:t>
            </a:r>
            <a:r>
              <a:rPr sz="2100">
                <a:solidFill>
                  <a:srgbClr val="111827"/>
                </a:solidFill>
                <a:latin typeface="Segoe UI"/>
              </a:rPr>
              <a:t>"Name one task you would NOT give to Claude, and say why."</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02920"/>
            <a:ext cx="10881360" cy="731520"/>
          </a:xfrm>
          <a:prstGeom prst="rect">
            <a:avLst/>
          </a:prstGeom>
          <a:noFill/>
        </p:spPr>
        <p:txBody>
          <a:bodyPr wrap="square" anchor="t">
            <a:spAutoFit/>
          </a:bodyPr>
          <a:lstStyle/>
          <a:p>
            <a:pPr algn="l">
              <a:spcAft>
                <a:spcPts val="1000"/>
              </a:spcAft>
            </a:pPr>
            <a:r>
              <a:rPr sz="2800" b="1">
                <a:solidFill>
                  <a:srgbClr val="1F2A37"/>
                </a:solidFill>
                <a:latin typeface="Segoe UI"/>
              </a:rPr>
              <a:t>Resources &amp; credits</a:t>
            </a:r>
          </a:p>
        </p:txBody>
      </p:sp>
      <p:sp>
        <p:nvSpPr>
          <p:cNvPr id="3" name="Rectangle 2"/>
          <p:cNvSpPr/>
          <p:nvPr/>
        </p:nvSpPr>
        <p:spPr>
          <a:xfrm>
            <a:off x="640080" y="1170432"/>
            <a:ext cx="1005840" cy="508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691640"/>
            <a:ext cx="10424160" cy="4023360"/>
          </a:xfrm>
          <a:prstGeom prst="rect">
            <a:avLst/>
          </a:prstGeom>
          <a:noFill/>
        </p:spPr>
        <p:txBody>
          <a:bodyPr wrap="square">
            <a:spAutoFit/>
          </a:bodyPr>
          <a:lstStyle/>
          <a:p>
            <a:pPr>
              <a:spcAft>
                <a:spcPts val="1400"/>
              </a:spcAft>
            </a:pPr>
            <a:r>
              <a:rPr sz="2100">
                <a:solidFill>
                  <a:srgbClr val="2563EB"/>
                </a:solidFill>
                <a:latin typeface="Segoe UI"/>
              </a:rPr>
              <a:t>▪  </a:t>
            </a:r>
            <a:r>
              <a:rPr sz="2100">
                <a:solidFill>
                  <a:srgbClr val="111827"/>
                </a:solidFill>
                <a:latin typeface="Segoe UI"/>
              </a:rPr>
              <a:t>Links only. MCP specification &amp; SDKs (Agentic AI Foundation / Linux Foundation)</a:t>
            </a:r>
          </a:p>
          <a:p>
            <a:pPr>
              <a:spcAft>
                <a:spcPts val="1400"/>
              </a:spcAft>
            </a:pPr>
            <a:r>
              <a:rPr sz="2100">
                <a:solidFill>
                  <a:srgbClr val="2563EB"/>
                </a:solidFill>
                <a:latin typeface="Segoe UI"/>
              </a:rPr>
              <a:t>▪  </a:t>
            </a:r>
            <a:r>
              <a:rPr sz="2100">
                <a:solidFill>
                  <a:srgbClr val="111827"/>
                </a:solidFill>
                <a:latin typeface="Segoe UI"/>
              </a:rPr>
              <a:t>Anthropic prompting best practices, Building Effective Agents, context-engineering and evals posts (link only — do not copy)</a:t>
            </a:r>
          </a:p>
          <a:p>
            <a:pPr>
              <a:spcAft>
                <a:spcPts val="1400"/>
              </a:spcAft>
            </a:pPr>
            <a:r>
              <a:rPr sz="2100">
                <a:solidFill>
                  <a:srgbClr val="2563EB"/>
                </a:solidFill>
                <a:latin typeface="Segoe UI"/>
              </a:rPr>
              <a:t>▪  </a:t>
            </a:r>
            <a:r>
              <a:rPr sz="2100">
                <a:solidFill>
                  <a:srgbClr val="111827"/>
                </a:solidFill>
                <a:latin typeface="Segoe UI"/>
              </a:rPr>
              <a:t>promptfoo / DeepEval (MIT, open source)</a:t>
            </a:r>
          </a:p>
          <a:p>
            <a:pPr>
              <a:spcAft>
                <a:spcPts val="1400"/>
              </a:spcAft>
            </a:pPr>
            <a:r>
              <a:rPr sz="2100">
                <a:solidFill>
                  <a:srgbClr val="2563EB"/>
                </a:solidFill>
                <a:latin typeface="Segoe UI"/>
              </a:rPr>
              <a:t>▪  </a:t>
            </a:r>
            <a:r>
              <a:rPr sz="2100">
                <a:solidFill>
                  <a:srgbClr val="111827"/>
                </a:solidFill>
                <a:latin typeface="Segoe UI"/>
              </a:rPr>
              <a:t>OpenAI Cookbook prompting guides (MIT)</a:t>
            </a:r>
          </a:p>
          <a:p>
            <a:pPr>
              <a:spcAft>
                <a:spcPts val="1400"/>
              </a:spcAft>
            </a:pPr>
            <a:r>
              <a:rPr sz="2100">
                <a:solidFill>
                  <a:srgbClr val="2563EB"/>
                </a:solidFill>
                <a:latin typeface="Segoe UI"/>
              </a:rPr>
              <a:t>▪  </a:t>
            </a:r>
            <a:r>
              <a:rPr sz="2100">
                <a:solidFill>
                  <a:srgbClr val="111827"/>
                </a:solidFill>
                <a:latin typeface="Segoe UI"/>
              </a:rPr>
              <a:t>DAIR.AI promptingguide.ai (MIT)</a:t>
            </a:r>
          </a:p>
          <a:p>
            <a:pPr>
              <a:spcAft>
                <a:spcPts val="1400"/>
              </a:spcAft>
            </a:pPr>
            <a:r>
              <a:rPr sz="2100">
                <a:solidFill>
                  <a:srgbClr val="2563EB"/>
                </a:solidFill>
                <a:latin typeface="Segoe UI"/>
              </a:rPr>
              <a:t>▪  </a:t>
            </a:r>
            <a:r>
              <a:rPr sz="2100">
                <a:solidFill>
                  <a:srgbClr val="111827"/>
                </a:solidFill>
                <a:latin typeface="Segoe UI"/>
              </a:rPr>
              <a:t>The Prompt Report v6 (CC BY 4.0). Footer: "All prompts, examples, and diagrams in this deck are original course material."</a:t>
            </a:r>
          </a:p>
        </p:txBody>
      </p:sp>
      <p:sp>
        <p:nvSpPr>
          <p:cNvPr id="5" name="TextBox 4"/>
          <p:cNvSpPr txBox="1"/>
          <p:nvPr/>
        </p:nvSpPr>
        <p:spPr>
          <a:xfrm>
            <a:off x="640080" y="6327648"/>
            <a:ext cx="6858000" cy="365760"/>
          </a:xfrm>
          <a:prstGeom prst="rect">
            <a:avLst/>
          </a:prstGeom>
          <a:noFill/>
        </p:spPr>
        <p:txBody>
          <a:bodyPr wrap="square" anchor="t">
            <a:spAutoFit/>
          </a:bodyPr>
          <a:lstStyle/>
          <a:p>
            <a:pPr algn="l">
              <a:spcAft>
                <a:spcPts val="1000"/>
              </a:spcAft>
            </a:pPr>
            <a:r>
              <a:rPr sz="1100" b="0">
                <a:solidFill>
                  <a:srgbClr val="6B7280"/>
                </a:solidFill>
                <a:latin typeface="Segoe UI"/>
              </a:rPr>
              <a:t>Session 11  ·  AI Training Series</a:t>
            </a:r>
          </a:p>
        </p:txBody>
      </p:sp>
      <p:sp>
        <p:nvSpPr>
          <p:cNvPr id="6" name="TextBox 5"/>
          <p:cNvSpPr txBox="1"/>
          <p:nvPr/>
        </p:nvSpPr>
        <p:spPr>
          <a:xfrm>
            <a:off x="7498079" y="6327648"/>
            <a:ext cx="4023360" cy="365760"/>
          </a:xfrm>
          <a:prstGeom prst="rect">
            <a:avLst/>
          </a:prstGeom>
          <a:noFill/>
        </p:spPr>
        <p:txBody>
          <a:bodyPr wrap="square" anchor="t">
            <a:spAutoFit/>
          </a:bodyPr>
          <a:lstStyle/>
          <a:p>
            <a:pPr algn="r">
              <a:spcAft>
                <a:spcPts val="1000"/>
              </a:spcAft>
            </a:pPr>
            <a:r>
              <a:rPr sz="1000" b="0">
                <a:solidFill>
                  <a:srgbClr val="6B7280"/>
                </a:solidFill>
                <a:latin typeface="Segoe UI"/>
              </a:rPr>
              <a:t>attributions as listed. --- ## Build checklist for this deck - [ ] Currency tag ("Verify against current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