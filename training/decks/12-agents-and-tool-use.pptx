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sessions have used this word and moved on. Tonight we define it, build one, and then spend most of the hour arguing that you probably should not. Say up front that the strongest recommendation in this session is "don't" — it sets the tone and it is true.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README minute budget. Flag that the middle block (when not to build one) and the evidence block are the parts they cannot reconstruct from the reading, and that the reading in content/ is deliberately larger than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resolve it. Ask for hands on each. The room will split, and the split is the point — the word has been used for four different things this quarter. Say: by the end of the next six minutes you will be able to sort these in about twenty seconds, and that skill is worth more than anything else tonight.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formal definition — a semi-autonomous system that interacts with an environment, decides, and acts on a user's behalf — predates LLMs by decades. The mechanical version is the useful one, because it names the two things you actually add: a loop, and the ability to act. It is a control-flow decision, not a capability upgrade. Nobody buys a smarter model when they build an agent; they change where the while lives.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once. Four things to land: (1) your code still executes every tool — the model only ever emits a request against a schema, which is the Session 11 point and the whole security posture; (2) the model decides which branch of the diamond is taken; (3) there is no natural end, so every production agent needs a cap; (4) the trace grows every iteration, and that is where Session 2's ~13× cost multiplier comes from. If delivering before 2026-07-28, note that the MCP details from Session 11 are against a release candidate.</a:t>
            </a:r>
          </a:p>
          <a:p/>
          <a:p>
            <a:r>
              <a:t>--- Mermaid source 1 (render and place on the diagram box) ---</a:t>
            </a:r>
          </a:p>
          <a:p>
            <a:r>
              <a:t>flowchart TD</a:t>
            </a:r>
          </a:p>
          <a:p>
            <a:r>
              <a:t>    U["User request"] --&gt; C["Context:&lt;br/&gt;goal + tool schemas + trace so far"]</a:t>
            </a:r>
          </a:p>
          <a:p>
            <a:r>
              <a:t>    C --&gt; M["Model call"]</a:t>
            </a:r>
          </a:p>
          <a:p>
            <a:r>
              <a:t>    M --&gt; D{"Output is what?"}</a:t>
            </a:r>
          </a:p>
          <a:p>
            <a:r>
              <a:t>    D --&gt;|"Tool call"| T["YOUR CODE executes the tool"]</a:t>
            </a:r>
          </a:p>
          <a:p>
            <a:r>
              <a:t>    T --&gt; O["Observation appended to trace"]</a:t>
            </a:r>
          </a:p>
          <a:p>
            <a:r>
              <a:t>    O --&gt; C</a:t>
            </a:r>
          </a:p>
          <a:p>
            <a:r>
              <a:t>    D --&gt;|"Final answer"| A["Answer"]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useful framing in the agent literature, and it has an unusual provenance worth naming: it comes from a vendor whose business is selling agents, telling you to build fewer of them. A vendor arguing you should buy less of its product is a credibility signal — weight it accordingly. Land the key consequence: a ten-node graph with conditional edges is still a workflow if you drew the graph, and that is a compliment.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room mostly gets this right once the test is stated. Add the commercial observation: most things marketed as agents are the workflow row. That is not an accusation of bad faith — "workflow with LLM steps" is a less exciting phrase for what is, in fact, the better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top to bottom and then land the last row hard. That one row is the entire case for agents. It is a real case — but it is one row, and the corollary people resist is that if you can enumerate the steps, enumerating them in code is not a failure of ambition. It is the correct engineering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gates: complexity, enumerability, value, cost of error. Emphasise gate 1 — "can a deterministic script do this without an LLM?" — because it is the one nobody asks. Point out that even the success path lands in "bounded, capped, traced," not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pre-baked reveal — do not run it live. Point at four things as they appear: input tokens grow every step while the question never changes (that is the cost multiplier, made visible); the Thought is generated narration, not a log of the model's internals; step 2's decision — "small diff, read it directly" — depended on step 1's observation, which is the adaptation that justified building an agent at all; and the final answer says what it did not verify, which only appears because the system prompt asked for it. That last line is the most valuable sentence in the trace.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code. Show that the loop fits on a slide, then spend the time on the six call-outs — every one of them is one or two lines, and every one is the difference between a demo and something you would let near a real system. The two people miss most: a tool that raises must become an observation, not a crash; and a step cap, because a while True agent will eventually loop forever and the bill arrives before the alert does.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variations, two honest caveats. Plan &amp; Execute front-loads a commitment made in ignorance, so the re-plan edge is not optional. Reflection only works with explicit, failable criteria — and the strongest reflection loop is not a model critic at all, it is a compiler, a test suite, or a schema validator. A model critiquing itself shares its own blind spots.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in the session for this room; never cut it. Land the last row hardest: the review step is the control that makes the rest defensible, so "it removes the review" is an argument against, not for. Give the four questions to take into a meeting: what are the steps and can you draw them; how many runs a day at twelve model calls each; when it's wrong, who finds out; does it act or does it propose. Not one of those four questions is about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it up as a puzzle, not a conclusion. Two serious teams, opposite advice, within days. One later reversed without retracting. Say plainly: this session will not tell you who is right, because the evidence does not settle it — and holding "unsettled" as a position is the accurate stance, not a cop-out.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two minutes in the session. All three facts come from the same write-up, published by the party with the least incentive to publish the second and third. Credit that honesty explicitly — then use it. The transferable lesson is not the number; it is the habit of reading past the headline to the paragraph that qualifies it. If a vendor's own write-up does not contain a paragraph like that, the right response is not comfort. It is suspicion.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constructive slide after the demolition. Both labs, from opposite directions, reached these two. That independent convergence is better evidence than either headline result. Give the narrow band where multi-agent does earn its place: breadth-first, genuinely parallel, independent subtasks, isolation is a real benefit not a rationalisation, and you can afford ~15× tokens. "Identify all X across N sources" fits. "Write this feature" does not — a feature is full of decisions that must be consistent with each other, which is exactly what parallel agents are bad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take-home. Question 1 dissolves most claims on its own. On question 2: essentially no major agent benchmark incorporates cost into primary scoring, so 88% at $50 a task ranks identically to 88% at 50 cents a task — for a room that pays the bill, that is the finding, not a footnote. On question 4: pass^k, requiring success on all k attempts, commonly runs 15–25 points below pass^1. That gap is the most important number in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lines to land. First: least privilege belongs in code, never in a prompt — a system prompt saying "never touch prod" is a suggestion; a service account without prod access is a control. Second: the better the agent gets, the harder the gate is to staff, because a human approving a stream of correct actions stops reading. So design the output to be checkable: small diffs, cited evidence, an explicit list of what was not verified. "Done ✅" is not gateable no matter who is standing next to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2's meter, applied. The habit to carry out of this room: never report an agent's quality without its cost per task, in the same table, adjacent columns. If a proposal shows you only accuracy, the number you are missing is the one that decides.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one of these is a model problem. The rest are engineering problems — which is good news for this room, because they are the kind of problem you already know how to fix. Flag cap thrash specifically: if the cap fires on most runs, that is not a cap problem, it is the task telling you it was never agentic.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safety framework this course inherited names "an API that directly acts on LLM output" as a hazard initiating mechanism. That bullet was written before agents were common and it is exactly right — an agent is that bullet, built on purpose. Say it, name it, and stop. Session 14 does prompt injection, indirect injection through the content an agent reads, the three-precondition test, and excessive agency. Tell the room to read that session before connecting an agent to anything they care about, not after. Do not start the security discussion here; you will not finish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exercises/discussion.md for the full set and what a good answer surfaces. The second prompt is the one that produces the most useful silence — most teams find at least one existing pipeline that already qualifies.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them at smolagents specifically for anyone who learns by reading implementations — about a thousand readable lines, and it will teach them more than any PDF. Repeat the standing warning: search results on this topic are heavily polluted by content marketing and AI-generated filler. Prefer the specification, the repository, and the licence file over any "best agents guide 2026" blog post.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Agents and Tool Use</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12 of 16  ·  Use it well</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What an agent is → workflows vs. agents → ReAct, built by hand → Plan &amp; Execute, Reflection → when NOT to → the multi-agent evidence → production → hand-off to Session 14.</a:t>
            </a:r>
          </a:p>
          <a:p>
            <a:pPr>
              <a:spcAft>
                <a:spcPts val="1400"/>
              </a:spcAft>
            </a:pPr>
            <a:r>
              <a:rPr sz="2100">
                <a:solidFill>
                  <a:srgbClr val="2563EB"/>
                </a:solidFill>
                <a:latin typeface="Segoe UI"/>
              </a:rPr>
              <a:t>▪  </a:t>
            </a:r>
            <a:r>
              <a:rPr sz="2100">
                <a:solidFill>
                  <a:srgbClr val="111827"/>
                </a:solidFill>
                <a:latin typeface="Segoe UI"/>
              </a:rPr>
              <a:t>"45 min + 15 min Q&amp;A."</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Hook: three things called "an agent"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"Two of these are not agents." Three short, realistic product descriptions, unlabelled: (a) a ticket triage pipeline — classify, route, draft, hand to a human; (b) a chat assistant that looks up an order status and answers; (c) a system given "find out why component X regressed" and eight tools, which runs until it decides it is done.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definition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"An agent is an LLM wired to a loop and given the ability to act." Three bullets: Autonomy — many steps, no check-in</a:t>
            </a:r>
          </a:p>
          <a:p>
            <a:pPr>
              <a:spcAft>
                <a:spcPts val="1400"/>
              </a:spcAft>
            </a:pPr>
            <a:r>
              <a:rPr sz="2100">
                <a:solidFill>
                  <a:srgbClr val="2563EB"/>
                </a:solidFill>
                <a:latin typeface="Segoe UI"/>
              </a:rPr>
              <a:t>▪  </a:t>
            </a:r>
            <a:r>
              <a:rPr sz="2100">
                <a:solidFill>
                  <a:srgbClr val="111827"/>
                </a:solidFill>
                <a:latin typeface="Segoe UI"/>
              </a:rPr>
              <a:t>Decision-making — it chooses the action</a:t>
            </a:r>
          </a:p>
          <a:p>
            <a:pPr>
              <a:spcAft>
                <a:spcPts val="1400"/>
              </a:spcAft>
            </a:pPr>
            <a:r>
              <a:rPr sz="2100">
                <a:solidFill>
                  <a:srgbClr val="2563EB"/>
                </a:solidFill>
                <a:latin typeface="Segoe UI"/>
              </a:rPr>
              <a:t>▪  </a:t>
            </a:r>
            <a:r>
              <a:rPr sz="2100">
                <a:solidFill>
                  <a:srgbClr val="111827"/>
                </a:solidFill>
                <a:latin typeface="Segoe UI"/>
              </a:rPr>
              <a:t>Adaptation — step n depends on what step n−1 saw. One line beneath: all three, or it is something else.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loop</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"The only new arrow is Observation → Context." Diagram only.</a:t>
            </a:r>
          </a:p>
        </p:txBody>
      </p:sp>
      <p:sp>
        <p:nvSpPr>
          <p:cNvPr id="5" name="Rounded Rectangle 4" descr="Diagram: The loop"/>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User request  →  Context: goal + tool schemas + trace so far  →  Model call  →  YOUR CODE executes the tool  →  Observation appended to trace  →  Answer</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Workflows vs. agents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"Who wrote the control flow?" Two columns.</a:t>
            </a:r>
          </a:p>
          <a:p>
            <a:pPr>
              <a:spcAft>
                <a:spcPts val="1400"/>
              </a:spcAft>
            </a:pPr>
            <a:r>
              <a:rPr sz="2100">
                <a:solidFill>
                  <a:srgbClr val="2563EB"/>
                </a:solidFill>
                <a:latin typeface="Segoe UI"/>
              </a:rPr>
              <a:t>▪  </a:t>
            </a:r>
            <a:r>
              <a:rPr sz="2100">
                <a:solidFill>
                  <a:srgbClr val="111827"/>
                </a:solidFill>
                <a:latin typeface="Segoe UI"/>
              </a:rPr>
              <a:t>Workflow: LLMs and tools orchestrated through predefined code paths — you wrote the sequence, you can read it.</a:t>
            </a:r>
          </a:p>
          <a:p>
            <a:pPr>
              <a:spcAft>
                <a:spcPts val="1400"/>
              </a:spcAft>
            </a:pPr>
            <a:r>
              <a:rPr sz="2100">
                <a:solidFill>
                  <a:srgbClr val="2563EB"/>
                </a:solidFill>
                <a:latin typeface="Segoe UI"/>
              </a:rPr>
              <a:t>▪  </a:t>
            </a:r>
            <a:r>
              <a:rPr sz="2100">
                <a:solidFill>
                  <a:srgbClr val="111827"/>
                </a:solidFill>
                <a:latin typeface="Segoe UI"/>
              </a:rPr>
              <a:t>Agent: the model dynamically directs its own process and tool usage.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Anthropic, "Building Effective Agents" — paraphrased, LINK-ONLY. Do not embed their text 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Sort the three from slide 3</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slide-3 table, now with verdicts: **workflow</a:t>
            </a:r>
          </a:p>
          <a:p>
            <a:pPr>
              <a:spcAft>
                <a:spcPts val="1400"/>
              </a:spcAft>
            </a:pPr>
            <a:r>
              <a:rPr sz="2100">
                <a:solidFill>
                  <a:srgbClr val="2563EB"/>
                </a:solidFill>
                <a:latin typeface="Segoe UI"/>
              </a:rPr>
              <a:t>▪  </a:t>
            </a:r>
            <a:r>
              <a:rPr sz="2100">
                <a:solidFill>
                  <a:srgbClr val="111827"/>
                </a:solidFill>
                <a:latin typeface="Segoe UI"/>
              </a:rPr>
              <a:t>tool call</a:t>
            </a:r>
          </a:p>
          <a:p>
            <a:pPr>
              <a:spcAft>
                <a:spcPts val="1400"/>
              </a:spcAft>
            </a:pPr>
            <a:r>
              <a:rPr sz="2100">
                <a:solidFill>
                  <a:srgbClr val="2563EB"/>
                </a:solidFill>
                <a:latin typeface="Segoe UI"/>
              </a:rPr>
              <a:t>▪  </a:t>
            </a:r>
            <a:r>
              <a:rPr sz="2100">
                <a:solidFill>
                  <a:srgbClr val="111827"/>
                </a:solidFill>
                <a:latin typeface="Segoe UI"/>
              </a:rPr>
              <a:t>agent.* Plus the one-minute test: Can I draw the steps in advance? → workflow. Does the number of steps depend on what it finds?* → agent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Every row favours the workflow except one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Comparison table, abbreviated to 8 rows: steps per request</a:t>
            </a:r>
          </a:p>
          <a:p>
            <a:pPr>
              <a:spcAft>
                <a:spcPts val="1400"/>
              </a:spcAft>
            </a:pPr>
            <a:r>
              <a:rPr sz="2100">
                <a:solidFill>
                  <a:srgbClr val="2563EB"/>
                </a:solidFill>
                <a:latin typeface="Segoe UI"/>
              </a:rPr>
              <a:t>▪  </a:t>
            </a:r>
            <a:r>
              <a:rPr sz="2100">
                <a:solidFill>
                  <a:srgbClr val="111827"/>
                </a:solidFill>
                <a:latin typeface="Segoe UI"/>
              </a:rPr>
              <a:t>cost</a:t>
            </a:r>
          </a:p>
          <a:p>
            <a:pPr>
              <a:spcAft>
                <a:spcPts val="1400"/>
              </a:spcAft>
            </a:pPr>
            <a:r>
              <a:rPr sz="2100">
                <a:solidFill>
                  <a:srgbClr val="2563EB"/>
                </a:solidFill>
                <a:latin typeface="Segoe UI"/>
              </a:rPr>
              <a:t>▪  </a:t>
            </a:r>
            <a:r>
              <a:rPr sz="2100">
                <a:solidFill>
                  <a:srgbClr val="111827"/>
                </a:solidFill>
                <a:latin typeface="Segoe UI"/>
              </a:rPr>
              <a:t>latency</a:t>
            </a:r>
          </a:p>
          <a:p>
            <a:pPr>
              <a:spcAft>
                <a:spcPts val="1400"/>
              </a:spcAft>
            </a:pPr>
            <a:r>
              <a:rPr sz="2100">
                <a:solidFill>
                  <a:srgbClr val="2563EB"/>
                </a:solidFill>
                <a:latin typeface="Segoe UI"/>
              </a:rPr>
              <a:t>▪  </a:t>
            </a:r>
            <a:r>
              <a:rPr sz="2100">
                <a:solidFill>
                  <a:srgbClr val="111827"/>
                </a:solidFill>
                <a:latin typeface="Segoe UI"/>
              </a:rPr>
              <a:t>debuggability</a:t>
            </a:r>
          </a:p>
          <a:p>
            <a:pPr>
              <a:spcAft>
                <a:spcPts val="1400"/>
              </a:spcAft>
            </a:pPr>
            <a:r>
              <a:rPr sz="2100">
                <a:solidFill>
                  <a:srgbClr val="2563EB"/>
                </a:solidFill>
                <a:latin typeface="Segoe UI"/>
              </a:rPr>
              <a:t>▪  </a:t>
            </a:r>
            <a:r>
              <a:rPr sz="2100">
                <a:solidFill>
                  <a:srgbClr val="111827"/>
                </a:solidFill>
                <a:latin typeface="Segoe UI"/>
              </a:rPr>
              <a:t>testability</a:t>
            </a:r>
          </a:p>
          <a:p>
            <a:pPr>
              <a:spcAft>
                <a:spcPts val="1400"/>
              </a:spcAft>
            </a:pPr>
            <a:r>
              <a:rPr sz="2100">
                <a:solidFill>
                  <a:srgbClr val="2563EB"/>
                </a:solidFill>
                <a:latin typeface="Segoe UI"/>
              </a:rPr>
              <a:t>▪  </a:t>
            </a:r>
            <a:r>
              <a:rPr sz="2100">
                <a:solidFill>
                  <a:srgbClr val="111827"/>
                </a:solidFill>
                <a:latin typeface="Segoe UI"/>
              </a:rPr>
              <a:t>reviewability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decision flowchart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Diagram only.</a:t>
            </a:r>
          </a:p>
          <a:p>
            <a:pPr>
              <a:spcAft>
                <a:spcPts val="1400"/>
              </a:spcAft>
            </a:pPr>
            <a:r>
              <a:rPr sz="2100">
                <a:solidFill>
                  <a:srgbClr val="2563EB"/>
                </a:solidFill>
                <a:latin typeface="Segoe UI"/>
              </a:rPr>
              <a:t>▪  </a:t>
            </a:r>
            <a:r>
              <a:rPr sz="2100">
                <a:solidFill>
                  <a:srgbClr val="111827"/>
                </a:solidFill>
                <a:latin typeface="Segoe UI"/>
              </a:rPr>
              <a:t>Headline: "Three of five exits say don't."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real trace, one step per click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pre-baked trace: Step 1 thought/action/observation + tokens, Step 2, Step 3 final answer.</a:t>
            </a:r>
          </a:p>
          <a:p>
            <a:pPr>
              <a:spcAft>
                <a:spcPts val="1400"/>
              </a:spcAft>
            </a:pPr>
            <a:r>
              <a:rPr sz="2100">
                <a:solidFill>
                  <a:srgbClr val="2563EB"/>
                </a:solidFill>
                <a:latin typeface="Segoe UI"/>
              </a:rPr>
              <a:t>▪  </a:t>
            </a:r>
            <a:r>
              <a:rPr sz="2100">
                <a:solidFill>
                  <a:srgbClr val="111827"/>
                </a:solidFill>
                <a:latin typeface="Segoe UI"/>
              </a:rPr>
              <a:t>Revealed one step per click.</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loop in forty lines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Six labelled call-outs on a condensed code block: **step cap</a:t>
            </a:r>
          </a:p>
          <a:p>
            <a:pPr>
              <a:spcAft>
                <a:spcPts val="1400"/>
              </a:spcAft>
            </a:pPr>
            <a:r>
              <a:rPr sz="2100">
                <a:solidFill>
                  <a:srgbClr val="2563EB"/>
                </a:solidFill>
                <a:latin typeface="Segoe UI"/>
              </a:rPr>
              <a:t>▪  </a:t>
            </a:r>
            <a:r>
              <a:rPr sz="2100">
                <a:solidFill>
                  <a:srgbClr val="111827"/>
                </a:solidFill>
                <a:latin typeface="Segoe UI"/>
              </a:rPr>
              <a:t>try/except around tools</a:t>
            </a:r>
          </a:p>
          <a:p>
            <a:pPr>
              <a:spcAft>
                <a:spcPts val="1400"/>
              </a:spcAft>
            </a:pPr>
            <a:r>
              <a:rPr sz="2100">
                <a:solidFill>
                  <a:srgbClr val="2563EB"/>
                </a:solidFill>
                <a:latin typeface="Segoe UI"/>
              </a:rPr>
              <a:t>▪  </a:t>
            </a:r>
            <a:r>
              <a:rPr sz="2100">
                <a:solidFill>
                  <a:srgbClr val="111827"/>
                </a:solidFill>
                <a:latin typeface="Segoe UI"/>
              </a:rPr>
              <a:t>is_error</a:t>
            </a:r>
          </a:p>
          <a:p>
            <a:pPr>
              <a:spcAft>
                <a:spcPts val="1400"/>
              </a:spcAft>
            </a:pPr>
            <a:r>
              <a:rPr sz="2100">
                <a:solidFill>
                  <a:srgbClr val="2563EB"/>
                </a:solidFill>
                <a:latin typeface="Segoe UI"/>
              </a:rPr>
              <a:t>▪  </a:t>
            </a:r>
            <a:r>
              <a:rPr sz="2100">
                <a:solidFill>
                  <a:srgbClr val="111827"/>
                </a:solidFill>
                <a:latin typeface="Segoe UI"/>
              </a:rPr>
              <a:t>matched tool_use_id</a:t>
            </a:r>
          </a:p>
          <a:p>
            <a:pPr>
              <a:spcAft>
                <a:spcPts val="1400"/>
              </a:spcAft>
            </a:pPr>
            <a:r>
              <a:rPr sz="2100">
                <a:solidFill>
                  <a:srgbClr val="2563EB"/>
                </a:solidFill>
                <a:latin typeface="Segoe UI"/>
              </a:rPr>
              <a:t>▪  </a:t>
            </a:r>
            <a:r>
              <a:rPr sz="2100">
                <a:solidFill>
                  <a:srgbClr val="111827"/>
                </a:solidFill>
                <a:latin typeface="Segoe UI"/>
              </a:rPr>
              <a:t>append the full assistant content</a:t>
            </a:r>
          </a:p>
          <a:p>
            <a:pPr>
              <a:spcAft>
                <a:spcPts val="1400"/>
              </a:spcAft>
            </a:pPr>
            <a:r>
              <a:rPr sz="2100">
                <a:solidFill>
                  <a:srgbClr val="2563EB"/>
                </a:solidFill>
                <a:latin typeface="Segoe UI"/>
              </a:rPr>
              <a:t>▪  </a:t>
            </a:r>
            <a:r>
              <a:rPr sz="2100">
                <a:solidFill>
                  <a:srgbClr val="111827"/>
                </a:solidFill>
                <a:latin typeface="Segoe UI"/>
              </a:rPr>
              <a:t>trace every step.**</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Plan &amp; Execute, and Reflection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Two small architecture diagrams side by side.</a:t>
            </a:r>
          </a:p>
          <a:p>
            <a:pPr>
              <a:spcAft>
                <a:spcPts val="1400"/>
              </a:spcAft>
            </a:pPr>
            <a:r>
              <a:rPr sz="2100">
                <a:solidFill>
                  <a:srgbClr val="2563EB"/>
                </a:solidFill>
                <a:latin typeface="Segoe UI"/>
              </a:rPr>
              <a:t>▪  </a:t>
            </a:r>
            <a:r>
              <a:rPr sz="2100">
                <a:solidFill>
                  <a:srgbClr val="111827"/>
                </a:solidFill>
                <a:latin typeface="Segoe UI"/>
              </a:rPr>
              <a:t>Under Plan &amp; Execute: "~3× cheaper — but first check whether the cheap model can just do the whole job." Under Reflection: "'Is this good?' returns 'yes, with minor suggestions.' Every time."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When NOT to build an agent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"If a deterministic script works, use the script." Then the decision table, five rows: "same five steps with edge cases" → not an agent</a:t>
            </a:r>
          </a:p>
          <a:p>
            <a:pPr>
              <a:spcAft>
                <a:spcPts val="1400"/>
              </a:spcAft>
            </a:pPr>
            <a:r>
              <a:rPr sz="2100">
                <a:solidFill>
                  <a:srgbClr val="2563EB"/>
                </a:solidFill>
                <a:latin typeface="Segoe UI"/>
              </a:rPr>
              <a:t>▪  </a:t>
            </a:r>
            <a:r>
              <a:rPr sz="2100">
                <a:solidFill>
                  <a:srgbClr val="111827"/>
                </a:solidFill>
                <a:latin typeface="Segoe UI"/>
              </a:rPr>
              <a:t>"needs to look at data and decide" → one call with a schema</a:t>
            </a:r>
          </a:p>
          <a:p>
            <a:pPr>
              <a:spcAft>
                <a:spcPts val="1400"/>
              </a:spcAft>
            </a:pPr>
            <a:r>
              <a:rPr sz="2100">
                <a:solidFill>
                  <a:srgbClr val="2563EB"/>
                </a:solidFill>
                <a:latin typeface="Segoe UI"/>
              </a:rPr>
              <a:t>▪  </a:t>
            </a:r>
            <a:r>
              <a:rPr sz="2100">
                <a:solidFill>
                  <a:srgbClr val="111827"/>
                </a:solidFill>
                <a:latin typeface="Segoe UI"/>
              </a:rPr>
              <a:t>"steps depend on what it finds" → possibly</a:t>
            </a:r>
          </a:p>
          <a:p>
            <a:pPr>
              <a:spcAft>
                <a:spcPts val="1400"/>
              </a:spcAft>
            </a:pPr>
            <a:r>
              <a:rPr sz="2100">
                <a:solidFill>
                  <a:srgbClr val="2563EB"/>
                </a:solidFill>
                <a:latin typeface="Segoe UI"/>
              </a:rPr>
              <a:t>▪  </a:t>
            </a:r>
            <a:r>
              <a:rPr sz="2100">
                <a:solidFill>
                  <a:srgbClr val="111827"/>
                </a:solidFill>
                <a:latin typeface="Segoe UI"/>
              </a:rPr>
              <a:t>"should run overnight unsupervised" → not yet, that's the reward not the start</a:t>
            </a:r>
          </a:p>
          <a:p>
            <a:pPr>
              <a:spcAft>
                <a:spcPts val="1400"/>
              </a:spcAft>
            </a:pPr>
            <a:r>
              <a:rPr sz="2100">
                <a:solidFill>
                  <a:srgbClr val="2563EB"/>
                </a:solidFill>
                <a:latin typeface="Segoe UI"/>
              </a:rPr>
              <a:t>▪  </a:t>
            </a:r>
            <a:r>
              <a:rPr sz="2100">
                <a:solidFill>
                  <a:srgbClr val="111827"/>
                </a:solidFill>
                <a:latin typeface="Segoe UI"/>
              </a:rPr>
              <a:t>"would let us cut the review step" → emphatically no</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Two labs, opposite advice, days apart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Timeline, four beats: mid-2025 Lab A — multi-agent beats single-agent by ~90% on their eval</a:t>
            </a:r>
          </a:p>
          <a:p>
            <a:pPr>
              <a:spcAft>
                <a:spcPts val="1400"/>
              </a:spcAft>
            </a:pPr>
            <a:r>
              <a:rPr sz="2100">
                <a:solidFill>
                  <a:srgbClr val="2563EB"/>
                </a:solidFill>
                <a:latin typeface="Segoe UI"/>
              </a:rPr>
              <a:t>▪  </a:t>
            </a:r>
            <a:r>
              <a:rPr sz="2100">
                <a:solidFill>
                  <a:srgbClr val="111827"/>
                </a:solidFill>
                <a:latin typeface="Segoe UI"/>
              </a:rPr>
              <a:t>mid-2025 Lab B — "Don't build multi-agents"</a:t>
            </a:r>
          </a:p>
          <a:p>
            <a:pPr>
              <a:spcAft>
                <a:spcPts val="1400"/>
              </a:spcAft>
            </a:pPr>
            <a:r>
              <a:rPr sz="2100">
                <a:solidFill>
                  <a:srgbClr val="2563EB"/>
                </a:solidFill>
                <a:latin typeface="Segoe UI"/>
              </a:rPr>
              <a:t>▪  </a:t>
            </a:r>
            <a:r>
              <a:rPr sz="2100">
                <a:solidFill>
                  <a:srgbClr val="111827"/>
                </a:solidFill>
                <a:latin typeface="Segoe UI"/>
              </a:rPr>
              <a:t>2026 Lab B ships a coordinator</a:t>
            </a:r>
          </a:p>
          <a:p>
            <a:pPr>
              <a:spcAft>
                <a:spcPts val="1400"/>
              </a:spcAft>
            </a:pPr>
            <a:r>
              <a:rPr sz="2100">
                <a:solidFill>
                  <a:srgbClr val="2563EB"/>
                </a:solidFill>
                <a:latin typeface="Segoe UI"/>
              </a:rPr>
              <a:t>▪  </a:t>
            </a:r>
            <a:r>
              <a:rPr sz="2100">
                <a:solidFill>
                  <a:srgbClr val="111827"/>
                </a:solidFill>
                <a:latin typeface="Segoe UI"/>
              </a:rPr>
              <a:t>2026 neutral research: at equal token budget, the advantage largely evaporates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vendor engineering posts — LINK-ONLY, paraphrased. Numbers stated as fact; no prose or figures reproduced.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paragraph that reframes everything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Three lines, large: "+90% over single-agent."</a:t>
            </a:r>
          </a:p>
          <a:p>
            <a:pPr>
              <a:spcAft>
                <a:spcPts val="1400"/>
              </a:spcAft>
            </a:pPr>
            <a:r>
              <a:rPr sz="2100">
                <a:solidFill>
                  <a:srgbClr val="2563EB"/>
                </a:solidFill>
                <a:latin typeface="Segoe UI"/>
              </a:rPr>
              <a:t>▪  </a:t>
            </a:r>
            <a:r>
              <a:rPr sz="2100">
                <a:solidFill>
                  <a:srgbClr val="111827"/>
                </a:solidFill>
                <a:latin typeface="Segoe UI"/>
              </a:rPr>
              <a:t>"Token usage alone explained ~80% of the variance."</a:t>
            </a:r>
          </a:p>
          <a:p>
            <a:pPr>
              <a:spcAft>
                <a:spcPts val="1400"/>
              </a:spcAft>
            </a:pPr>
            <a:r>
              <a:rPr sz="2100">
                <a:solidFill>
                  <a:srgbClr val="2563EB"/>
                </a:solidFill>
                <a:latin typeface="Segoe UI"/>
              </a:rPr>
              <a:t>▪  </a:t>
            </a:r>
            <a:r>
              <a:rPr sz="2100">
                <a:solidFill>
                  <a:srgbClr val="111827"/>
                </a:solidFill>
                <a:latin typeface="Segoe UI"/>
              </a:rPr>
              <a:t>"~15× the tokens." Then one question, largest: "Did the architecture win, or did 15× the spend win?"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figures attributed to the publishing lab; paraphrased, LINK-ONLY.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What both camps agree 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Two agreements: "Start simple."</a:t>
            </a:r>
          </a:p>
          <a:p>
            <a:pPr>
              <a:spcAft>
                <a:spcPts val="1400"/>
              </a:spcAft>
            </a:pPr>
            <a:r>
              <a:rPr sz="2100">
                <a:solidFill>
                  <a:srgbClr val="2563EB"/>
                </a:solidFill>
                <a:latin typeface="Segoe UI"/>
              </a:rPr>
              <a:t>▪  </a:t>
            </a:r>
            <a:r>
              <a:rPr sz="2100">
                <a:solidFill>
                  <a:srgbClr val="111827"/>
                </a:solidFill>
                <a:latin typeface="Segoe UI"/>
              </a:rPr>
              <a:t>"Context accumulates; focus degrades." One line beneath: when parties with opposite conclusions converge, that convergence is the strongest signal in the literature.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paraphrased, attributed by organisation. LINK-ONLY.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four questions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1. Equal token budget?</a:t>
            </a:r>
          </a:p>
          <a:p>
            <a:pPr>
              <a:spcAft>
                <a:spcPts val="1400"/>
              </a:spcAft>
            </a:pPr>
            <a:r>
              <a:rPr sz="2100">
                <a:solidFill>
                  <a:srgbClr val="2563EB"/>
                </a:solidFill>
                <a:latin typeface="Segoe UI"/>
              </a:rPr>
              <a:t>▪  </a:t>
            </a:r>
            <a:r>
              <a:rPr sz="2100">
                <a:solidFill>
                  <a:srgbClr val="111827"/>
                </a:solidFill>
                <a:latin typeface="Segoe UI"/>
              </a:rPr>
              <a:t>2. Cost per task?</a:t>
            </a:r>
          </a:p>
          <a:p>
            <a:pPr>
              <a:spcAft>
                <a:spcPts val="1400"/>
              </a:spcAft>
            </a:pPr>
            <a:r>
              <a:rPr sz="2100">
                <a:solidFill>
                  <a:srgbClr val="2563EB"/>
                </a:solidFill>
                <a:latin typeface="Segoe UI"/>
              </a:rPr>
              <a:t>▪  </a:t>
            </a:r>
            <a:r>
              <a:rPr sz="2100">
                <a:solidFill>
                  <a:srgbClr val="111827"/>
                </a:solidFill>
                <a:latin typeface="Segoe UI"/>
              </a:rPr>
              <a:t>3. Same harness, same eval set?</a:t>
            </a:r>
          </a:p>
          <a:p>
            <a:pPr>
              <a:spcAft>
                <a:spcPts val="1400"/>
              </a:spcAft>
            </a:pPr>
            <a:r>
              <a:rPr sz="2100">
                <a:solidFill>
                  <a:srgbClr val="2563EB"/>
                </a:solidFill>
                <a:latin typeface="Segoe UI"/>
              </a:rPr>
              <a:t>▪  </a:t>
            </a:r>
            <a:r>
              <a:rPr sz="2100">
                <a:solidFill>
                  <a:srgbClr val="111827"/>
                </a:solidFill>
                <a:latin typeface="Segoe UI"/>
              </a:rPr>
              <a:t>4. pass^k or pass^1?</a:t>
            </a:r>
          </a:p>
          <a:p>
            <a:pPr>
              <a:spcAft>
                <a:spcPts val="1400"/>
              </a:spcAft>
            </a:pPr>
            <a:r>
              <a:rPr sz="2100">
                <a:solidFill>
                  <a:srgbClr val="2563EB"/>
                </a:solidFill>
                <a:latin typeface="Segoe UI"/>
              </a:rPr>
              <a:t>▪  </a:t>
            </a:r>
            <a:r>
              <a:rPr sz="2100">
                <a:solidFill>
                  <a:srgbClr val="111827"/>
                </a:solidFill>
                <a:latin typeface="Segoe UI"/>
              </a:rPr>
              <a:t>Then the number: a 90% benchmark score ≈ 70% production reliability.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benchmark critique findings cited as fact; no figures reproduced.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Production: bound · trace · cost · test · gate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Five controls, one line each.</a:t>
            </a:r>
          </a:p>
          <a:p>
            <a:pPr>
              <a:spcAft>
                <a:spcPts val="1400"/>
              </a:spcAft>
            </a:pPr>
            <a:r>
              <a:rPr sz="2100">
                <a:solidFill>
                  <a:srgbClr val="2563EB"/>
                </a:solidFill>
                <a:latin typeface="Segoe UI"/>
              </a:rPr>
              <a:t>▪  </a:t>
            </a:r>
            <a:r>
              <a:rPr sz="2100">
                <a:solidFill>
                  <a:srgbClr val="111827"/>
                </a:solidFill>
                <a:latin typeface="Segoe UI"/>
              </a:rPr>
              <a:t>Bound — tools (read-only first, least privilege in code), loop (step/token/time/per-tool caps), consequences (staging, reversible).</a:t>
            </a:r>
          </a:p>
          <a:p>
            <a:pPr>
              <a:spcAft>
                <a:spcPts val="1400"/>
              </a:spcAft>
            </a:pPr>
            <a:r>
              <a:rPr sz="2100">
                <a:solidFill>
                  <a:srgbClr val="2563EB"/>
                </a:solidFill>
                <a:latin typeface="Segoe UI"/>
              </a:rPr>
              <a:t>▪  </a:t>
            </a:r>
            <a:r>
              <a:rPr sz="2100">
                <a:solidFill>
                  <a:srgbClr val="111827"/>
                </a:solidFill>
                <a:latin typeface="Segoe UI"/>
              </a:rPr>
              <a:t>Trace — every step, day one.</a:t>
            </a:r>
          </a:p>
          <a:p>
            <a:pPr>
              <a:spcAft>
                <a:spcPts val="1400"/>
              </a:spcAft>
            </a:pPr>
            <a:r>
              <a:rPr sz="2100">
                <a:solidFill>
                  <a:srgbClr val="2563EB"/>
                </a:solidFill>
                <a:latin typeface="Segoe UI"/>
              </a:rPr>
              <a:t>▪  </a:t>
            </a:r>
            <a:r>
              <a:rPr sz="2100">
                <a:solidFill>
                  <a:srgbClr val="111827"/>
                </a:solidFill>
                <a:latin typeface="Segoe UI"/>
              </a:rPr>
              <a:t>Cost — cache the stable prefix; latency is a tail.</a:t>
            </a:r>
          </a:p>
          <a:p>
            <a:pPr>
              <a:spcAft>
                <a:spcPts val="1400"/>
              </a:spcAft>
            </a:pPr>
            <a:r>
              <a:rPr sz="2100">
                <a:solidFill>
                  <a:srgbClr val="2563EB"/>
                </a:solidFill>
                <a:latin typeface="Segoe UI"/>
              </a:rPr>
              <a:t>▪  </a:t>
            </a:r>
            <a:r>
              <a:rPr sz="2100">
                <a:solidFill>
                  <a:srgbClr val="111827"/>
                </a:solidFill>
                <a:latin typeface="Segoe UI"/>
              </a:rPr>
              <a:t>Test — properties not trajectories; k runs; twenty real tasks.</a:t>
            </a:r>
          </a:p>
          <a:p>
            <a:pPr>
              <a:spcAft>
                <a:spcPts val="1400"/>
              </a:spcAft>
            </a:pPr>
            <a:r>
              <a:rPr sz="2100">
                <a:solidFill>
                  <a:srgbClr val="2563EB"/>
                </a:solidFill>
                <a:latin typeface="Segoe UI"/>
              </a:rPr>
              <a:t>▪  </a:t>
            </a:r>
            <a:r>
              <a:rPr sz="2100">
                <a:solidFill>
                  <a:srgbClr val="111827"/>
                </a:solidFill>
                <a:latin typeface="Segoe UI"/>
              </a:rPr>
              <a:t>Gate — qualified, blocking, checkable.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Cost per pattern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cost table, six rows: single call 1×</a:t>
            </a:r>
          </a:p>
          <a:p>
            <a:pPr>
              <a:spcAft>
                <a:spcPts val="1400"/>
              </a:spcAft>
            </a:pPr>
            <a:r>
              <a:rPr sz="2100">
                <a:solidFill>
                  <a:srgbClr val="2563EB"/>
                </a:solidFill>
                <a:latin typeface="Segoe UI"/>
              </a:rPr>
              <a:t>▪  </a:t>
            </a:r>
            <a:r>
              <a:rPr sz="2100">
                <a:solidFill>
                  <a:srgbClr val="111827"/>
                </a:solidFill>
                <a:latin typeface="Segoe UI"/>
              </a:rPr>
              <a:t>workflow (3 steps) ~3×</a:t>
            </a:r>
          </a:p>
          <a:p>
            <a:pPr>
              <a:spcAft>
                <a:spcPts val="1400"/>
              </a:spcAft>
            </a:pPr>
            <a:r>
              <a:rPr sz="2100">
                <a:solidFill>
                  <a:srgbClr val="2563EB"/>
                </a:solidFill>
                <a:latin typeface="Segoe UI"/>
              </a:rPr>
              <a:t>▪  </a:t>
            </a:r>
            <a:r>
              <a:rPr sz="2100">
                <a:solidFill>
                  <a:srgbClr val="111827"/>
                </a:solidFill>
                <a:latin typeface="Segoe UI"/>
              </a:rPr>
              <a:t>ReAct 8 steps ~13×</a:t>
            </a:r>
          </a:p>
          <a:p>
            <a:pPr>
              <a:spcAft>
                <a:spcPts val="1400"/>
              </a:spcAft>
            </a:pPr>
            <a:r>
              <a:rPr sz="2100">
                <a:solidFill>
                  <a:srgbClr val="2563EB"/>
                </a:solidFill>
                <a:latin typeface="Segoe UI"/>
              </a:rPr>
              <a:t>▪  </a:t>
            </a:r>
            <a:r>
              <a:rPr sz="2100">
                <a:solidFill>
                  <a:srgbClr val="111827"/>
                </a:solidFill>
                <a:latin typeface="Segoe UI"/>
              </a:rPr>
              <a:t>Plan &amp; Execute ~4×</a:t>
            </a:r>
          </a:p>
          <a:p>
            <a:pPr>
              <a:spcAft>
                <a:spcPts val="1400"/>
              </a:spcAft>
            </a:pPr>
            <a:r>
              <a:rPr sz="2100">
                <a:solidFill>
                  <a:srgbClr val="2563EB"/>
                </a:solidFill>
                <a:latin typeface="Segoe UI"/>
              </a:rPr>
              <a:t>▪  </a:t>
            </a:r>
            <a:r>
              <a:rPr sz="2100">
                <a:solidFill>
                  <a:srgbClr val="111827"/>
                </a:solidFill>
                <a:latin typeface="Segoe UI"/>
              </a:rPr>
              <a:t>ReAct + Reflection ~18×</a:t>
            </a:r>
          </a:p>
          <a:p>
            <a:pPr>
              <a:spcAft>
                <a:spcPts val="1400"/>
              </a:spcAft>
            </a:pPr>
            <a:r>
              <a:rPr sz="2100">
                <a:solidFill>
                  <a:srgbClr val="2563EB"/>
                </a:solidFill>
                <a:latin typeface="Segoe UI"/>
              </a:rPr>
              <a:t>▪  </a:t>
            </a:r>
            <a:r>
              <a:rPr sz="2100">
                <a:solidFill>
                  <a:srgbClr val="111827"/>
                </a:solidFill>
                <a:latin typeface="Segoe UI"/>
              </a:rPr>
              <a:t>multi-agent reported ~15×. Columns: calls, cost multiplier, latency, testability. Footer: illustrative ratios — recompute at delivery.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Failure modes, by name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Seven rows, symptom → control: looping</a:t>
            </a:r>
          </a:p>
          <a:p>
            <a:pPr>
              <a:spcAft>
                <a:spcPts val="1400"/>
              </a:spcAft>
            </a:pPr>
            <a:r>
              <a:rPr sz="2100">
                <a:solidFill>
                  <a:srgbClr val="2563EB"/>
                </a:solidFill>
                <a:latin typeface="Segoe UI"/>
              </a:rPr>
              <a:t>▪  </a:t>
            </a:r>
            <a:r>
              <a:rPr sz="2100">
                <a:solidFill>
                  <a:srgbClr val="111827"/>
                </a:solidFill>
                <a:latin typeface="Segoe UI"/>
              </a:rPr>
              <a:t>premature stop</a:t>
            </a:r>
          </a:p>
          <a:p>
            <a:pPr>
              <a:spcAft>
                <a:spcPts val="1400"/>
              </a:spcAft>
            </a:pPr>
            <a:r>
              <a:rPr sz="2100">
                <a:solidFill>
                  <a:srgbClr val="2563EB"/>
                </a:solidFill>
                <a:latin typeface="Segoe UI"/>
              </a:rPr>
              <a:t>▪  </a:t>
            </a:r>
            <a:r>
              <a:rPr sz="2100">
                <a:solidFill>
                  <a:srgbClr val="111827"/>
                </a:solidFill>
                <a:latin typeface="Segoe UI"/>
              </a:rPr>
              <a:t>tool thrash</a:t>
            </a:r>
          </a:p>
          <a:p>
            <a:pPr>
              <a:spcAft>
                <a:spcPts val="1400"/>
              </a:spcAft>
            </a:pPr>
            <a:r>
              <a:rPr sz="2100">
                <a:solidFill>
                  <a:srgbClr val="2563EB"/>
                </a:solidFill>
                <a:latin typeface="Segoe UI"/>
              </a:rPr>
              <a:t>▪  </a:t>
            </a:r>
            <a:r>
              <a:rPr sz="2100">
                <a:solidFill>
                  <a:srgbClr val="111827"/>
                </a:solidFill>
                <a:latin typeface="Segoe UI"/>
              </a:rPr>
              <a:t>silent tool failure</a:t>
            </a:r>
          </a:p>
          <a:p>
            <a:pPr>
              <a:spcAft>
                <a:spcPts val="1400"/>
              </a:spcAft>
            </a:pPr>
            <a:r>
              <a:rPr sz="2100">
                <a:solidFill>
                  <a:srgbClr val="2563EB"/>
                </a:solidFill>
                <a:latin typeface="Segoe UI"/>
              </a:rPr>
              <a:t>▪  </a:t>
            </a:r>
            <a:r>
              <a:rPr sz="2100">
                <a:solidFill>
                  <a:srgbClr val="111827"/>
                </a:solidFill>
                <a:latin typeface="Segoe UI"/>
              </a:rPr>
              <a:t>context poisoning</a:t>
            </a:r>
          </a:p>
          <a:p>
            <a:pPr>
              <a:spcAft>
                <a:spcPts val="1400"/>
              </a:spcAft>
            </a:pPr>
            <a:r>
              <a:rPr sz="2100">
                <a:solidFill>
                  <a:srgbClr val="2563EB"/>
                </a:solidFill>
                <a:latin typeface="Segoe UI"/>
              </a:rPr>
              <a:t>▪  </a:t>
            </a:r>
            <a:r>
              <a:rPr sz="2100">
                <a:solidFill>
                  <a:srgbClr val="111827"/>
                </a:solidFill>
                <a:latin typeface="Segoe UI"/>
              </a:rPr>
              <a:t>goal drift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Hand-off to Session 14</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"An agent is an API acting on model output." Beneath, four small lines: it reads content it did not author</a:t>
            </a:r>
          </a:p>
          <a:p>
            <a:pPr>
              <a:spcAft>
                <a:spcPts val="1400"/>
              </a:spcAft>
            </a:pPr>
            <a:r>
              <a:rPr sz="2100">
                <a:solidFill>
                  <a:srgbClr val="2563EB"/>
                </a:solidFill>
                <a:latin typeface="Segoe UI"/>
              </a:rPr>
              <a:t>▪  </a:t>
            </a:r>
            <a:r>
              <a:rPr sz="2100">
                <a:solidFill>
                  <a:srgbClr val="111827"/>
                </a:solidFill>
                <a:latin typeface="Segoe UI"/>
              </a:rPr>
              <a:t>it holds credentials and tools</a:t>
            </a:r>
          </a:p>
          <a:p>
            <a:pPr>
              <a:spcAft>
                <a:spcPts val="1400"/>
              </a:spcAft>
            </a:pPr>
            <a:r>
              <a:rPr sz="2100">
                <a:solidFill>
                  <a:srgbClr val="2563EB"/>
                </a:solidFill>
                <a:latin typeface="Segoe UI"/>
              </a:rPr>
              <a:t>▪  </a:t>
            </a:r>
            <a:r>
              <a:rPr sz="2100">
                <a:solidFill>
                  <a:srgbClr val="111827"/>
                </a:solidFill>
                <a:latin typeface="Segoe UI"/>
              </a:rPr>
              <a:t>it acts without a human between decision and consequence</a:t>
            </a:r>
          </a:p>
          <a:p>
            <a:pPr>
              <a:spcAft>
                <a:spcPts val="1400"/>
              </a:spcAft>
            </a:pPr>
            <a:r>
              <a:rPr sz="2100">
                <a:solidFill>
                  <a:srgbClr val="2563EB"/>
                </a:solidFill>
                <a:latin typeface="Segoe UI"/>
              </a:rPr>
              <a:t>▪  </a:t>
            </a:r>
            <a:r>
              <a:rPr sz="2100">
                <a:solidFill>
                  <a:srgbClr val="111827"/>
                </a:solidFill>
                <a:latin typeface="Segoe UI"/>
              </a:rPr>
              <a:t>one poisoned observation influences every later step. Footer: → Session 14.</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hazard framing paraphrased from the LLM-safety source deck — LINK-ONLY, attribute the framing.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 / Q&amp;A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Three seed prompts: "Name a task in your area someone has proposed automating with an agent. Walk it through the four gates."</a:t>
            </a:r>
          </a:p>
          <a:p>
            <a:pPr>
              <a:spcAft>
                <a:spcPts val="1400"/>
              </a:spcAft>
            </a:pPr>
            <a:r>
              <a:rPr sz="2100">
                <a:solidFill>
                  <a:srgbClr val="2563EB"/>
                </a:solidFill>
                <a:latin typeface="Segoe UI"/>
              </a:rPr>
              <a:t>▪  </a:t>
            </a:r>
            <a:r>
              <a:rPr sz="2100">
                <a:solidFill>
                  <a:srgbClr val="111827"/>
                </a:solidFill>
                <a:latin typeface="Segoe UI"/>
              </a:rPr>
              <a:t>"Where do we already have an API acting on model output — even without calling it an agent?"</a:t>
            </a:r>
          </a:p>
          <a:p>
            <a:pPr>
              <a:spcAft>
                <a:spcPts val="1400"/>
              </a:spcAft>
            </a:pPr>
            <a:r>
              <a:rPr sz="2100">
                <a:solidFill>
                  <a:srgbClr val="2563EB"/>
                </a:solidFill>
                <a:latin typeface="Segoe UI"/>
              </a:rPr>
              <a:t>▪  </a:t>
            </a:r>
            <a:r>
              <a:rPr sz="2100">
                <a:solidFill>
                  <a:srgbClr val="111827"/>
                </a:solidFill>
                <a:latin typeface="Segoe UI"/>
              </a:rPr>
              <a:t>"What would a qualified gate look like for that, and who staffs it?"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Build from these: Hugging Face AI Agents Course + smolagents (Apache-2.0)</a:t>
            </a:r>
          </a:p>
          <a:p>
            <a:pPr>
              <a:spcAft>
                <a:spcPts val="1400"/>
              </a:spcAft>
            </a:pPr>
            <a:r>
              <a:rPr sz="2100">
                <a:solidFill>
                  <a:srgbClr val="2563EB"/>
                </a:solidFill>
                <a:latin typeface="Segoe UI"/>
              </a:rPr>
              <a:t>▪  </a:t>
            </a:r>
            <a:r>
              <a:rPr sz="2100">
                <a:solidFill>
                  <a:srgbClr val="111827"/>
                </a:solidFill>
                <a:latin typeface="Segoe UI"/>
              </a:rPr>
              <a:t>Model Context Protocol specification (open standard)</a:t>
            </a:r>
          </a:p>
          <a:p>
            <a:pPr>
              <a:spcAft>
                <a:spcPts val="1400"/>
              </a:spcAft>
            </a:pPr>
            <a:r>
              <a:rPr sz="2100">
                <a:solidFill>
                  <a:srgbClr val="2563EB"/>
                </a:solidFill>
                <a:latin typeface="Segoe UI"/>
              </a:rPr>
              <a:t>▪  </a:t>
            </a:r>
            <a:r>
              <a:rPr sz="2100">
                <a:solidFill>
                  <a:srgbClr val="111827"/>
                </a:solidFill>
                <a:latin typeface="Segoe UI"/>
              </a:rPr>
              <a:t>Anthropic Python SDK (MIT)</a:t>
            </a:r>
          </a:p>
          <a:p>
            <a:pPr>
              <a:spcAft>
                <a:spcPts val="1400"/>
              </a:spcAft>
            </a:pPr>
            <a:r>
              <a:rPr sz="2100">
                <a:solidFill>
                  <a:srgbClr val="2563EB"/>
                </a:solidFill>
                <a:latin typeface="Segoe UI"/>
              </a:rPr>
              <a:t>▪  </a:t>
            </a:r>
            <a:r>
              <a:rPr sz="2100">
                <a:solidFill>
                  <a:srgbClr val="111827"/>
                </a:solidFill>
                <a:latin typeface="Segoe UI"/>
              </a:rPr>
              <a:t>this course's own materials. Read, don't copy: Anthropic's Building Effective Agents and its engineering posts</a:t>
            </a:r>
          </a:p>
          <a:p>
            <a:pPr>
              <a:spcAft>
                <a:spcPts val="1400"/>
              </a:spcAft>
            </a:pPr>
            <a:r>
              <a:rPr sz="2100">
                <a:solidFill>
                  <a:srgbClr val="2563EB"/>
                </a:solidFill>
                <a:latin typeface="Segoe UI"/>
              </a:rPr>
              <a:t>▪  </a:t>
            </a:r>
            <a:r>
              <a:rPr sz="2100">
                <a:solidFill>
                  <a:srgbClr val="111827"/>
                </a:solidFill>
                <a:latin typeface="Segoe UI"/>
              </a:rPr>
              <a:t>Cognition's multi-agent essays</a:t>
            </a:r>
          </a:p>
          <a:p>
            <a:pPr>
              <a:spcAft>
                <a:spcPts val="1400"/>
              </a:spcAft>
            </a:pPr>
            <a:r>
              <a:rPr sz="2100">
                <a:solidFill>
                  <a:srgbClr val="2563EB"/>
                </a:solidFill>
                <a:latin typeface="Segoe UI"/>
              </a:rPr>
              <a:t>▪  </a:t>
            </a:r>
            <a:r>
              <a:rPr sz="2100">
                <a:solidFill>
                  <a:srgbClr val="111827"/>
                </a:solidFill>
                <a:latin typeface="Segoe UI"/>
              </a:rPr>
              <a:t>agent-scaling research</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12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attributions as listed in resources/sources.md. --- ## Per-deck checklist (in addition to ../../powerpoin…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