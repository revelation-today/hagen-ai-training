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no maths, no code, no jargon left undefined. By the end you'll understand what these tools are, why they sometimes lie, and how to get good results. One promise: you'll leave with a single mental model that makes the rest make sense.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beats, each builds on the last. Flag that beat three — why it makes things up — is the one that changes how you use these tools; beats four and five are the practical payoff; beat six is where the field is heading and was specifically asked for. Keep the pace up — this is 30 minutes, not 45.</a:t>
            </a:r>
          </a:p>
          <a:p/>
          <a:p>
            <a:r>
              <a:t>--- Mermaid source 1 (render and place on the diagram box) ---</a:t>
            </a:r>
          </a:p>
          <a:p>
            <a:r>
              <a:t>flowchart LR</a:t>
            </a:r>
          </a:p>
          <a:p>
            <a:r>
              <a:t>    A["What AI is"] --&gt; B["How it works"] --&gt; C["Why it lies"] --&gt; D["Working with it"] --&gt; E["Good prompts"] --&gt; F["Agents &amp; skills"]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of hands, take one 20-second story. Land the point gently: the memory felt true. That inability to feel your own error is the best intuition for how AI works and fails — we'll come back to it. This is the emotional anchor of the whole talk; don't rush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idea in one flip. Classical software applies rules a human wrote. Machine learning is handed the data and the answers and works out the rules itself. Those "rules" are a pile of numbers we call a model. Everything else today is a consequence of this.</a:t>
            </a:r>
          </a:p>
          <a:p/>
          <a:p>
            <a:r>
              <a:t>--- Mermaid source 1 (render and place on the diagram box) ---</a:t>
            </a:r>
          </a:p>
          <a:p>
            <a:r>
              <a:t>flowchart LR</a:t>
            </a:r>
          </a:p>
          <a:p>
            <a:r>
              <a:t>    subgraph CL["Classical software"]</a:t>
            </a:r>
          </a:p>
          <a:p>
            <a:r>
              <a:t>      D1["Data"] --&gt; P1["Rules a human wrote"] --&gt; A1["Answer"]</a:t>
            </a:r>
          </a:p>
          <a:p>
            <a:r>
              <a:t>    end</a:t>
            </a:r>
          </a:p>
          <a:p>
            <a:r>
              <a:t>    subgraph ML["Machine learning"]</a:t>
            </a:r>
          </a:p>
          <a:p>
            <a:r>
              <a:t>      D2["Data"] --&gt; P2["Learning algorithm"]</a:t>
            </a:r>
          </a:p>
          <a:p>
            <a:r>
              <a:t>      A2["Answers (labelled)"] --&gt; P2 --&gt; R2["Rules = a model"]</a:t>
            </a:r>
          </a:p>
          <a:p>
            <a:r>
              <a:t>    end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cat/dog impossibility is the intuition pump. This is the whole reason machine learning exists: problems where examples are plentiful but rules can't be spelled out. Contrast with a tax calculation, where the rules are known and you'd never use AI.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 up the vocabulary once. These are nested, not synonyms. When a vendor says "AI," ask which layer they mean. The tools this room touches — ChatGPT, Claude, Copilot — are all LLMs, so that's our focus from here.</a:t>
            </a:r>
          </a:p>
          <a:p/>
          <a:p>
            <a:r>
              <a:t>--- Mermaid source 1 (render and place on the diagram box) ---</a:t>
            </a:r>
          </a:p>
          <a:p>
            <a:r>
              <a:t>flowchart TD</a:t>
            </a:r>
          </a:p>
          <a:p>
            <a:r>
              <a:t>    AI["Artificial Intelligence"] --&gt; ML["Machine Learning"] --&gt; DL["Deep Learning"] --&gt; LLM["Large Language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talk. The model learned by covering the next word and guessing, over and over, on a huge amount of text. When you ask it something, it isn't consulting a database — it's producing the most plausible next chunk of text, one piece at a time. Say the phrase and make them remember it: autocomplete on steroids.</a:t>
            </a:r>
          </a:p>
          <a:p/>
          <a:p>
            <a:r>
              <a:t>--- Mermaid source 1 (render and place on the diagram box) ---</a:t>
            </a:r>
          </a:p>
          <a:p>
            <a:r>
              <a:t>flowchart LR</a:t>
            </a:r>
          </a:p>
          <a:p>
            <a:r>
              <a:t>    P["Your prompt"] --&gt; M["Predict most likely next token"] --&gt; T["Append"] --&gt; M</a:t>
            </a:r>
          </a:p>
          <a:p>
            <a:r>
              <a:t>    T --&gt; O["...until done"]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Drive home the distinction — it's the root of everything in the next section. It doesn't retrieve; it reconstructs. Correct facts appear because true statements dominate the training text, not because it's checking anything. Mention tokens briefly: how it reads, writes, and how the paid APIs bill. Optional: temperature as the randomness dial.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for anyone who'll rely on these tools. The model's job is a plausible continuation. Where the pattern is well-covered, plausible is usually also true. Where it's thin — a niche fact, a specific number, something recent — it still produces a confident, fluent answer with nothing solid underneath. This will not be "fixed"; it's structural. It can only be managed.</a:t>
            </a:r>
          </a:p>
          <a:p/>
          <a:p>
            <a:r>
              <a:t>--- Mermaid source 1 (render and place on the diagram box) ---</a:t>
            </a:r>
          </a:p>
          <a:p>
            <a:r>
              <a:t>flowchart LR</a:t>
            </a:r>
          </a:p>
          <a:p>
            <a:r>
              <a:t>    P["Prompt"] --&gt; R{"Well covered by&lt;br/&gt;training data?"}</a:t>
            </a:r>
          </a:p>
          <a:p>
            <a:r>
              <a:t>    R --&gt;|"Yes — dense"| G["Fluent, usually correct"]</a:t>
            </a:r>
          </a:p>
          <a:p>
            <a:r>
              <a:t>    R --&gt;|"No — sparse"| H["Fluent, possibly invented"]</a:t>
            </a:r>
          </a:p>
          <a:p>
            <a:r>
              <a:t>    G --&gt; S["Identical confidence.&lt;br/&gt;No warning label."]</a:t>
            </a:r>
          </a:p>
          <a:p>
            <a:r>
              <a:t>    H --&gt;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Callback to the opening. Your brain hands you a false memory feeling certain; the model hands you an invented fact feeling fluent — same mechanism, pattern-completion ahead of evidence. When it's about facts we call it hallucination; about people, bias. The practical line: confidence is free, verification is your job.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useful rule in the talk. Verifiable, or truth-irrelevant — those are the safe zones. The danger zone is an unverifiable answer that has to be right. The habit that follows: a human who can actually judge the result stays in the loop. A plausible answer in a field you don't know is the most dangerous kind.</a:t>
            </a:r>
          </a:p>
          <a:p/>
          <a:p>
            <a:r>
              <a:t>--- Mermaid source 1 (render and place on the diagram box) ---</a:t>
            </a:r>
          </a:p>
          <a:p>
            <a:r>
              <a:t>flowchart TD</a:t>
            </a:r>
          </a:p>
          <a:p>
            <a:r>
              <a:t>    Q{"Can you easily&lt;br/&gt;verify it?"}</a:t>
            </a:r>
          </a:p>
          <a:p>
            <a:r>
              <a:t>    Q --&gt;|Yes| OK["Good use"]</a:t>
            </a:r>
          </a:p>
          <a:p>
            <a:r>
              <a:t>    Q --&gt;|No| Q2{"Does truth&lt;br/&gt;matter here?"}</a:t>
            </a:r>
          </a:p>
          <a:p>
            <a:r>
              <a:t>    Q2 --&gt;|No| OK2["Fine — truth isn't the point"]</a:t>
            </a:r>
          </a:p>
          <a:p>
            <a:r>
              <a:t>    Q2 --&gt;|Yes| D["Danger — need an expert&lt;br/&gt;or a grounded source"]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Ask the model for a biography of a colleague (or yourself) who isn't famous. It will produce fluent, specific, confident, largely fabricated detail. Nothing lands "confident and wrong look identical" harder than watching it happen live. Fallback if no network: a pre-captured screenshot. Keep it light — the point is visceral, not a gotcha.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Reframe prompting as briefing, not incantation. The model is capable but knows nothing about your specific situation, so you supply that. Walk the five parts once. Emphasise that the biggest lever, by far, is specificity plus giving it the actual source material to work from.</a:t>
            </a:r>
          </a:p>
          <a:p/>
          <a:p>
            <a:r>
              <a:t>--- Mermaid source 1 (render and place on the diagram box) ---</a:t>
            </a:r>
          </a:p>
          <a:p>
            <a:r>
              <a:t>flowchart TD</a:t>
            </a:r>
          </a:p>
          <a:p>
            <a:r>
              <a:t>    R["Role"] --&gt; T["Task — one clear ask"] --&gt; C["Context + source material"] --&gt; F["Format"] --&gt; E["Example (if shape matters)"]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money slide for the prompting section. Read both aloud. The "after" wins on specificity, real source material (which makes the output checkable), and an explicit "don't invent" instruction. It quietly demonstrates the safety habits too. Then the honest anti-pattern: there is no magic phrase — "act as a world-class expert" does far less than one concrete example.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"where it's going" slide, and it was flagged as important — give it real weight. An agent doesn't just reply; it uses tools in a Think–Act–Observe loop until the job is done. A skill is a written procedure the model reuses, so it is consistent and expert at YOUR tasks rather than generically capable. Walk the prompt→skill→agent ladder. Then the safety line, which is the whole point: a wrong chatbot answer is an embarrassment you catch on reading; a wrong answer from an agent that already filed the ticket or ran the command is an incident. Start narrow, keep a human gate. The full course goes deep — Sessions 11 (skills, MCP, working with Claude) and 12 (agents).</a:t>
            </a:r>
          </a:p>
          <a:p/>
          <a:p>
            <a:r>
              <a:t>--- Mermaid source 1 (render and place on the diagram box) ---</a:t>
            </a:r>
          </a:p>
          <a:p>
            <a:r>
              <a:t>flowchart LR</a:t>
            </a:r>
          </a:p>
          <a:p>
            <a:r>
              <a:t>    P["Prompt&lt;br/&gt;one-off instruction"] --&gt; S["Skill&lt;br/&gt;saved reusable procedure"] --&gt; A["Agent&lt;br/&gt;acts with tools in a loop"]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 arc. Then the one sentence to leave in the room: an LLM is a fluent, confident, sometimes-wrong assistant — brilliant when you can check its work, dangerous when you can't. Treat it accordingly, especially once you let it act. Point to the full course for anyone who wants more.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Common questions to expect: is our data safe to paste (depends — treat as external), will it replace jobs (see Session 15), which tool is best (they're similar; the skill transfers), can it just do the task for me (that's agents — Session 12). Point to the glossary and the full series.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nchor="t">
            <a:spAutoFit/>
          </a:bodyPr>
          <a:lstStyle/>
          <a:p>
            <a:pPr algn="l">
              <a:spcAft>
                <a:spcPts val="1000"/>
              </a:spcAft>
            </a:pPr>
            <a:r>
              <a:rPr sz="4000" b="1">
                <a:solidFill>
                  <a:srgbClr val="1F2A37"/>
                </a:solidFill>
                <a:latin typeface="Segoe UI"/>
              </a:rPr>
              <a:t>AI in 30 Minutes</a:t>
            </a:r>
          </a:p>
        </p:txBody>
      </p:sp>
      <p:sp>
        <p:nvSpPr>
          <p:cNvPr id="3" name="Rectangle 2"/>
          <p:cNvSpPr/>
          <p:nvPr/>
        </p:nvSpPr>
        <p:spPr>
          <a:xfrm>
            <a:off x="822960" y="3703320"/>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977639"/>
            <a:ext cx="10515600" cy="822960"/>
          </a:xfrm>
          <a:prstGeom prst="rect">
            <a:avLst/>
          </a:prstGeom>
          <a:noFill/>
        </p:spPr>
        <p:txBody>
          <a:bodyPr wrap="square" anchor="t">
            <a:spAutoFit/>
          </a:bodyPr>
          <a:lstStyle/>
          <a:p>
            <a:pPr algn="l">
              <a:spcAft>
                <a:spcPts val="1000"/>
              </a:spcAft>
            </a:pPr>
            <a:r>
              <a:rPr sz="1700" b="0">
                <a:solidFill>
                  <a:srgbClr val="6B7280"/>
                </a:solidFill>
                <a:latin typeface="Segoe UI"/>
              </a:rPr>
              <a:t>Standalone intro talk</a:t>
            </a:r>
          </a:p>
          <a:p>
            <a:pPr algn="l">
              <a:spcAft>
                <a:spcPts val="1000"/>
              </a:spcAft>
            </a:pPr>
            <a:r>
              <a:rPr sz="1700" b="0">
                <a:solidFill>
                  <a:srgbClr val="6B7280"/>
                </a:solidFill>
                <a:latin typeface="Segoe UI"/>
              </a:rPr>
              <a:t>AI Training Series  ·  ~30 min + Q&amp;A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What we'll cover</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4937760" cy="4206240"/>
          </a:xfrm>
          <a:prstGeom prst="rect">
            <a:avLst/>
          </a:prstGeom>
          <a:noFill/>
        </p:spPr>
        <p:txBody>
          <a:bodyPr wrap="square">
            <a:spAutoFit/>
          </a:bodyPr>
          <a:lstStyle/>
          <a:p>
            <a:pPr>
              <a:spcAft>
                <a:spcPts val="1400"/>
              </a:spcAft>
            </a:pPr>
            <a:r>
              <a:rPr sz="1700">
                <a:solidFill>
                  <a:srgbClr val="2563EB"/>
                </a:solidFill>
                <a:latin typeface="Segoe UI"/>
              </a:rPr>
              <a:t>▪  </a:t>
            </a:r>
            <a:r>
              <a:rPr sz="1700">
                <a:solidFill>
                  <a:srgbClr val="111827"/>
                </a:solidFill>
                <a:latin typeface="Segoe UI"/>
              </a:rPr>
              <a:t>What AI is</a:t>
            </a:r>
          </a:p>
          <a:p>
            <a:pPr>
              <a:spcAft>
                <a:spcPts val="1400"/>
              </a:spcAft>
            </a:pPr>
            <a:r>
              <a:rPr sz="1700">
                <a:solidFill>
                  <a:srgbClr val="2563EB"/>
                </a:solidFill>
                <a:latin typeface="Segoe UI"/>
              </a:rPr>
              <a:t>▪  </a:t>
            </a:r>
            <a:r>
              <a:rPr sz="1700">
                <a:solidFill>
                  <a:srgbClr val="111827"/>
                </a:solidFill>
                <a:latin typeface="Segoe UI"/>
              </a:rPr>
              <a:t>How it basically works</a:t>
            </a:r>
          </a:p>
          <a:p>
            <a:pPr>
              <a:spcAft>
                <a:spcPts val="1400"/>
              </a:spcAft>
            </a:pPr>
            <a:r>
              <a:rPr sz="1700">
                <a:solidFill>
                  <a:srgbClr val="2563EB"/>
                </a:solidFill>
                <a:latin typeface="Segoe UI"/>
              </a:rPr>
              <a:t>▪  </a:t>
            </a:r>
            <a:r>
              <a:rPr sz="1700">
                <a:solidFill>
                  <a:srgbClr val="111827"/>
                </a:solidFill>
                <a:latin typeface="Segoe UI"/>
              </a:rPr>
              <a:t>Why it makes things up</a:t>
            </a:r>
          </a:p>
          <a:p>
            <a:pPr>
              <a:spcAft>
                <a:spcPts val="1400"/>
              </a:spcAft>
            </a:pPr>
            <a:r>
              <a:rPr sz="1700">
                <a:solidFill>
                  <a:srgbClr val="2563EB"/>
                </a:solidFill>
                <a:latin typeface="Segoe UI"/>
              </a:rPr>
              <a:t>▪  </a:t>
            </a:r>
            <a:r>
              <a:rPr sz="1700">
                <a:solidFill>
                  <a:srgbClr val="111827"/>
                </a:solidFill>
                <a:latin typeface="Segoe UI"/>
              </a:rPr>
              <a:t>How to work with it</a:t>
            </a:r>
          </a:p>
          <a:p>
            <a:pPr>
              <a:spcAft>
                <a:spcPts val="1400"/>
              </a:spcAft>
            </a:pPr>
            <a:r>
              <a:rPr sz="1700">
                <a:solidFill>
                  <a:srgbClr val="2563EB"/>
                </a:solidFill>
                <a:latin typeface="Segoe UI"/>
              </a:rPr>
              <a:t>▪  </a:t>
            </a:r>
            <a:r>
              <a:rPr sz="1700">
                <a:solidFill>
                  <a:srgbClr val="111827"/>
                </a:solidFill>
                <a:latin typeface="Segoe UI"/>
              </a:rPr>
              <a:t>Good prompts</a:t>
            </a:r>
          </a:p>
          <a:p>
            <a:pPr>
              <a:spcAft>
                <a:spcPts val="1400"/>
              </a:spcAft>
            </a:pPr>
            <a:r>
              <a:rPr sz="1700">
                <a:solidFill>
                  <a:srgbClr val="2563EB"/>
                </a:solidFill>
                <a:latin typeface="Segoe UI"/>
              </a:rPr>
              <a:t>▪  </a:t>
            </a:r>
            <a:r>
              <a:rPr sz="1700">
                <a:solidFill>
                  <a:srgbClr val="111827"/>
                </a:solidFill>
                <a:latin typeface="Segoe UI"/>
              </a:rPr>
              <a:t>Agents &amp; skills (what's next)</a:t>
            </a:r>
          </a:p>
        </p:txBody>
      </p:sp>
      <p:sp>
        <p:nvSpPr>
          <p:cNvPr id="5" name="Rounded Rectangle 4" descr="Diagram: What we'll cover"/>
          <p:cNvSpPr/>
          <p:nvPr/>
        </p:nvSpPr>
        <p:spPr>
          <a:xfrm>
            <a:off x="5943600" y="1554480"/>
            <a:ext cx="5577840" cy="3840480"/>
          </a:xfrm>
          <a:prstGeom prst="roundRect">
            <a:avLst/>
          </a:prstGeom>
          <a:solidFill>
            <a:srgbClr val="F3F4F6"/>
          </a:solidFill>
          <a:ln w="127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6B7280"/>
                </a:solidFill>
                <a:latin typeface="Segoe UI"/>
              </a:rPr>
              <a:t>DIAGRAM — render from Mermaid source (in speaker notes)</a:t>
            </a:r>
          </a:p>
          <a:p>
            <a:pPr algn="ctr"/>
            <a:r>
              <a:rPr sz="1500">
                <a:solidFill>
                  <a:srgbClr val="1F2A37"/>
                </a:solidFill>
                <a:latin typeface="Segoe UI"/>
              </a:rPr>
              <a:t>What AI is  →  How it works  →  Why it lies  →  Working with it  →  Good prompts  →  Agents &amp; skills</a:t>
            </a:r>
          </a:p>
        </p:txBody>
      </p:sp>
      <p:sp>
        <p:nvSpPr>
          <p:cNvPr id="6" name="TextBox 5"/>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You have been confidently, vividly wrong</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023360"/>
          </a:xfrm>
          <a:prstGeom prst="rect">
            <a:avLst/>
          </a:prstGeom>
          <a:noFill/>
        </p:spPr>
        <p:txBody>
          <a:bodyPr wrap="square">
            <a:spAutoFit/>
          </a:bodyPr>
          <a:lstStyle/>
          <a:p>
            <a:pPr>
              <a:spcAft>
                <a:spcPts val="1400"/>
              </a:spcAft>
            </a:pPr>
            <a:r>
              <a:rPr sz="2100">
                <a:solidFill>
                  <a:srgbClr val="2563EB"/>
                </a:solidFill>
                <a:latin typeface="Segoe UI"/>
              </a:rPr>
              <a:t>▪  </a:t>
            </a:r>
            <a:r>
              <a:rPr sz="2100">
                <a:solidFill>
                  <a:srgbClr val="111827"/>
                </a:solidFill>
                <a:latin typeface="Segoe UI"/>
              </a:rPr>
              <a:t>"Ever remembered something vividly — and been completely wrong?"</a:t>
            </a:r>
          </a:p>
          <a:p>
            <a:pPr>
              <a:spcAft>
                <a:spcPts val="1400"/>
              </a:spcAft>
            </a:pPr>
            <a:r>
              <a:rPr sz="2100">
                <a:solidFill>
                  <a:srgbClr val="2563EB"/>
                </a:solidFill>
                <a:latin typeface="Segoe UI"/>
              </a:rPr>
              <a:t>▪  </a:t>
            </a:r>
            <a:r>
              <a:rPr sz="2100">
                <a:solidFill>
                  <a:srgbClr val="111827"/>
                </a:solidFill>
                <a:latin typeface="Segoe UI"/>
              </a:rPr>
              <a:t>It didn't feel like a guess</a:t>
            </a:r>
          </a:p>
          <a:p>
            <a:pPr>
              <a:spcAft>
                <a:spcPts val="1400"/>
              </a:spcAft>
            </a:pPr>
            <a:r>
              <a:rPr sz="2100">
                <a:solidFill>
                  <a:srgbClr val="2563EB"/>
                </a:solidFill>
                <a:latin typeface="Segoe UI"/>
              </a:rPr>
              <a:t>▪  </a:t>
            </a:r>
            <a:r>
              <a:rPr sz="2100">
                <a:solidFill>
                  <a:srgbClr val="111827"/>
                </a:solidFill>
                <a:latin typeface="Segoe UI"/>
              </a:rPr>
              <a:t>You couldn't tell from the inside</a:t>
            </a:r>
          </a:p>
        </p:txBody>
      </p:sp>
      <p:sp>
        <p:nvSpPr>
          <p:cNvPr id="5" name="TextBox 4"/>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AI turns programming inside out</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4937760" cy="4206240"/>
          </a:xfrm>
          <a:prstGeom prst="rect">
            <a:avLst/>
          </a:prstGeom>
          <a:noFill/>
        </p:spPr>
        <p:txBody>
          <a:bodyPr wrap="square">
            <a:spAutoFit/>
          </a:bodyPr>
          <a:lstStyle/>
          <a:p>
            <a:pPr>
              <a:spcAft>
                <a:spcPts val="1400"/>
              </a:spcAft>
            </a:pPr>
            <a:r>
              <a:rPr sz="1700">
                <a:solidFill>
                  <a:srgbClr val="2563EB"/>
                </a:solidFill>
                <a:latin typeface="Segoe UI"/>
              </a:rPr>
              <a:t>▪  </a:t>
            </a:r>
            <a:r>
              <a:rPr sz="1700">
                <a:solidFill>
                  <a:srgbClr val="111827"/>
                </a:solidFill>
                <a:latin typeface="Segoe UI"/>
              </a:rPr>
              <a:t>Classical software: data + rules → answers</a:t>
            </a:r>
          </a:p>
          <a:p>
            <a:pPr>
              <a:spcAft>
                <a:spcPts val="1400"/>
              </a:spcAft>
            </a:pPr>
            <a:r>
              <a:rPr sz="1700">
                <a:solidFill>
                  <a:srgbClr val="2563EB"/>
                </a:solidFill>
                <a:latin typeface="Segoe UI"/>
              </a:rPr>
              <a:t>▪  </a:t>
            </a:r>
            <a:r>
              <a:rPr sz="1700">
                <a:solidFill>
                  <a:srgbClr val="111827"/>
                </a:solidFill>
                <a:latin typeface="Segoe UI"/>
              </a:rPr>
              <a:t>Machine learning: data + answers → rules</a:t>
            </a:r>
          </a:p>
          <a:p>
            <a:pPr>
              <a:spcAft>
                <a:spcPts val="1400"/>
              </a:spcAft>
            </a:pPr>
            <a:r>
              <a:rPr sz="1700">
                <a:solidFill>
                  <a:srgbClr val="2563EB"/>
                </a:solidFill>
                <a:latin typeface="Segoe UI"/>
              </a:rPr>
              <a:t>▪  </a:t>
            </a:r>
            <a:r>
              <a:rPr sz="1700">
                <a:solidFill>
                  <a:srgbClr val="111827"/>
                </a:solidFill>
                <a:latin typeface="Segoe UI"/>
              </a:rPr>
              <a:t>Nobody writes the rule — the machine infers it</a:t>
            </a:r>
          </a:p>
        </p:txBody>
      </p:sp>
      <p:sp>
        <p:nvSpPr>
          <p:cNvPr id="5" name="Rounded Rectangle 4" descr="Diagram: AI turns programming inside out"/>
          <p:cNvSpPr/>
          <p:nvPr/>
        </p:nvSpPr>
        <p:spPr>
          <a:xfrm>
            <a:off x="5943600" y="1554480"/>
            <a:ext cx="5577840" cy="3840480"/>
          </a:xfrm>
          <a:prstGeom prst="roundRect">
            <a:avLst/>
          </a:prstGeom>
          <a:solidFill>
            <a:srgbClr val="F3F4F6"/>
          </a:solidFill>
          <a:ln w="127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6B7280"/>
                </a:solidFill>
                <a:latin typeface="Segoe UI"/>
              </a:rPr>
              <a:t>DIAGRAM — render from Mermaid source (in speaker notes)</a:t>
            </a:r>
          </a:p>
          <a:p>
            <a:pPr algn="ctr"/>
            <a:r>
              <a:rPr sz="1500">
                <a:solidFill>
                  <a:srgbClr val="1F2A37"/>
                </a:solidFill>
                <a:latin typeface="Segoe UI"/>
              </a:rPr>
              <a:t>Classical software  →  Data  →  Rules a human wrote  →  Answer  →  Machine learning  →  Data</a:t>
            </a:r>
          </a:p>
        </p:txBody>
      </p:sp>
      <p:sp>
        <p:nvSpPr>
          <p:cNvPr id="6" name="TextBox 5"/>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Some rules can't be written, so we learn them</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023360"/>
          </a:xfrm>
          <a:prstGeom prst="rect">
            <a:avLst/>
          </a:prstGeom>
          <a:noFill/>
        </p:spPr>
        <p:txBody>
          <a:bodyPr wrap="square">
            <a:spAutoFit/>
          </a:bodyPr>
          <a:lstStyle/>
          <a:p>
            <a:pPr>
              <a:spcAft>
                <a:spcPts val="1400"/>
              </a:spcAft>
            </a:pPr>
            <a:r>
              <a:rPr sz="2100">
                <a:solidFill>
                  <a:srgbClr val="2563EB"/>
                </a:solidFill>
                <a:latin typeface="Segoe UI"/>
              </a:rPr>
              <a:t>▪  </a:t>
            </a:r>
            <a:r>
              <a:rPr sz="2100">
                <a:solidFill>
                  <a:srgbClr val="111827"/>
                </a:solidFill>
                <a:latin typeface="Segoe UI"/>
              </a:rPr>
              <a:t>Write the exact rule for "cat or dog in a photo."</a:t>
            </a:r>
          </a:p>
          <a:p>
            <a:pPr>
              <a:spcAft>
                <a:spcPts val="1400"/>
              </a:spcAft>
            </a:pPr>
            <a:r>
              <a:rPr sz="2100">
                <a:solidFill>
                  <a:srgbClr val="2563EB"/>
                </a:solidFill>
                <a:latin typeface="Segoe UI"/>
              </a:rPr>
              <a:t>▪  </a:t>
            </a:r>
            <a:r>
              <a:rPr sz="2100">
                <a:solidFill>
                  <a:srgbClr val="111827"/>
                </a:solidFill>
                <a:latin typeface="Segoe UI"/>
              </a:rPr>
              <a:t>You can't. A three-year-old can</a:t>
            </a:r>
          </a:p>
          <a:p>
            <a:pPr>
              <a:spcAft>
                <a:spcPts val="1400"/>
              </a:spcAft>
            </a:pPr>
            <a:r>
              <a:rPr sz="2100">
                <a:solidFill>
                  <a:srgbClr val="2563EB"/>
                </a:solidFill>
                <a:latin typeface="Segoe UI"/>
              </a:rPr>
              <a:t>▪  </a:t>
            </a:r>
            <a:r>
              <a:rPr sz="2100">
                <a:solidFill>
                  <a:srgbClr val="111827"/>
                </a:solidFill>
                <a:latin typeface="Segoe UI"/>
              </a:rPr>
              <a:t>Fuzzy, perceptual tasks → learn from examples</a:t>
            </a:r>
          </a:p>
        </p:txBody>
      </p:sp>
      <p:sp>
        <p:nvSpPr>
          <p:cNvPr id="5" name="TextBox 4"/>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Four words, nested — not the same thing</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4937760" cy="4206240"/>
          </a:xfrm>
          <a:prstGeom prst="rect">
            <a:avLst/>
          </a:prstGeom>
          <a:noFill/>
        </p:spPr>
        <p:txBody>
          <a:bodyPr wrap="square">
            <a:spAutoFit/>
          </a:bodyPr>
          <a:lstStyle/>
          <a:p>
            <a:pPr>
              <a:spcAft>
                <a:spcPts val="1400"/>
              </a:spcAft>
            </a:pPr>
            <a:r>
              <a:rPr sz="1700">
                <a:solidFill>
                  <a:srgbClr val="2563EB"/>
                </a:solidFill>
                <a:latin typeface="Segoe UI"/>
              </a:rPr>
              <a:t>▪  </a:t>
            </a:r>
            <a:r>
              <a:rPr sz="1700">
                <a:solidFill>
                  <a:srgbClr val="111827"/>
                </a:solidFill>
                <a:latin typeface="Segoe UI"/>
              </a:rPr>
              <a:t>AI ⊃ Machine Learning ⊃ Deep Learning ⊃ LLM</a:t>
            </a:r>
          </a:p>
          <a:p>
            <a:pPr>
              <a:spcAft>
                <a:spcPts val="1400"/>
              </a:spcAft>
            </a:pPr>
            <a:r>
              <a:rPr sz="1700">
                <a:solidFill>
                  <a:srgbClr val="2563EB"/>
                </a:solidFill>
                <a:latin typeface="Segoe UI"/>
              </a:rPr>
              <a:t>▪  </a:t>
            </a:r>
            <a:r>
              <a:rPr sz="1700">
                <a:solidFill>
                  <a:srgbClr val="111827"/>
                </a:solidFill>
                <a:latin typeface="Segoe UI"/>
              </a:rPr>
              <a:t>Every LLM is AI; most "AI" in a pitch is not an LLM</a:t>
            </a:r>
          </a:p>
          <a:p>
            <a:pPr>
              <a:spcAft>
                <a:spcPts val="1400"/>
              </a:spcAft>
            </a:pPr>
            <a:r>
              <a:rPr sz="1700">
                <a:solidFill>
                  <a:srgbClr val="2563EB"/>
                </a:solidFill>
                <a:latin typeface="Segoe UI"/>
              </a:rPr>
              <a:t>▪  </a:t>
            </a:r>
            <a:r>
              <a:rPr sz="1700">
                <a:solidFill>
                  <a:srgbClr val="111827"/>
                </a:solidFill>
                <a:latin typeface="Segoe UI"/>
              </a:rPr>
              <a:t>The tools you use are LLMs</a:t>
            </a:r>
          </a:p>
        </p:txBody>
      </p:sp>
      <p:sp>
        <p:nvSpPr>
          <p:cNvPr id="5" name="Rounded Rectangle 4" descr="Diagram: Four words, nested — not the same thing"/>
          <p:cNvSpPr/>
          <p:nvPr/>
        </p:nvSpPr>
        <p:spPr>
          <a:xfrm>
            <a:off x="5943600" y="1554480"/>
            <a:ext cx="5577840" cy="3840480"/>
          </a:xfrm>
          <a:prstGeom prst="roundRect">
            <a:avLst/>
          </a:prstGeom>
          <a:solidFill>
            <a:srgbClr val="F3F4F6"/>
          </a:solidFill>
          <a:ln w="127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6B7280"/>
                </a:solidFill>
                <a:latin typeface="Segoe UI"/>
              </a:rPr>
              <a:t>DIAGRAM — render from Mermaid source (in speaker notes)</a:t>
            </a:r>
          </a:p>
          <a:p>
            <a:pPr algn="ctr"/>
            <a:r>
              <a:rPr sz="1500">
                <a:solidFill>
                  <a:srgbClr val="1F2A37"/>
                </a:solidFill>
                <a:latin typeface="Segoe UI"/>
              </a:rPr>
              <a:t>Artificial Intelligence  →  Machine Learning  →  Deep Learning  →  Large Language Model</a:t>
            </a:r>
          </a:p>
        </p:txBody>
      </p:sp>
      <p:sp>
        <p:nvSpPr>
          <p:cNvPr id="6" name="TextBox 5"/>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An LLM is autocomplete on steroids</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4937760" cy="4206240"/>
          </a:xfrm>
          <a:prstGeom prst="rect">
            <a:avLst/>
          </a:prstGeom>
          <a:noFill/>
        </p:spPr>
        <p:txBody>
          <a:bodyPr wrap="square">
            <a:spAutoFit/>
          </a:bodyPr>
          <a:lstStyle/>
          <a:p>
            <a:pPr>
              <a:spcAft>
                <a:spcPts val="1400"/>
              </a:spcAft>
            </a:pPr>
            <a:r>
              <a:rPr sz="1700">
                <a:solidFill>
                  <a:srgbClr val="2563EB"/>
                </a:solidFill>
                <a:latin typeface="Segoe UI"/>
              </a:rPr>
              <a:t>▪  </a:t>
            </a:r>
            <a:r>
              <a:rPr sz="1700">
                <a:solidFill>
                  <a:srgbClr val="111827"/>
                </a:solidFill>
                <a:latin typeface="Segoe UI"/>
              </a:rPr>
              <a:t>Trained by one game, played billions of times: guess the next word</a:t>
            </a:r>
          </a:p>
          <a:p>
            <a:pPr>
              <a:spcAft>
                <a:spcPts val="1400"/>
              </a:spcAft>
            </a:pPr>
            <a:r>
              <a:rPr sz="1700">
                <a:solidFill>
                  <a:srgbClr val="2563EB"/>
                </a:solidFill>
                <a:latin typeface="Segoe UI"/>
              </a:rPr>
              <a:t>▪  </a:t>
            </a:r>
            <a:r>
              <a:rPr sz="1700">
                <a:solidFill>
                  <a:srgbClr val="111827"/>
                </a:solidFill>
                <a:latin typeface="Segoe UI"/>
              </a:rPr>
              <a:t>At scale, it gets very good at plausible continuations</a:t>
            </a:r>
          </a:p>
          <a:p>
            <a:pPr>
              <a:spcAft>
                <a:spcPts val="1400"/>
              </a:spcAft>
            </a:pPr>
            <a:r>
              <a:rPr sz="1700">
                <a:solidFill>
                  <a:srgbClr val="2563EB"/>
                </a:solidFill>
                <a:latin typeface="Segoe UI"/>
              </a:rPr>
              <a:t>▪  </a:t>
            </a:r>
            <a:r>
              <a:rPr sz="1700">
                <a:solidFill>
                  <a:srgbClr val="111827"/>
                </a:solidFill>
                <a:latin typeface="Segoe UI"/>
              </a:rPr>
              <a:t>It generates text — it does not look things up</a:t>
            </a:r>
          </a:p>
        </p:txBody>
      </p:sp>
      <p:sp>
        <p:nvSpPr>
          <p:cNvPr id="5" name="Rounded Rectangle 4" descr="Diagram: An LLM is autocomplete on steroids"/>
          <p:cNvSpPr/>
          <p:nvPr/>
        </p:nvSpPr>
        <p:spPr>
          <a:xfrm>
            <a:off x="5943600" y="1554480"/>
            <a:ext cx="5577840" cy="3840480"/>
          </a:xfrm>
          <a:prstGeom prst="roundRect">
            <a:avLst/>
          </a:prstGeom>
          <a:solidFill>
            <a:srgbClr val="F3F4F6"/>
          </a:solidFill>
          <a:ln w="127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6B7280"/>
                </a:solidFill>
                <a:latin typeface="Segoe UI"/>
              </a:rPr>
              <a:t>DIAGRAM — render from Mermaid source (in speaker notes)</a:t>
            </a:r>
          </a:p>
          <a:p>
            <a:pPr algn="ctr"/>
            <a:r>
              <a:rPr sz="1500">
                <a:solidFill>
                  <a:srgbClr val="1F2A37"/>
                </a:solidFill>
                <a:latin typeface="Segoe UI"/>
              </a:rPr>
              <a:t>Your prompt  →  Predict most likely next token  →  Append  →  ...until done</a:t>
            </a:r>
          </a:p>
        </p:txBody>
      </p:sp>
      <p:sp>
        <p:nvSpPr>
          <p:cNvPr id="6" name="TextBox 5"/>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It's a pattern-matcher, not a search engine</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023360"/>
          </a:xfrm>
          <a:prstGeom prst="rect">
            <a:avLst/>
          </a:prstGeom>
          <a:noFill/>
        </p:spPr>
        <p:txBody>
          <a:bodyPr wrap="square">
            <a:spAutoFit/>
          </a:bodyPr>
          <a:lstStyle/>
          <a:p>
            <a:pPr>
              <a:spcAft>
                <a:spcPts val="1400"/>
              </a:spcAft>
            </a:pPr>
            <a:r>
              <a:rPr sz="2100">
                <a:solidFill>
                  <a:srgbClr val="2563EB"/>
                </a:solidFill>
                <a:latin typeface="Segoe UI"/>
              </a:rPr>
              <a:t>▪  </a:t>
            </a:r>
            <a:r>
              <a:rPr sz="2100">
                <a:solidFill>
                  <a:srgbClr val="111827"/>
                </a:solidFill>
                <a:latin typeface="Segoe UI"/>
              </a:rPr>
              <a:t>No database of facts inside</a:t>
            </a:r>
          </a:p>
          <a:p>
            <a:pPr>
              <a:spcAft>
                <a:spcPts val="1400"/>
              </a:spcAft>
            </a:pPr>
            <a:r>
              <a:rPr sz="2100">
                <a:solidFill>
                  <a:srgbClr val="2563EB"/>
                </a:solidFill>
                <a:latin typeface="Segoe UI"/>
              </a:rPr>
              <a:t>▪  </a:t>
            </a:r>
            <a:r>
              <a:rPr sz="2100">
                <a:solidFill>
                  <a:srgbClr val="111827"/>
                </a:solidFill>
                <a:latin typeface="Segoe UI"/>
              </a:rPr>
              <a:t>A statistical sense of what text usually looks like</a:t>
            </a:r>
          </a:p>
          <a:p>
            <a:pPr>
              <a:spcAft>
                <a:spcPts val="1400"/>
              </a:spcAft>
            </a:pPr>
            <a:r>
              <a:rPr sz="2100">
                <a:solidFill>
                  <a:srgbClr val="2563EB"/>
                </a:solidFill>
                <a:latin typeface="Segoe UI"/>
              </a:rPr>
              <a:t>▪  </a:t>
            </a:r>
            <a:r>
              <a:rPr sz="2100">
                <a:solidFill>
                  <a:srgbClr val="111827"/>
                </a:solidFill>
                <a:latin typeface="Segoe UI"/>
              </a:rPr>
              <a:t>True facts come out because they're common in the text — truth is a side effect</a:t>
            </a:r>
          </a:p>
          <a:p>
            <a:pPr>
              <a:spcAft>
                <a:spcPts val="1400"/>
              </a:spcAft>
            </a:pPr>
            <a:r>
              <a:rPr sz="2100">
                <a:solidFill>
                  <a:srgbClr val="2563EB"/>
                </a:solidFill>
                <a:latin typeface="Segoe UI"/>
              </a:rPr>
              <a:t>▪  </a:t>
            </a:r>
            <a:r>
              <a:rPr sz="2100">
                <a:solidFill>
                  <a:srgbClr val="111827"/>
                </a:solidFill>
                <a:latin typeface="Segoe UI"/>
              </a:rPr>
              <a:t>Works in tokens (~¾ of a word) — also the unit of billing</a:t>
            </a:r>
          </a:p>
        </p:txBody>
      </p:sp>
      <p:sp>
        <p:nvSpPr>
          <p:cNvPr id="5" name="TextBox 4"/>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Hallucination is not a bug</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4937760" cy="4206240"/>
          </a:xfrm>
          <a:prstGeom prst="rect">
            <a:avLst/>
          </a:prstGeom>
          <a:noFill/>
        </p:spPr>
        <p:txBody>
          <a:bodyPr wrap="square">
            <a:spAutoFit/>
          </a:bodyPr>
          <a:lstStyle/>
          <a:p>
            <a:pPr>
              <a:spcAft>
                <a:spcPts val="1400"/>
              </a:spcAft>
            </a:pPr>
            <a:r>
              <a:rPr sz="1700">
                <a:solidFill>
                  <a:srgbClr val="2563EB"/>
                </a:solidFill>
                <a:latin typeface="Segoe UI"/>
              </a:rPr>
              <a:t>▪  </a:t>
            </a:r>
            <a:r>
              <a:rPr sz="1700">
                <a:solidFill>
                  <a:srgbClr val="111827"/>
                </a:solidFill>
                <a:latin typeface="Segoe UI"/>
              </a:rPr>
              <a:t>When it states something false as fact = a hallucination</a:t>
            </a:r>
          </a:p>
          <a:p>
            <a:pPr>
              <a:spcAft>
                <a:spcPts val="1400"/>
              </a:spcAft>
            </a:pPr>
            <a:r>
              <a:rPr sz="1700">
                <a:solidFill>
                  <a:srgbClr val="2563EB"/>
                </a:solidFill>
                <a:latin typeface="Segoe UI"/>
              </a:rPr>
              <a:t>▪  </a:t>
            </a:r>
            <a:r>
              <a:rPr sz="1700">
                <a:solidFill>
                  <a:srgbClr val="111827"/>
                </a:solidFill>
                <a:latin typeface="Segoe UI"/>
              </a:rPr>
              <a:t>It's a direct result of how the model works</a:t>
            </a:r>
          </a:p>
          <a:p>
            <a:pPr>
              <a:spcAft>
                <a:spcPts val="1400"/>
              </a:spcAft>
            </a:pPr>
            <a:r>
              <a:rPr sz="1700">
                <a:solidFill>
                  <a:srgbClr val="2563EB"/>
                </a:solidFill>
                <a:latin typeface="Segoe UI"/>
              </a:rPr>
              <a:t>▪  </a:t>
            </a:r>
            <a:r>
              <a:rPr sz="1700">
                <a:solidFill>
                  <a:srgbClr val="111827"/>
                </a:solidFill>
                <a:latin typeface="Segoe UI"/>
              </a:rPr>
              <a:t>Dense training data → usually right</a:t>
            </a:r>
          </a:p>
          <a:p>
            <a:pPr>
              <a:spcAft>
                <a:spcPts val="1400"/>
              </a:spcAft>
            </a:pPr>
            <a:r>
              <a:rPr sz="1700">
                <a:solidFill>
                  <a:srgbClr val="2563EB"/>
                </a:solidFill>
                <a:latin typeface="Segoe UI"/>
              </a:rPr>
              <a:t>▪  </a:t>
            </a:r>
            <a:r>
              <a:rPr sz="1700">
                <a:solidFill>
                  <a:srgbClr val="111827"/>
                </a:solidFill>
                <a:latin typeface="Segoe UI"/>
              </a:rPr>
              <a:t>Sparse data → fluent but possibly invented</a:t>
            </a:r>
          </a:p>
        </p:txBody>
      </p:sp>
      <p:sp>
        <p:nvSpPr>
          <p:cNvPr id="5" name="Rounded Rectangle 4" descr="Diagram: Hallucination is not a bug"/>
          <p:cNvSpPr/>
          <p:nvPr/>
        </p:nvSpPr>
        <p:spPr>
          <a:xfrm>
            <a:off x="5943600" y="1554480"/>
            <a:ext cx="5577840" cy="3840480"/>
          </a:xfrm>
          <a:prstGeom prst="roundRect">
            <a:avLst/>
          </a:prstGeom>
          <a:solidFill>
            <a:srgbClr val="F3F4F6"/>
          </a:solidFill>
          <a:ln w="127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6B7280"/>
                </a:solidFill>
                <a:latin typeface="Segoe UI"/>
              </a:rPr>
              <a:t>DIAGRAM — render from Mermaid source (in speaker notes)</a:t>
            </a:r>
          </a:p>
          <a:p>
            <a:pPr algn="ctr"/>
            <a:r>
              <a:rPr sz="1500">
                <a:solidFill>
                  <a:srgbClr val="1F2A37"/>
                </a:solidFill>
                <a:latin typeface="Segoe UI"/>
              </a:rPr>
              <a:t>Prompt  →  Fluent, usually correct  →  Fluent, possibly invented  →  Identical confidence. No warning label.</a:t>
            </a:r>
          </a:p>
        </p:txBody>
      </p:sp>
      <p:sp>
        <p:nvSpPr>
          <p:cNvPr id="6" name="TextBox 5"/>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Confidence tells you nothing about truth</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023360"/>
          </a:xfrm>
          <a:prstGeom prst="rect">
            <a:avLst/>
          </a:prstGeom>
          <a:noFill/>
        </p:spPr>
        <p:txBody>
          <a:bodyPr wrap="square">
            <a:spAutoFit/>
          </a:bodyPr>
          <a:lstStyle/>
          <a:p>
            <a:pPr>
              <a:spcAft>
                <a:spcPts val="1400"/>
              </a:spcAft>
            </a:pPr>
            <a:r>
              <a:rPr sz="2100">
                <a:solidFill>
                  <a:srgbClr val="2563EB"/>
                </a:solidFill>
                <a:latin typeface="Segoe UI"/>
              </a:rPr>
              <a:t>▪  </a:t>
            </a:r>
            <a:r>
              <a:rPr sz="2100">
                <a:solidFill>
                  <a:srgbClr val="111827"/>
                </a:solidFill>
                <a:latin typeface="Segoe UI"/>
              </a:rPr>
              <a:t>Same fluency whether right or invented</a:t>
            </a:r>
          </a:p>
          <a:p>
            <a:pPr>
              <a:spcAft>
                <a:spcPts val="1400"/>
              </a:spcAft>
            </a:pPr>
            <a:r>
              <a:rPr sz="2100">
                <a:solidFill>
                  <a:srgbClr val="2563EB"/>
                </a:solidFill>
                <a:latin typeface="Segoe UI"/>
              </a:rPr>
              <a:t>▪  </a:t>
            </a:r>
            <a:r>
              <a:rPr sz="2100">
                <a:solidFill>
                  <a:srgbClr val="111827"/>
                </a:solidFill>
                <a:latin typeface="Segoe UI"/>
              </a:rPr>
              <a:t>"It sounded confident" = zero information</a:t>
            </a:r>
          </a:p>
          <a:p>
            <a:pPr>
              <a:spcAft>
                <a:spcPts val="1400"/>
              </a:spcAft>
            </a:pPr>
            <a:r>
              <a:rPr sz="2100">
                <a:solidFill>
                  <a:srgbClr val="2563EB"/>
                </a:solidFill>
                <a:latin typeface="Segoe UI"/>
              </a:rPr>
              <a:t>▪  </a:t>
            </a:r>
            <a:r>
              <a:rPr sz="2100">
                <a:solidFill>
                  <a:srgbClr val="111827"/>
                </a:solidFill>
                <a:latin typeface="Segoe UI"/>
              </a:rPr>
              <a:t>Same failure as a false memory — and as prejudice</a:t>
            </a:r>
          </a:p>
          <a:p>
            <a:pPr>
              <a:spcAft>
                <a:spcPts val="1400"/>
              </a:spcAft>
            </a:pPr>
            <a:r>
              <a:rPr sz="2100">
                <a:solidFill>
                  <a:srgbClr val="2563EB"/>
                </a:solidFill>
                <a:latin typeface="Segoe UI"/>
              </a:rPr>
              <a:t>▪  </a:t>
            </a:r>
            <a:r>
              <a:rPr sz="2100">
                <a:solidFill>
                  <a:srgbClr val="111827"/>
                </a:solidFill>
                <a:latin typeface="Segoe UI"/>
              </a:rPr>
              <a:t>Never treat a confident answer as a verified one</a:t>
            </a:r>
          </a:p>
        </p:txBody>
      </p:sp>
      <p:sp>
        <p:nvSpPr>
          <p:cNvPr id="5" name="TextBox 4"/>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One rule for when to trust it</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4937760" cy="4206240"/>
          </a:xfrm>
          <a:prstGeom prst="rect">
            <a:avLst/>
          </a:prstGeom>
          <a:noFill/>
        </p:spPr>
        <p:txBody>
          <a:bodyPr wrap="square">
            <a:spAutoFit/>
          </a:bodyPr>
          <a:lstStyle/>
          <a:p>
            <a:pPr>
              <a:spcAft>
                <a:spcPts val="1400"/>
              </a:spcAft>
            </a:pPr>
            <a:r>
              <a:rPr sz="1700">
                <a:solidFill>
                  <a:srgbClr val="2563EB"/>
                </a:solidFill>
                <a:latin typeface="Segoe UI"/>
              </a:rPr>
              <a:t>▪  </a:t>
            </a:r>
            <a:r>
              <a:rPr sz="1700">
                <a:solidFill>
                  <a:srgbClr val="111827"/>
                </a:solidFill>
                <a:latin typeface="Segoe UI"/>
              </a:rPr>
              <a:t>Use it when you can EASILY CHECK the answer</a:t>
            </a:r>
          </a:p>
          <a:p>
            <a:pPr>
              <a:spcAft>
                <a:spcPts val="1400"/>
              </a:spcAft>
            </a:pPr>
            <a:r>
              <a:rPr sz="1700">
                <a:solidFill>
                  <a:srgbClr val="2563EB"/>
                </a:solidFill>
                <a:latin typeface="Segoe UI"/>
              </a:rPr>
              <a:t>▪  </a:t>
            </a:r>
            <a:r>
              <a:rPr sz="1700">
                <a:solidFill>
                  <a:srgbClr val="111827"/>
                </a:solidFill>
                <a:latin typeface="Segoe UI"/>
              </a:rPr>
              <a:t>…or when TRUTH DOESN'T MATTER (drafts, ideas, tone)</a:t>
            </a:r>
          </a:p>
          <a:p>
            <a:pPr>
              <a:spcAft>
                <a:spcPts val="1400"/>
              </a:spcAft>
            </a:pPr>
            <a:r>
              <a:rPr sz="1700">
                <a:solidFill>
                  <a:srgbClr val="2563EB"/>
                </a:solidFill>
                <a:latin typeface="Segoe UI"/>
              </a:rPr>
              <a:t>▪  </a:t>
            </a:r>
            <a:r>
              <a:rPr sz="1700">
                <a:solidFill>
                  <a:srgbClr val="111827"/>
                </a:solidFill>
                <a:latin typeface="Segoe UI"/>
              </a:rPr>
              <a:t>Be careful exactly where neither holds</a:t>
            </a:r>
          </a:p>
          <a:p>
            <a:pPr>
              <a:spcAft>
                <a:spcPts val="1400"/>
              </a:spcAft>
            </a:pPr>
            <a:r>
              <a:rPr sz="1700">
                <a:solidFill>
                  <a:srgbClr val="2563EB"/>
                </a:solidFill>
                <a:latin typeface="Segoe UI"/>
              </a:rPr>
              <a:t>▪  </a:t>
            </a:r>
            <a:r>
              <a:rPr sz="1700">
                <a:solidFill>
                  <a:srgbClr val="111827"/>
                </a:solidFill>
                <a:latin typeface="Segoe UI"/>
              </a:rPr>
              <a:t>And always: you own the output</a:t>
            </a:r>
          </a:p>
        </p:txBody>
      </p:sp>
      <p:sp>
        <p:nvSpPr>
          <p:cNvPr id="5" name="Rounded Rectangle 4" descr="Diagram: One rule for when to trust it"/>
          <p:cNvSpPr/>
          <p:nvPr/>
        </p:nvSpPr>
        <p:spPr>
          <a:xfrm>
            <a:off x="5943600" y="1554480"/>
            <a:ext cx="5577840" cy="3840480"/>
          </a:xfrm>
          <a:prstGeom prst="roundRect">
            <a:avLst/>
          </a:prstGeom>
          <a:solidFill>
            <a:srgbClr val="F3F4F6"/>
          </a:solidFill>
          <a:ln w="127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6B7280"/>
                </a:solidFill>
                <a:latin typeface="Segoe UI"/>
              </a:rPr>
              <a:t>DIAGRAM — render from Mermaid source (in speaker notes)</a:t>
            </a:r>
          </a:p>
          <a:p>
            <a:pPr algn="ctr"/>
            <a:r>
              <a:rPr sz="1500">
                <a:solidFill>
                  <a:srgbClr val="1F2A37"/>
                </a:solidFill>
                <a:latin typeface="Segoe UI"/>
              </a:rPr>
              <a:t>Good use  →  Fine — truth isn't the point  →  Danger — need an expert or a grounded source</a:t>
            </a:r>
          </a:p>
        </p:txBody>
      </p:sp>
      <p:sp>
        <p:nvSpPr>
          <p:cNvPr id="6" name="TextBox 5"/>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See it happen (live demo)</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023360"/>
          </a:xfrm>
          <a:prstGeom prst="rect">
            <a:avLst/>
          </a:prstGeom>
          <a:noFill/>
        </p:spPr>
        <p:txBody>
          <a:bodyPr wrap="square">
            <a:spAutoFit/>
          </a:bodyPr>
          <a:lstStyle/>
          <a:p>
            <a:pPr>
              <a:spcAft>
                <a:spcPts val="1400"/>
              </a:spcAft>
            </a:pPr>
            <a:r>
              <a:rPr sz="2100">
                <a:solidFill>
                  <a:srgbClr val="2563EB"/>
                </a:solidFill>
                <a:latin typeface="Segoe UI"/>
              </a:rPr>
              <a:t>▪  </a:t>
            </a:r>
            <a:r>
              <a:rPr sz="2100">
                <a:solidFill>
                  <a:srgbClr val="111827"/>
                </a:solidFill>
                <a:latin typeface="Segoe UI"/>
              </a:rPr>
              <a:t>Live: ask it for a short bio of someone in the room</a:t>
            </a:r>
          </a:p>
          <a:p>
            <a:pPr>
              <a:spcAft>
                <a:spcPts val="1400"/>
              </a:spcAft>
            </a:pPr>
            <a:r>
              <a:rPr sz="2100">
                <a:solidFill>
                  <a:srgbClr val="2563EB"/>
                </a:solidFill>
                <a:latin typeface="Segoe UI"/>
              </a:rPr>
              <a:t>▪  </a:t>
            </a:r>
            <a:r>
              <a:rPr sz="2100">
                <a:solidFill>
                  <a:srgbClr val="111827"/>
                </a:solidFill>
                <a:latin typeface="Segoe UI"/>
              </a:rPr>
              <a:t>Watch it invent plausible, specific, wrong details</a:t>
            </a:r>
          </a:p>
          <a:p>
            <a:pPr>
              <a:spcAft>
                <a:spcPts val="1400"/>
              </a:spcAft>
            </a:pPr>
            <a:r>
              <a:rPr sz="2100">
                <a:solidFill>
                  <a:srgbClr val="2563EB"/>
                </a:solidFill>
                <a:latin typeface="Segoe UI"/>
              </a:rPr>
              <a:t>▪  </a:t>
            </a:r>
            <a:r>
              <a:rPr sz="2100">
                <a:solidFill>
                  <a:srgbClr val="111827"/>
                </a:solidFill>
                <a:latin typeface="Segoe UI"/>
              </a:rPr>
              <a:t>Confidence unchanged throughout</a:t>
            </a:r>
          </a:p>
        </p:txBody>
      </p:sp>
      <p:sp>
        <p:nvSpPr>
          <p:cNvPr id="5" name="TextBox 4"/>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
        <p:nvSpPr>
          <p:cNvPr id="6" name="TextBox 5"/>
          <p:cNvSpPr txBox="1"/>
          <p:nvPr/>
        </p:nvSpPr>
        <p:spPr>
          <a:xfrm>
            <a:off x="7498079" y="6327648"/>
            <a:ext cx="4023360" cy="365760"/>
          </a:xfrm>
          <a:prstGeom prst="rect">
            <a:avLst/>
          </a:prstGeom>
          <a:noFill/>
        </p:spPr>
        <p:txBody>
          <a:bodyPr wrap="square" anchor="t">
            <a:spAutoFit/>
          </a:bodyPr>
          <a:lstStyle/>
          <a:p>
            <a:pPr algn="r">
              <a:spcAft>
                <a:spcPts val="1000"/>
              </a:spcAft>
            </a:pPr>
            <a:r>
              <a:rPr sz="1000" b="0">
                <a:solidFill>
                  <a:srgbClr val="6B7280"/>
                </a:solidFill>
                <a:latin typeface="Segoe UI"/>
              </a:rPr>
              <a:t>live demo — nothing embedded.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Good output starts with a good brief</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4937760" cy="4206240"/>
          </a:xfrm>
          <a:prstGeom prst="rect">
            <a:avLst/>
          </a:prstGeom>
          <a:noFill/>
        </p:spPr>
        <p:txBody>
          <a:bodyPr wrap="square">
            <a:spAutoFit/>
          </a:bodyPr>
          <a:lstStyle/>
          <a:p>
            <a:pPr>
              <a:spcAft>
                <a:spcPts val="1400"/>
              </a:spcAft>
            </a:pPr>
            <a:r>
              <a:rPr sz="1700">
                <a:solidFill>
                  <a:srgbClr val="2563EB"/>
                </a:solidFill>
                <a:latin typeface="Segoe UI"/>
              </a:rPr>
              <a:t>▪  </a:t>
            </a:r>
            <a:r>
              <a:rPr sz="1700">
                <a:solidFill>
                  <a:srgbClr val="111827"/>
                </a:solidFill>
                <a:latin typeface="Segoe UI"/>
              </a:rPr>
              <a:t>Most bad output is a prompt problem, not a model problem</a:t>
            </a:r>
          </a:p>
          <a:p>
            <a:pPr>
              <a:spcAft>
                <a:spcPts val="1400"/>
              </a:spcAft>
            </a:pPr>
            <a:r>
              <a:rPr sz="1700">
                <a:solidFill>
                  <a:srgbClr val="2563EB"/>
                </a:solidFill>
                <a:latin typeface="Segoe UI"/>
              </a:rPr>
              <a:t>▪  </a:t>
            </a:r>
            <a:r>
              <a:rPr sz="1700">
                <a:solidFill>
                  <a:srgbClr val="111827"/>
                </a:solidFill>
                <a:latin typeface="Segoe UI"/>
              </a:rPr>
              <a:t>Brief it like a fast, well-read new colleague with no context</a:t>
            </a:r>
          </a:p>
          <a:p>
            <a:pPr>
              <a:spcAft>
                <a:spcPts val="1400"/>
              </a:spcAft>
            </a:pPr>
            <a:r>
              <a:rPr sz="1700">
                <a:solidFill>
                  <a:srgbClr val="2563EB"/>
                </a:solidFill>
                <a:latin typeface="Segoe UI"/>
              </a:rPr>
              <a:t>▪  </a:t>
            </a:r>
            <a:r>
              <a:rPr sz="1700">
                <a:solidFill>
                  <a:srgbClr val="111827"/>
                </a:solidFill>
                <a:latin typeface="Segoe UI"/>
              </a:rPr>
              <a:t>Role</a:t>
            </a:r>
          </a:p>
          <a:p>
            <a:pPr>
              <a:spcAft>
                <a:spcPts val="1400"/>
              </a:spcAft>
            </a:pPr>
            <a:r>
              <a:rPr sz="1700">
                <a:solidFill>
                  <a:srgbClr val="2563EB"/>
                </a:solidFill>
                <a:latin typeface="Segoe UI"/>
              </a:rPr>
              <a:t>▪  </a:t>
            </a:r>
            <a:r>
              <a:rPr sz="1700">
                <a:solidFill>
                  <a:srgbClr val="111827"/>
                </a:solidFill>
                <a:latin typeface="Segoe UI"/>
              </a:rPr>
              <a:t>Task</a:t>
            </a:r>
          </a:p>
          <a:p>
            <a:pPr>
              <a:spcAft>
                <a:spcPts val="1400"/>
              </a:spcAft>
            </a:pPr>
            <a:r>
              <a:rPr sz="1700">
                <a:solidFill>
                  <a:srgbClr val="2563EB"/>
                </a:solidFill>
                <a:latin typeface="Segoe UI"/>
              </a:rPr>
              <a:t>▪  </a:t>
            </a:r>
            <a:r>
              <a:rPr sz="1700">
                <a:solidFill>
                  <a:srgbClr val="111827"/>
                </a:solidFill>
                <a:latin typeface="Segoe UI"/>
              </a:rPr>
              <a:t>Context</a:t>
            </a:r>
          </a:p>
          <a:p>
            <a:pPr>
              <a:spcAft>
                <a:spcPts val="1400"/>
              </a:spcAft>
            </a:pPr>
            <a:r>
              <a:rPr sz="1700">
                <a:solidFill>
                  <a:srgbClr val="2563EB"/>
                </a:solidFill>
                <a:latin typeface="Segoe UI"/>
              </a:rPr>
              <a:t>▪  </a:t>
            </a:r>
            <a:r>
              <a:rPr sz="1700">
                <a:solidFill>
                  <a:srgbClr val="111827"/>
                </a:solidFill>
                <a:latin typeface="Segoe UI"/>
              </a:rPr>
              <a:t>Format</a:t>
            </a:r>
          </a:p>
        </p:txBody>
      </p:sp>
      <p:sp>
        <p:nvSpPr>
          <p:cNvPr id="5" name="Rounded Rectangle 4" descr="Diagram: Good output starts with a good brief"/>
          <p:cNvSpPr/>
          <p:nvPr/>
        </p:nvSpPr>
        <p:spPr>
          <a:xfrm>
            <a:off x="5943600" y="1554480"/>
            <a:ext cx="5577840" cy="3840480"/>
          </a:xfrm>
          <a:prstGeom prst="roundRect">
            <a:avLst/>
          </a:prstGeom>
          <a:solidFill>
            <a:srgbClr val="F3F4F6"/>
          </a:solidFill>
          <a:ln w="127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6B7280"/>
                </a:solidFill>
                <a:latin typeface="Segoe UI"/>
              </a:rPr>
              <a:t>DIAGRAM — render from Mermaid source (in speaker notes)</a:t>
            </a:r>
          </a:p>
          <a:p>
            <a:pPr algn="ctr"/>
            <a:r>
              <a:rPr sz="1500">
                <a:solidFill>
                  <a:srgbClr val="1F2A37"/>
                </a:solidFill>
                <a:latin typeface="Segoe UI"/>
              </a:rPr>
              <a:t>Role  →  Task — one clear ask  →  Context + source material  →  Format  →  Example (if shape matters)</a:t>
            </a:r>
          </a:p>
        </p:txBody>
      </p:sp>
      <p:sp>
        <p:nvSpPr>
          <p:cNvPr id="6" name="TextBox 5"/>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Before and after</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023360"/>
          </a:xfrm>
          <a:prstGeom prst="rect">
            <a:avLst/>
          </a:prstGeom>
          <a:noFill/>
        </p:spPr>
        <p:txBody>
          <a:bodyPr wrap="square">
            <a:spAutoFit/>
          </a:bodyPr>
          <a:lstStyle/>
          <a:p>
            <a:pPr>
              <a:spcAft>
                <a:spcPts val="1400"/>
              </a:spcAft>
            </a:pPr>
            <a:r>
              <a:rPr sz="2100">
                <a:solidFill>
                  <a:srgbClr val="2563EB"/>
                </a:solidFill>
                <a:latin typeface="Segoe UI"/>
              </a:rPr>
              <a:t>▪  </a:t>
            </a:r>
            <a:r>
              <a:rPr sz="2100">
                <a:solidFill>
                  <a:srgbClr val="111827"/>
                </a:solidFill>
                <a:latin typeface="Segoe UI"/>
              </a:rPr>
              <a:t>Before: "Write release notes." → invents audience, format, and content</a:t>
            </a:r>
          </a:p>
          <a:p>
            <a:pPr>
              <a:spcAft>
                <a:spcPts val="1400"/>
              </a:spcAft>
            </a:pPr>
            <a:r>
              <a:rPr sz="2100">
                <a:solidFill>
                  <a:srgbClr val="2563EB"/>
                </a:solidFill>
                <a:latin typeface="Segoe UI"/>
              </a:rPr>
              <a:t>▪  </a:t>
            </a:r>
            <a:r>
              <a:rPr sz="2100">
                <a:solidFill>
                  <a:srgbClr val="111827"/>
                </a:solidFill>
                <a:latin typeface="Segoe UI"/>
              </a:rPr>
              <a:t>After: role + the 12 real PR titles + "group into Features/Fixes/Known Issues, one sentence each, invent nothing"</a:t>
            </a:r>
          </a:p>
          <a:p>
            <a:pPr>
              <a:spcAft>
                <a:spcPts val="1400"/>
              </a:spcAft>
            </a:pPr>
            <a:r>
              <a:rPr sz="2100">
                <a:solidFill>
                  <a:srgbClr val="2563EB"/>
                </a:solidFill>
                <a:latin typeface="Segoe UI"/>
              </a:rPr>
              <a:t>▪  </a:t>
            </a:r>
            <a:r>
              <a:rPr sz="2100">
                <a:solidFill>
                  <a:srgbClr val="111827"/>
                </a:solidFill>
                <a:latin typeface="Segoe UI"/>
              </a:rPr>
              <a:t>Same model. Completely different result</a:t>
            </a:r>
          </a:p>
        </p:txBody>
      </p:sp>
      <p:sp>
        <p:nvSpPr>
          <p:cNvPr id="5" name="TextBox 4"/>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Next: when the model acts, not just answers</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4937760" cy="4206240"/>
          </a:xfrm>
          <a:prstGeom prst="rect">
            <a:avLst/>
          </a:prstGeom>
          <a:noFill/>
        </p:spPr>
        <p:txBody>
          <a:bodyPr wrap="square">
            <a:spAutoFit/>
          </a:bodyPr>
          <a:lstStyle/>
          <a:p>
            <a:pPr>
              <a:spcAft>
                <a:spcPts val="1400"/>
              </a:spcAft>
            </a:pPr>
            <a:r>
              <a:rPr sz="1700">
                <a:solidFill>
                  <a:srgbClr val="2563EB"/>
                </a:solidFill>
                <a:latin typeface="Segoe UI"/>
              </a:rPr>
              <a:t>▪  </a:t>
            </a:r>
            <a:r>
              <a:rPr sz="1700">
                <a:solidFill>
                  <a:srgbClr val="111827"/>
                </a:solidFill>
                <a:latin typeface="Segoe UI"/>
              </a:rPr>
              <a:t>Agent = an LLM given tools + a loop → it can act (search, run code, file a ticket)</a:t>
            </a:r>
          </a:p>
          <a:p>
            <a:pPr>
              <a:spcAft>
                <a:spcPts val="1400"/>
              </a:spcAft>
            </a:pPr>
            <a:r>
              <a:rPr sz="1700">
                <a:solidFill>
                  <a:srgbClr val="2563EB"/>
                </a:solidFill>
                <a:latin typeface="Segoe UI"/>
              </a:rPr>
              <a:t>▪  </a:t>
            </a:r>
            <a:r>
              <a:rPr sz="1700">
                <a:solidFill>
                  <a:srgbClr val="111827"/>
                </a:solidFill>
                <a:latin typeface="Segoe UI"/>
              </a:rPr>
              <a:t>Skill = a saved, reusable procedure that teaches it your way of doing a task</a:t>
            </a:r>
          </a:p>
          <a:p>
            <a:pPr>
              <a:spcAft>
                <a:spcPts val="1400"/>
              </a:spcAft>
            </a:pPr>
            <a:r>
              <a:rPr sz="1700">
                <a:solidFill>
                  <a:srgbClr val="2563EB"/>
                </a:solidFill>
                <a:latin typeface="Segoe UI"/>
              </a:rPr>
              <a:t>▪  </a:t>
            </a:r>
            <a:r>
              <a:rPr sz="1700">
                <a:solidFill>
                  <a:srgbClr val="111827"/>
                </a:solidFill>
                <a:latin typeface="Segoe UI"/>
              </a:rPr>
              <a:t>Prompt → Skill → Agent</a:t>
            </a:r>
          </a:p>
          <a:p>
            <a:pPr>
              <a:spcAft>
                <a:spcPts val="1400"/>
              </a:spcAft>
            </a:pPr>
            <a:r>
              <a:rPr sz="1700">
                <a:solidFill>
                  <a:srgbClr val="2563EB"/>
                </a:solidFill>
                <a:latin typeface="Segoe UI"/>
              </a:rPr>
              <a:t>▪  </a:t>
            </a:r>
            <a:r>
              <a:rPr sz="1700">
                <a:solidFill>
                  <a:srgbClr val="111827"/>
                </a:solidFill>
                <a:latin typeface="Segoe UI"/>
              </a:rPr>
              <a:t>The catch: an agent acts on its output — so "own the output" matters MORE, not less</a:t>
            </a:r>
          </a:p>
        </p:txBody>
      </p:sp>
      <p:sp>
        <p:nvSpPr>
          <p:cNvPr id="5" name="Rounded Rectangle 4" descr="Diagram: Next: when the model acts, not just answers"/>
          <p:cNvSpPr/>
          <p:nvPr/>
        </p:nvSpPr>
        <p:spPr>
          <a:xfrm>
            <a:off x="5943600" y="1554480"/>
            <a:ext cx="5577840" cy="3840480"/>
          </a:xfrm>
          <a:prstGeom prst="roundRect">
            <a:avLst/>
          </a:prstGeom>
          <a:solidFill>
            <a:srgbClr val="F3F4F6"/>
          </a:solidFill>
          <a:ln w="127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6B7280"/>
                </a:solidFill>
                <a:latin typeface="Segoe UI"/>
              </a:rPr>
              <a:t>DIAGRAM — render from Mermaid source (in speaker notes)</a:t>
            </a:r>
          </a:p>
          <a:p>
            <a:pPr algn="ctr"/>
            <a:r>
              <a:rPr sz="1500">
                <a:solidFill>
                  <a:srgbClr val="1F2A37"/>
                </a:solidFill>
                <a:latin typeface="Segoe UI"/>
              </a:rPr>
              <a:t>Prompt one-off instruction  →  Skill saved reusable procedure  →  Agent acts with tools in a loop</a:t>
            </a:r>
          </a:p>
        </p:txBody>
      </p:sp>
      <p:sp>
        <p:nvSpPr>
          <p:cNvPr id="6" name="TextBox 5"/>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Take away six things</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023360"/>
          </a:xfrm>
          <a:prstGeom prst="rect">
            <a:avLst/>
          </a:prstGeom>
          <a:noFill/>
        </p:spPr>
        <p:txBody>
          <a:bodyPr wrap="square">
            <a:spAutoFit/>
          </a:bodyPr>
          <a:lstStyle/>
          <a:p>
            <a:pPr>
              <a:spcAft>
                <a:spcPts val="1400"/>
              </a:spcAft>
            </a:pPr>
            <a:r>
              <a:rPr sz="2100">
                <a:solidFill>
                  <a:srgbClr val="2563EB"/>
                </a:solidFill>
                <a:latin typeface="Segoe UI"/>
              </a:rPr>
              <a:t>▪  </a:t>
            </a:r>
            <a:r>
              <a:rPr sz="2100">
                <a:solidFill>
                  <a:srgbClr val="111827"/>
                </a:solidFill>
                <a:latin typeface="Segoe UI"/>
              </a:rPr>
              <a:t>1. Learns from examples, not rules</a:t>
            </a:r>
          </a:p>
          <a:p>
            <a:pPr>
              <a:spcAft>
                <a:spcPts val="1400"/>
              </a:spcAft>
            </a:pPr>
            <a:r>
              <a:rPr sz="2100">
                <a:solidFill>
                  <a:srgbClr val="2563EB"/>
                </a:solidFill>
                <a:latin typeface="Segoe UI"/>
              </a:rPr>
              <a:t>▪  </a:t>
            </a:r>
            <a:r>
              <a:rPr sz="2100">
                <a:solidFill>
                  <a:srgbClr val="111827"/>
                </a:solidFill>
                <a:latin typeface="Segoe UI"/>
              </a:rPr>
              <a:t>2. Autocomplete on steroids — doesn't look things up</a:t>
            </a:r>
          </a:p>
          <a:p>
            <a:pPr>
              <a:spcAft>
                <a:spcPts val="1400"/>
              </a:spcAft>
            </a:pPr>
            <a:r>
              <a:rPr sz="2100">
                <a:solidFill>
                  <a:srgbClr val="2563EB"/>
                </a:solidFill>
                <a:latin typeface="Segoe UI"/>
              </a:rPr>
              <a:t>▪  </a:t>
            </a:r>
            <a:r>
              <a:rPr sz="2100">
                <a:solidFill>
                  <a:srgbClr val="111827"/>
                </a:solidFill>
                <a:latin typeface="Segoe UI"/>
              </a:rPr>
              <a:t>3. Hallucination is structural; confidence ≠ truth</a:t>
            </a:r>
          </a:p>
          <a:p>
            <a:pPr>
              <a:spcAft>
                <a:spcPts val="1400"/>
              </a:spcAft>
            </a:pPr>
            <a:r>
              <a:rPr sz="2100">
                <a:solidFill>
                  <a:srgbClr val="2563EB"/>
                </a:solidFill>
                <a:latin typeface="Segoe UI"/>
              </a:rPr>
              <a:t>▪  </a:t>
            </a:r>
            <a:r>
              <a:rPr sz="2100">
                <a:solidFill>
                  <a:srgbClr val="111827"/>
                </a:solidFill>
                <a:latin typeface="Segoe UI"/>
              </a:rPr>
              <a:t>4. Use where you can verify, or truth doesn't matter — own the output</a:t>
            </a:r>
          </a:p>
          <a:p>
            <a:pPr>
              <a:spcAft>
                <a:spcPts val="1400"/>
              </a:spcAft>
            </a:pPr>
            <a:r>
              <a:rPr sz="2100">
                <a:solidFill>
                  <a:srgbClr val="2563EB"/>
                </a:solidFill>
                <a:latin typeface="Segoe UI"/>
              </a:rPr>
              <a:t>▪  </a:t>
            </a:r>
            <a:r>
              <a:rPr sz="2100">
                <a:solidFill>
                  <a:srgbClr val="111827"/>
                </a:solidFill>
                <a:latin typeface="Segoe UI"/>
              </a:rPr>
              <a:t>5. Good prompts are clear briefs, not magic words</a:t>
            </a:r>
          </a:p>
          <a:p>
            <a:pPr>
              <a:spcAft>
                <a:spcPts val="1400"/>
              </a:spcAft>
            </a:pPr>
            <a:r>
              <a:rPr sz="2100">
                <a:solidFill>
                  <a:srgbClr val="2563EB"/>
                </a:solidFill>
                <a:latin typeface="Segoe UI"/>
              </a:rPr>
              <a:t>▪  </a:t>
            </a:r>
            <a:r>
              <a:rPr sz="2100">
                <a:solidFill>
                  <a:srgbClr val="111827"/>
                </a:solidFill>
                <a:latin typeface="Segoe UI"/>
              </a:rPr>
              <a:t>6. Agents act, skills make them consistent — owning the output matters more once it acts</a:t>
            </a:r>
          </a:p>
        </p:txBody>
      </p:sp>
      <p:sp>
        <p:nvSpPr>
          <p:cNvPr id="5" name="TextBox 4"/>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Questions, and where to go next</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023360"/>
          </a:xfrm>
          <a:prstGeom prst="rect">
            <a:avLst/>
          </a:prstGeom>
          <a:noFill/>
        </p:spPr>
        <p:txBody>
          <a:bodyPr wrap="square">
            <a:spAutoFit/>
          </a:bodyPr>
          <a:lstStyle/>
          <a:p>
            <a:pPr>
              <a:spcAft>
                <a:spcPts val="1400"/>
              </a:spcAft>
            </a:pPr>
            <a:r>
              <a:rPr sz="2100">
                <a:solidFill>
                  <a:srgbClr val="2563EB"/>
                </a:solidFill>
                <a:latin typeface="Segoe UI"/>
              </a:rPr>
              <a:t>▪  </a:t>
            </a:r>
            <a:r>
              <a:rPr sz="2100">
                <a:solidFill>
                  <a:srgbClr val="111827"/>
                </a:solidFill>
                <a:latin typeface="Segoe UI"/>
              </a:rPr>
              <a:t>Questions?</a:t>
            </a:r>
          </a:p>
          <a:p>
            <a:pPr>
              <a:spcAft>
                <a:spcPts val="1400"/>
              </a:spcAft>
            </a:pPr>
            <a:r>
              <a:rPr sz="2100">
                <a:solidFill>
                  <a:srgbClr val="2563EB"/>
                </a:solidFill>
                <a:latin typeface="Segoe UI"/>
              </a:rPr>
              <a:t>▪  </a:t>
            </a:r>
            <a:r>
              <a:rPr sz="2100">
                <a:solidFill>
                  <a:srgbClr val="111827"/>
                </a:solidFill>
                <a:latin typeface="Segoe UI"/>
              </a:rPr>
              <a:t>Full 16-session course</a:t>
            </a:r>
          </a:p>
          <a:p>
            <a:pPr>
              <a:spcAft>
                <a:spcPts val="1400"/>
              </a:spcAft>
            </a:pPr>
            <a:r>
              <a:rPr sz="2100">
                <a:solidFill>
                  <a:srgbClr val="2563EB"/>
                </a:solidFill>
                <a:latin typeface="Segoe UI"/>
              </a:rPr>
              <a:t>▪  </a:t>
            </a:r>
            <a:r>
              <a:rPr sz="2100">
                <a:solidFill>
                  <a:srgbClr val="111827"/>
                </a:solidFill>
                <a:latin typeface="Segoe UI"/>
              </a:rPr>
              <a:t>Start with: Session 1, Session 13 (confidently wrong), Sessions 10–12 (prompting, Claude, agents)</a:t>
            </a:r>
          </a:p>
          <a:p>
            <a:pPr>
              <a:spcAft>
                <a:spcPts val="1400"/>
              </a:spcAft>
            </a:pPr>
            <a:r>
              <a:rPr sz="2100">
                <a:solidFill>
                  <a:srgbClr val="2563EB"/>
                </a:solidFill>
                <a:latin typeface="Segoe UI"/>
              </a:rPr>
              <a:t>▪  </a:t>
            </a:r>
            <a:r>
              <a:rPr sz="2100">
                <a:solidFill>
                  <a:srgbClr val="111827"/>
                </a:solidFill>
                <a:latin typeface="Segoe UI"/>
              </a:rPr>
              <a:t>Glossary for every term</a:t>
            </a:r>
          </a:p>
        </p:txBody>
      </p:sp>
      <p:sp>
        <p:nvSpPr>
          <p:cNvPr id="5" name="TextBox 4"/>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