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 in one line: by the end of this hour, prompting should look like a testable engineering technique rather than a knack some people have. Say up front that every technique comes with a complete prompt they can copy, and that the reading pack has more depth than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seconds. Flag the two segments that change what people build rather than what they type: structured output and the cost lever. Say honestly that the deck is tight and the reading carries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explain anything yet — let the contrast land. Ask the room which one they would send to a customer. Then the point: same model, same input, same cost order of magnitude. The difference is entirely engineering, and by the end of the hour they will know every element that made the right-hand side work. This is the release-notes example we return to all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 as the one durable framework from the 2024 source material. Emphasise that drawing it as a list is how you get people who "did prompt engineering" once. The inner test→refine loop is where the work is. The outer dotted return exists because inputs drift and models change under you.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D["1. Define the objective"] --&gt; P["2. Draft a simple prompt"]</a:t>
            </a:r>
          </a:p>
          <a:p>
            <a:r>
              <a:t>    P --&gt; T["3. Test on real inputs"]</a:t>
            </a:r>
          </a:p>
          <a:p>
            <a:r>
              <a:t>    T --&gt; R{"4. Good enough?"}</a:t>
            </a:r>
          </a:p>
          <a:p>
            <a:r>
              <a:t>    R --&gt;|"no"| RF["5. Refine ONE thing"]</a:t>
            </a:r>
          </a:p>
          <a:p>
            <a:r>
              <a:t>    RF --&gt; T</a:t>
            </a:r>
          </a:p>
          <a:p>
            <a:r>
              <a:t>    R --&gt;|"yes"| F["6. Evaluate on held-out&lt;br/&gt;cases, freeze, version"]</a:t>
            </a:r>
          </a:p>
          <a:p>
            <a:r>
              <a:t>    F -.-&gt;|"inputs and models drift"|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step people skip and it is the whole game. Point out what the right-hand column actually is: an eval rubric. They have written the scoring function before writing the prompt. Land the correction to the old material — testing is not step 3 of 6, it is a precondition. Without success criteria and a way to check them, you are not engineering, you are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quickly — this is the worked example from the reading. The contrast to draw: the usual alternative is rewriting the whole prompt in frustration and having no idea what fixed it. Each row here is a hypothesis, a test, and a result. Note that two of the five fixes are exclusions — telling the model what not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taxonomy as a working reference, not an ontology — its categories overlap and that is fine. The value is that it breaks the habit of applying one prompt shape to everything. Point them at The Prompt Report for a rigorous 58-technique taxonomy when two engineers need to agree on what a word means.</a:t>
            </a:r>
          </a:p>
          <a:p/>
          <a:p>
            <a:r>
              <a:t>--- Mermaid source 1 (render and place on the diagram box) ---</a:t>
            </a:r>
          </a:p>
          <a:p>
            <a:r>
              <a:t>graph TD</a:t>
            </a:r>
          </a:p>
          <a:p>
            <a:r>
              <a:t>    ROOT["What am I asking for?"]</a:t>
            </a:r>
          </a:p>
          <a:p>
            <a:r>
              <a:t>    ROOT --&gt; A["Reshape existing text"]</a:t>
            </a:r>
          </a:p>
          <a:p>
            <a:r>
              <a:t>    ROOT --&gt; B["Produce something new"]</a:t>
            </a:r>
          </a:p>
          <a:p>
            <a:r>
              <a:t>    ROOT --&gt; C["Reason or judge"]</a:t>
            </a:r>
          </a:p>
          <a:p>
            <a:r>
              <a:t>    ROOT --&gt; D["Interact"]</a:t>
            </a:r>
          </a:p>
          <a:p>
            <a:r>
              <a:t>    A --&gt; A1["Transformational / Translation / Data Analysis"]</a:t>
            </a:r>
          </a:p>
          <a:p>
            <a:r>
              <a:t>    B --&gt; B1["Content Gen / Creative / Code / Procedural"]</a:t>
            </a:r>
          </a:p>
          <a:p>
            <a:r>
              <a:t>    C --&gt; C1["Critical Thinking / Recommendation"]</a:t>
            </a:r>
          </a:p>
          <a:p>
            <a:r>
              <a:t>    D --&gt; D1["Role-Playing / Educational"]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table. Name the two patterns instead: (1) delimiters are essential wherever the prompt contains text you did not write — that is a boundary, not a style preference; (2) temperature 0 is the right default for nearly everything this room does. Tell them the full 11-row version is in the reading and is designed to be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mechanism, because it predicts the failure modes: the exemplars sit in the context window, and the most likely continuation of three input→output pairs is a fourth in the same shape. Nothing in the model changes. Therefore: unrepresentative examples produce unrepresentative output, imbalanced labels produce biased output, and a mislabelled exemplar is a bug that ships.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LR</a:t>
            </a:r>
          </a:p>
          <a:p>
            <a:r>
              <a:t>    I["Instructions"] --&gt; E1["Ex 1: in -&gt; out"] --&gt; E2["Ex 2: in -&gt; out"] --&gt; E3["Ex 3: in -&gt; out"] --&gt; Q["Real input"] --&gt; M["Model continues&lt;br/&gt;the pattern"]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both outputs aloud — the left one is the one everybody gets and quietly tolerates. Point out that the model could not possibly have known your severity ladder; three examples taught it. Then the numbers: +180 input tokens, output down from 60 words to 2 lines, 10 identical formats across 10 runs instead of 6 different ones. That consistency is what makes it automatable.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half. Give the diagnostic question: am I struggling to describe the format, or to get the right answer? Few-shot fixes the first and rarely the second. If the model lacks the knowledge, no number of examples supplies it — that is retrieval, which is Session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pushback — half the room believes this tip and most blog posts still repeat it. That is exactly why it is on a slide. Explain the mechanism: emitting reasoning first gives the model more tokens to condition on, i.e. more computation. Then explain what changed: current models expose thinking budget / reasoning effort as a request parameter, so instructing the model to think is redundant and can inflate cost and break your output format. Note that a 30-month-old prompting curriculum is missing half its vocabulary — assume the same about this one, which is why we teach testing rather than phrases.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LR</a:t>
            </a:r>
          </a:p>
          <a:p>
            <a:r>
              <a:t>    subgraph "Direct answer"</a:t>
            </a:r>
          </a:p>
          <a:p>
            <a:r>
              <a:t>      Q1["Question"] --&gt; A1["Answer"]</a:t>
            </a:r>
          </a:p>
          <a:p>
            <a:r>
              <a:t>    end</a:t>
            </a:r>
          </a:p>
          <a:p>
            <a:r>
              <a:t>    subgraph "With reasoning"</a:t>
            </a:r>
          </a:p>
          <a:p>
            <a:r>
              <a:t>      Q2["Question"] --&gt; R["Reasoning tokens"] --&gt; A2["Answer conditioned&lt;br/&gt;on the reasoning"]</a:t>
            </a:r>
          </a:p>
          <a:p>
            <a:r>
              <a:t>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honest findings to say out loud: reasoning sometimes does not help at all on pattern-match tasks while costing several times more and taking several times longer; reasoning models can hallucinate more on some recall-shaped tasks; and token budgets for the same answer vary enormously between models. Then the hard one: the visible chain of reasoning is not an audit trail. It is generated text that correlates with, but does not record, the computation. Never present it as justification to a change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three quickly and concretely. System message: more authoritative, and — the bit everyone misses — it is the cacheable part, so put static content there. Delimiters: XML-ish tags by default, named so you can refer to them ("matching the tone of &lt;previous_notes&gt;"). Grounding: "describe only what is in the input" is the single highest-value line for any transformational task. Self-critique: good at rule violations, bad at factual errors, because the critique inherits the same blind spots.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S["SYSTEM: rules, contract, persona&lt;br/&gt;(static -&gt; cacheable)"] --&gt; M["Model"]</a:t>
            </a:r>
          </a:p>
          <a:p>
            <a:r>
              <a:t>    U["USER: this request +&lt;br/&gt;&amp;lt;data&amp;gt; untrusted &amp;lt;/data&amp;gt;"] --&gt; M</a:t>
            </a:r>
          </a:p>
          <a:p>
            <a:r>
              <a:t>    M --&gt; O["Output"]</a:t>
            </a:r>
          </a:p>
          <a:p>
            <a:r>
              <a:t>    U -.-&gt;|"Session 14 attacks&lt;br/&gt;this boundary"| X["injection risk"]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 for the hook. Every line is there because a test case failed without it — nobody guessed. Draw attention to the exemplar design: two of the three examples show the model what not to output. Negative exemplars are underused and are often the fastest fix for over-inclusion. Tell them the full prompt is in the reading, ready to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changes what they build. In every row the model does identical work; the only difference is whether the output has a contract. Once triage returns {severity, component, needs_escalation}, routing is automatic and the human gate becomes a deliberate design decision instead of a bottleneck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Engineers conflate these constantly. Make the mechanism concrete: constrained decoding restricts the valid token set at each step, so invalid JSON cannot be sampled. At 98% compliance and 10,000 calls a day, tier 1 means 200 daily parse failures. Then the vendor-reading lesson: one vendor shipped constrained decoding in Aug 2024 and called it a guarantee; the other argued instruction-following sufficed until shipping the same mechanism in Nov 2025. The market resolved it by convergence. Verify both dates and current capabilities at delivery.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A["1. Ask for JSON"] --&gt;|"a request"| A1["Fails on fences,&lt;br/&gt;preamble, truncation"]</a:t>
            </a:r>
          </a:p>
          <a:p>
            <a:r>
              <a:t>    B["2. Constrained decoding"] --&gt;|"a guarantee"| B1["Invalid JSON is&lt;br/&gt;unrepresentable"]</a:t>
            </a:r>
          </a:p>
          <a:p>
            <a:r>
              <a:t>    C["3. Tool / function calling"] --&gt;|"guarantee + choice"| C1["Model decides whether&lt;br/&gt;and which to call"]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to land hard: a required field with no null branch is an instruction to fabricate. If started_utc is required and the thread never states a time, the model produces a plausible timestamp. Constrained decoding guarantees schema-valid, not true — and a well-formatted wrong answer is harder to catch than a messy one, which is the human-factors trap from the safety material. The evidence field of verbatim quotes is the cheapest verification tool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claim with all its qualifiers: narrow, well-specified, repetitive tasks — the kind that dominate operational work. Two non-obvious points from the table: the engineered prompt uses more input tokens and fewer output tokens, and output tokens are the expensive ones, so constraining output is a cost technique. And latency often matters more than money — 5× faster is the difference between an inline CI check and a nightly job. Then caching: put static content first and variable content last, and the input side nearly disappears.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durable thing in the session — a way of reading claims, not a technique. Much of what looks like clever prompting is simply spending more tokens, which does work and is a different claim. Give them the four-question card: at what total cost per call? against what baseline at the same budget? same scaffold? same eval set? Then turn it inward: apply it to your own A/B tests before someone else does.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IN["Request"] --&gt; S["Small model,&lt;br/&gt;engineered prompt"]</a:t>
            </a:r>
          </a:p>
          <a:p>
            <a:r>
              <a:t>    S --&gt; V{"Valid + confident?"}</a:t>
            </a:r>
          </a:p>
          <a:p>
            <a:r>
              <a:t>    V --&gt;|"yes ~85%"| OUT["Result"]</a:t>
            </a:r>
          </a:p>
          <a:p>
            <a:r>
              <a:t>    V --&gt;|"no"| F["Frontier model"]</a:t>
            </a:r>
          </a:p>
          <a:p>
            <a:r>
              <a:t>    F --&gt; OUT</a:t>
            </a:r>
          </a:p>
          <a:p>
            <a:r>
              <a:t>    OUT --&gt; LOG["Log tokens, cost,&lt;br/&gt;prompt version"]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 room's home turf — every property that makes something worth version-controlling applies to a prompt. Most teams are at level 0 or 1; level 3 is one afternoon away and captures most of the value. Two things they will not have thought of: run the eval on a schedule because the model can change under a stable name, and log human edits of model drafts — that diff is perfectly-labelled failure data almost everyone discards. Hand off to Session 11, which does this live on their own tasks.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P["prompt v7 in git"] --&gt; R["Runner"]</a:t>
            </a:r>
          </a:p>
          <a:p>
            <a:r>
              <a:t>    E["eval set: 20-50 real cases"] --&gt; R</a:t>
            </a:r>
          </a:p>
          <a:p>
            <a:r>
              <a:t>    R --&gt; S["pass rate + cost + tokens"]</a:t>
            </a:r>
          </a:p>
          <a:p>
            <a:r>
              <a:t>    S --&gt; G{"Regression?"}</a:t>
            </a:r>
          </a:p>
          <a:p>
            <a:r>
              <a:t>    G --&gt;|"yes"| BLOCK["CI fails"]</a:t>
            </a:r>
          </a:p>
          <a:p>
            <a:r>
              <a:t>    G --&gt;|"no"| PROD["Production"]</a:t>
            </a:r>
          </a:p>
          <a:p>
            <a:r>
              <a:t>    PROD --&gt;|"failures become&lt;br/&gt;new cases"| 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poll first — it is fast, it is honest, and level 0/1 dominance is the point. Then open the floor. The prepared prompts are in the exercises file; the two that reliably generate the best discussion are "which of your recurring tasks is narrow enough for the cheap-model argument?" and "what would break if a prompt silently regressed next Tuesday?"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licence split explicitly — this deck was built only from permissively licensed material, and the copyrighted sources are excellent reading that we deliberately did not copy. Warn them off the tutorial's chain-of-thought chapter specifically. Repeat the currency warning: verify every model name, price and feature claim before reusing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A37"/>
                </a:solidFill>
                <a:latin typeface="Segoe UI"/>
              </a:rPr>
              <a:t>Prompting I: The 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Session 10 of 16  ·  Use it well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AI Training Series  ·  45 min + 15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cycle → the taxonomy → core craft → chain-of-thought → structured output → the cost lever → prompts as artifacts.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"45 min + 15 min Q&amp;A."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Hook: same model, same commits, two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"Nothing changed but the prompt." Two-column: LEFT Write release notes from these commits: → output riddled with ticket IDs, a dependency bump, and an invented feature.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RIGHT the engineered prompt → 6 clean customer-facing bullets.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Prompting is a loop, not a phrase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"Define → draft → test → refine → iterate → evaluate." Bullets: the inner loop is the technique; change one thing per iteration; the outer loop never closes.</a:t>
            </a:r>
          </a:p>
        </p:txBody>
      </p:sp>
      <p:sp>
        <p:nvSpPr>
          <p:cNvPr id="5" name="Rounded Rectangle 4" descr="Diagram: Prompting is a loop, not a phrase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1. Define the objective  →  2. Draft a simple prompt  →  3. Test on real inputs  →  5. Refine ONE thing  →  6. Evaluate on held-out cases, freeze,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Write the rubric before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"If you can't grade it, you can't engineer it." Two-column table, vague vs. checkable: "Good release notes" → "One bullet per user-visible change; verb-first; ≤20 words; no ticket IDs; refactors excluded; ≤12 bullets."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the "presupposes success criteria + a way to test" framing is re-expressed from vendor documentation — pa…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Five refinements, each attributable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"One change per iteration, or you learn nothing." Table: v2 output contract → format fixed 5/5; v3 exclusion list → dependency bumps gone; v4 grounding constraint → invention gone; v5 two exemplars → tone stable; v6 empty-case string → edge case fixed.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Classify the task before you 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"Eleven task types, four routing questions." Bullets: reshape / produce / reason / interact; ten seconds of classification changes which knobs you touch.</a:t>
            </a:r>
          </a:p>
        </p:txBody>
      </p:sp>
      <p:sp>
        <p:nvSpPr>
          <p:cNvPr id="5" name="Rounded Rectangle 4" descr="Diagram: Classify the task before you write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What am I asking for?  →  Reshape existing text  →  Produce something new  →  Reason or judge  →  Interact  →  Transformational / Translation /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grouping original; the 11 types re-authored from a LINK-ONLY source. Mention The Prompt Report v6 (CC BY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decision table (the print-and-keep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Task type × technique matrix — rows: Transformational, Critical Thinking, Data Analysis, Code Generation, Recommendation (5 rows only on slide; full 11 in the handout). Columns: System msg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Delimiters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Few-shot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Reasoning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Structured output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Zero-shot vs. few-shot: show, don't describe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"Few-shot is pattern continuation, not learning." Bullets: 2–3 examples; hard cases, not easy ones; consistent format; correct labels — the model copies your mistakes perfectly.</a:t>
            </a:r>
          </a:p>
        </p:txBody>
      </p:sp>
      <p:sp>
        <p:nvSpPr>
          <p:cNvPr id="5" name="Rounded Rectangle 4" descr="Diagram: Zero-shot vs. few-shot: show, don't describe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Instructions  →  Ex 1: in -&gt; out  →  Ex 2: in -&gt; out  →  Ex 3: in -&gt; out  →  Real input  →  Model continues the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definitions align with The Prompt Report v6 (CC BY 4.0) — footer: "Terminology: The Prompt Report v6, CC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Before / after: severity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Two columns.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LEFT zero-shot → 60 hedged words, "High, though it could be argued as Medium." RIGHT few-shot with your own S1–S4 ladder → Severity: S2 / one-line justification.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When examples make it worse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"Few-shot fixes shape, not knowledge." Bullets: simple statable rule → just state it; creative task → exemplars collapse variety; long inputs → they compete for context; high volume → you pay per call; wrong exemplar → copied perfectly.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"Let's think step by step" is a 2023 artefact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"The most-quoted prompt tip is now obsolete." Bullets: CoT works because reasoning tokens buy computation; on modern models reasoning is a parameter with a budget; the engineering question is "is this call worth it?", not "what phrase do I add?"</a:t>
            </a:r>
          </a:p>
        </p:txBody>
      </p:sp>
      <p:sp>
        <p:nvSpPr>
          <p:cNvPr id="5" name="Rounded Rectangle 4" descr="Diagram: &quot;Let's think step by step&quot; is a 2023 artefact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Question  →  Answer  →  Question  →  Reasoning tokens  →  Answer conditioned on the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Reasoning: when it pays and when it burns money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Table. Worth it: policy/ship decisions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weighted comparisons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debugging from logs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RCA over a timeline. Not worth it: 4-way classification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summarise/reformat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JSON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findings summarised from LINK-ONLY source material and public research — paraphrased, no reproduction. No…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Three structural habits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"System message = standing policy.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User message = this request.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Delimiters = the boundary." Bullets: rules and contract in system; data fenced in named tags; grounding constraint; self-critique for rule violations.</a:t>
            </a:r>
          </a:p>
        </p:txBody>
      </p:sp>
      <p:sp>
        <p:nvSpPr>
          <p:cNvPr id="5" name="Rounded Rectangle 4" descr="Diagram: Three structural habits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SYSTEM: rules, contract, persona (static -&gt; cacheable)  →  Model  →  USER: this request + &amp;lt;data&amp;gt; untrusted &amp;lt;/data&amp;gt;  →  Output  →  injection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finished prompt, every element earning its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v6 release-notes prompt, abbreviated to fit, with 6 numbered call-outs mapping each element to the failure it fixed: system block → rules ignored; &lt;commits&gt; tags → instruction/data confusion; output contract → marketing prose; exclusion list → dependency bumps as features; grounding line → invented features; negative exemplars → not knowing what "omit" looks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Structured output is the bridge to tooling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"Prose needs a reader.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JSON needs a pipeline." Table: release notes / incident triage / config diff / log triage — prose column vs. structured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Asking for JSON vs. guaranteeing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"A request is not a guarantee." Three tiers: (1) "reply in JSON" — usually works, fails on fences, preambles, truncation; (2) constrained decoding — schema compiled to a grammar, invalid output unrepresentable; (3) tool/function calling — same guarantee plus the model chooses whether to call.</a:t>
            </a:r>
          </a:p>
        </p:txBody>
      </p:sp>
      <p:sp>
        <p:nvSpPr>
          <p:cNvPr id="5" name="Rounded Rectangle 4" descr="Diagram: Asking for JSON vs. guaranteeing it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1. Ask for JSON  →  Fails on fences, preamble, truncation  →  2. Constrained decoding  →  Invalid JSON is unrepresentable  →  3. Tool / function calling  →  Model decides whether and which to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mechanism description consistent with OpenAI Cookbook (MIT) — footer: "OpenAI Cookbook, MIT."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schema is part of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incident-triage schema, abbreviated: enum severity, enum component, started_utc: string|null, evidence: string[], confidence: enum.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Bullets: enums close the vocabulary; descriptions are instructions; always give a null branch; ask for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cheap model, well prompted, matches an expensive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"Prompting is a cost lever, measurably." Table: frontier+lazy `92% pass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$0.044/call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6 s vs. small+engineered 90% pass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$0.0022/call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1.2 s`. Footnote: illustrative — run your own; prices/models verify at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question that dissolves most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"Was it compared at equal token budget?" Bullets: a documented multi-agent result where token usage alone explained ~80% of performance variance at ~15× the tokens; report pass rate + cost/call + tokens/call together; hold your own team to this bar.</a:t>
            </a:r>
          </a:p>
        </p:txBody>
      </p:sp>
      <p:sp>
        <p:nvSpPr>
          <p:cNvPr id="5" name="Rounded Rectangle 4" descr="Diagram: The question that dissolves most claims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Request  →  Small model, engineered prompt  →  Result  →  Frontier model  →  Log tokens, cost, prompt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the token-variance finding is from a vendor engineering post (LINK-ONLY) — paraphrase the finding, do not…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prompt is production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"In git.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In a PR.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In CI.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Logged with its version." The maturity ladder: 0 folklore → 1 written down → 2 versioned → 3 tested → 4 gated → 5 observed.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Bullets: start with 5 real cases; grow to 20–50 from real failures; run on a schedule, not just on change.</a:t>
            </a:r>
          </a:p>
        </p:txBody>
      </p:sp>
      <p:sp>
        <p:nvSpPr>
          <p:cNvPr id="5" name="Rounded Rectangle 4" descr="Diagram: A prompt is production configuration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prompt v7 in git  →  Runner  →  eval set: 20-50 real cases  →  pass rate + cost + tokens  →  CI fails  → 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Discussion / poll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"Where is your team on the ladder?" A/B/C poll: (A) prompts live in chat histories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(B) written down somewhere shared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(C) versioned and tested. Then the discussion prompts from exercises/discussion.md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Resources &amp;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Slide-safe: OpenAI Cookbook &amp; prompting guides (MIT)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DAIR.AI promptingguide.ai (MIT)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Prompt Report v6 (CC BY 4.0). Reading only, not reproduced: Google Prompt Engineering whitepaper (© Google)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Anthropic prompting best practices &amp; interactive tutorial (proprietary; tutorial is Claude-3-era)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vendor blog posts. Tooling: promptfoo (MIT) — note OpenAI ownership since 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10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full detail in ../resources/sources.md. --- ## Build checklist for this deck - [ ] Slides 3, 10, 15, 18 c…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