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Session 13 was about failures that come from what this technology is. Today is about failures that come from how you deploy it. One line of framing before we start, and say it plainly: this is defensive material. We look at how these systems break so we can gate them properly. Nothing here is an attack recipe.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beats, forty-five minutes — this is the densest session in the series and it will feel fast. Two things you take away as artefacts: the OWASP checklist and a policy draft you write yourselves. Mirror the README minute budget.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setup, no signup, phones are fine. Do not explain the levels — the discovery is the lesson. Circulate; unstick a table if needed; keep the energy up. Have a stopwatch visible. If the network is down, run the text-only version from exercises/lab.md.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the poll: highest level reached — hands at 2,3,4,5,6,7+. Show the spread. Then the sentence that carries the session: every one of those layers was a real, deliberately-built defence, and a room of non-specialists with no tools got through several of them in eight minutes. Ask what would have made the password genuinely safe — push until someone says not putting it in the context window. That is the whole session.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architectural fact everything today descends from. Recall Session 1: it is a pattern-matcher predicting a continuation, not a process obeying its owner. Your system prompt is one influence among several. When the untrusted text carries a stronger, more recent, more imperative pattern, that pattern can win. Slow down here — if only one slide lands today, make it this one.</a:t>
            </a:r>
          </a:p>
          <a:p/>
          <a:p>
            <a:r>
              <a:t>--- Mermaid source 1 (render and place on the diagram box) ---</a:t>
            </a:r>
          </a:p>
          <a:p>
            <a:r>
              <a:t>flowchart LR</a:t>
            </a:r>
          </a:p>
          <a:p>
            <a:r>
              <a:t>    S["System prompt&lt;br/&gt;(your instructions)"] --&gt; C["One concatenated&lt;br/&gt;token stream"]</a:t>
            </a:r>
          </a:p>
          <a:p>
            <a:r>
              <a:t>    U["User input&lt;br/&gt;(untrusted)"] --&gt; C</a:t>
            </a:r>
          </a:p>
          <a:p>
            <a:r>
              <a:t>    D["Retrieved document / email /&lt;br/&gt;ticket / log (untrusted)"] --&gt; C</a:t>
            </a:r>
          </a:p>
          <a:p>
            <a:r>
              <a:t>    C --&gt; M["Model:&lt;br/&gt;predicts the next token"]</a:t>
            </a:r>
          </a:p>
          <a:p>
            <a:r>
              <a:t>    M --&gt; O["Output"]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beat that lands with developers. Prepared statements work because the database parses the template first and binds values into slots that can never be re-parsed as syntax. There is nothing equivalent here — for a language model, everything is language. Vendors expose system/user/tool roles and train models to weight them differently; that helps and it is not enforcement. Give the one-line version people can repeat to a colleague.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Direct injection is mostly a content-integrity problem, and the attacker is usually already authorised — unless your app has more privilege than the user, which is the confused-deputy case worth flagging. Indirect is the one people miss, so make the carrier list local: every one of those is externally authored or externally influenceable, and every one is something this team already feeds to tooling. The wiki-index row is the worst — poison it once and it is retrieved for months, invisibly. That is why OWASP gave RAG its own 2025 entry; we get there on slide 15.</a:t>
            </a:r>
          </a:p>
          <a:p/>
          <a:p>
            <a:r>
              <a:t>--- Mermaid source 1 (render and place on the diagram box) ---</a:t>
            </a:r>
          </a:p>
          <a:p>
            <a:r>
              <a:t>sequenceDiagram</a:t>
            </a:r>
          </a:p>
          <a:p>
            <a:r>
              <a:t>    participant X as Attacker</a:t>
            </a:r>
          </a:p>
          <a:p>
            <a:r>
              <a:t>    participant R as Content store</a:t>
            </a:r>
          </a:p>
          <a:p>
            <a:r>
              <a:t>    participant A as Your LLM app</a:t>
            </a:r>
          </a:p>
          <a:p>
            <a:r>
              <a:t>    participant T as Tool / API</a:t>
            </a:r>
          </a:p>
          <a:p>
            <a:r>
              <a:t>    X-&gt;&gt;R: Plants instructions in content</a:t>
            </a:r>
          </a:p>
          <a:p>
            <a:r>
              <a:t>    Note over R: Weeks pass. No attack in progress.</a:t>
            </a:r>
          </a:p>
          <a:p>
            <a:r>
              <a:t>    A-&gt;&gt;R: Retrieves (RAG / summariser / agent)</a:t>
            </a:r>
          </a:p>
          <a:p>
            <a:r>
              <a:t>    A-&gt;&gt;T: Acts on the attacker's instruction</a:t>
            </a:r>
          </a:p>
          <a:p>
            <a:r>
              <a:t>    T--&gt;&gt;X: Consequence lands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Someone will propose this within thirty seconds, and it deserves a precise dismissal rather than a dismissive one — because it helps a little, which is exactly what makes it dangerous. Write it, by all means. Never let anyone cite it as the reason a design is safe. The security boundary must go somewhere a parser can enforce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useful design-review tool in the session. Ask the three questions in order and stop at the first no. If all three are yes, you do not have a prompt-engineering problem, you have an architecture problem. Flag that outbound channels are rarely labelled as such — a rendered image URL, a "share" button, a tool that fetches a link, a ticket an outsider can read. Attribute verbally: this framing is Simon Willison's; we are stating the concept in our own words.</a:t>
            </a:r>
          </a:p>
          <a:p/>
          <a:p>
            <a:r>
              <a:t>--- Mermaid source 1 (render and place on the diagram box) ---</a:t>
            </a:r>
          </a:p>
          <a:p>
            <a:r>
              <a:t>graph TD</a:t>
            </a:r>
          </a:p>
          <a:p>
            <a:r>
              <a:t>    U["1. Untrusted content"] --&gt; D["DANGEROUS&lt;br/&gt;combination"]</a:t>
            </a:r>
          </a:p>
          <a:p>
            <a:r>
              <a:t>    P["2. Private data"] --&gt; D</a:t>
            </a:r>
          </a:p>
          <a:p>
            <a:r>
              <a:t>    E["3. Outbound channel"] --&gt; D</a:t>
            </a:r>
          </a:p>
          <a:p>
            <a:r>
              <a:t>    D --&gt; R["Remove ANY ONE leg&lt;br/&gt;→ path breaks"]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difference between an embarrassment and an incident is whether the output does something. Three compounding factors with agents: a poisoned observation influences every later step of the trajectory; tokens get over-scoped because narrowing them is tedious (OWASP LLM06); and the whole point of automation is that no human is watching. Note that the source deck flagged "an API that acts directly on an LLM" years ago in a single line — it was right, and this is that line grown up.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 each reason back to the Gandalf experience. There is no if disallowed: return in a forward pass — there are weights that make refusal likely on inputs resembling alignment training. Attackers can search automatically. And "explain this buffer overflow" is a jailbreak from one person and a Tuesday from a Qualcomm security engineer — so some jailbreak success is the unavoidable cost of the model being useful to professionals. Closing position: providers make it harder, continuously; nobody makes it impossible, and any vendor claiming otherwise is telling you something untrue.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People collapse this into "does it train on my data?", which is usually the least likely path on an enterprise tier and distracts from the other three. The context path is the one that matters: secrets in a system prompt, or a RAG index that returns documents the asking user cannot open — that second one is the most common serious finding in internal deployments. Then the rule: RED is credentials, customer PII, unreleased specs, NDA material, unfixed security defects. AMBER is config baselines, defect records, logs, source — sanctioned tool only, never a personal account. Two refinements: cosmetic redaction is not de-identification (drop fields, don't mask strings), and aggregation changes the tier. Run the anonymous poll before this slide.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the denominator honestly — these are security-relevant scenarios, not all code, and a technical audience will ask. State the caveat honestly too: methodologies differ, so this is not a clean time series and you should not draw a trend line. The defensible claim is the 40–60% band across four years and successive model generations. Then the consequence that actually matters: review, not authorship, is now the bottleneck, and SAST/SCA on generated code is the highest-return control available.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people photograph, and unusually for this field you can legally hand it out — CC BY-SA 4.0. Walk it fast; the depth is in content/04. Flag that it is a floor, not a ceiling: ten boxes ticked means ten known categories were considered, not that you are secure. The method for finding what is not on anybody's list is slide 16.</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LLM07's real point is not that someone read your prompt — it is that teams put things in prompts that were acting as security controls: keys, thresholds, internal system names. LLM08 covers four distinct failures: index poisoning, access-control bypass at retrieval, cross-tenant bleed, and embedding inversion. The line that surprises people: an embedding is not anonymisation — if the corpus is confidential, the vector store is confidential.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method, borrowed from aviation and automotive system safety. The key abstraction for LLMs: the hazard source is always the same thing — a piece of wrong information — whether it arrived by hallucination, injection, jailbreak, or a poisoned index. That is why one method covers all of today. Two rules, and the second is the powerful one: eliminating any component collapses the triangle entirely.</a:t>
            </a:r>
          </a:p>
          <a:p/>
          <a:p>
            <a:r>
              <a:t>--- Mermaid source 1 (render and place on the diagram box) ---</a:t>
            </a:r>
          </a:p>
          <a:p>
            <a:r>
              <a:t>graph TD</a:t>
            </a:r>
          </a:p>
          <a:p>
            <a:r>
              <a:t>    HS["HS — Hazard Source&lt;br/&gt;wrong / injected information"]</a:t>
            </a:r>
          </a:p>
          <a:p>
            <a:r>
              <a:t>    IM["IM — Initiating Mechanism&lt;br/&gt;what turns it into harm"]</a:t>
            </a:r>
          </a:p>
          <a:p>
            <a:r>
              <a:t>    TTO["TTO — Target / Threat Outcome&lt;br/&gt;who is hurt, how badly"]</a:t>
            </a:r>
          </a:p>
          <a:p>
            <a:r>
              <a:t>    HS --- IM</a:t>
            </a:r>
          </a:p>
          <a:p>
            <a:r>
              <a:t>    IM --- TTO</a:t>
            </a:r>
          </a:p>
          <a:p>
            <a:r>
              <a:t>    TTO --- HS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poll 3 before revealing the analysis: safe / unsafe / it depends. The room will split, and the split is the lesson — those voting safe are thinking about drafting (fine), those voting unsafe are thinking about publishing (the initiating mechanism). "It depends" is right, and what it depends on is exactly one design decision. Same model, same data, same prompt; one architectural change moves it from unsafe to safe.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gate rule is the one instruction from today that changes behaviour, so land all three words. Automated — unattended action is the danger, drafting is fine. Qualified — Session 13 said human-in-the-loop is necessary but not sufficient; a reviewer who cannot catch the error is a rubber stamp that also creates false confidence. Gate — it must be able to stop the action, and stopping is the default. Then the inversion: if the model is right 99% of the time, catching the 1% gets harder, not easier — vigilance decays, so a better model needs more discipline at the gate, not less.</a:t>
            </a:r>
          </a:p>
          <a:p/>
          <a:p>
            <a:r>
              <a:t>--- Mermaid source 1 (render and place on the diagram box) ---</a:t>
            </a:r>
          </a:p>
          <a:p>
            <a:r>
              <a:t>flowchart LR</a:t>
            </a:r>
          </a:p>
          <a:p>
            <a:r>
              <a:t>    D["1. What DATA&lt;br/&gt;goes in"] --&gt; L["LLM"]</a:t>
            </a:r>
          </a:p>
          <a:p>
            <a:r>
              <a:t>    L --&gt; U["2. What TASKS&lt;br/&gt;are sanctioned"]</a:t>
            </a:r>
          </a:p>
          <a:p>
            <a:r>
              <a:t>    U --&gt; V["3. How the USER&lt;br/&gt;verifies"]</a:t>
            </a:r>
          </a:p>
          <a:p>
            <a:r>
              <a:t>    V --&gt; A["Real-world actions"]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Sixty seconds if you are running long, and you will be. Most of the Act targets providers; you are a deployer, which limits obligations sharply. Say the provisional caveat out loud — a training session that asserts an unconfirmed date gets quoted back as fact in a compliance conversation. Note the pleasing convergence: the high-risk duties (human oversight, logging, monitoring) are exactly what slide 18 already told you to do. Not legal advice; legal and compliance own the real position.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groups, one section each, in the Q&amp;A block or as follow-up. The document is a by-product; the conversation is the deliverable, because filling in "what may not be pasted" forces the classification argument. Two warnings: a policy that lists prohibitions without an approval path gets ignored, and one with no incident section produces an organisation that believes it has had no incidents. Both source playbooks are licence-clean — no procurement conversation needed.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the seed question from exercises/discussion.md. The best answers are usually not about AI at all — auto-closed defects, scheduled customer reports, config sync jobs — and the realisation is that the human gate was already missing in places, and adding an LLM there is what makes it dangerous. Close by going round for one concrete Monday change each; push vague answers once for specificity.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at the pre-read — Willison's posts are twenty minutes and the single best preparation for this session. Note which items were embedded (the CC/public-domain ones, attributed in footers) and which were only linked. Licences and verification dates live in resources/sources.md.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2103120"/>
            <a:ext cx="10515600" cy="1463040"/>
          </a:xfrm>
          <a:prstGeom prst="rect">
            <a:avLst/>
          </a:prstGeom>
          <a:noFill/>
        </p:spPr>
        <p:txBody>
          <a:bodyPr wrap="square" anchor="t">
            <a:spAutoFit/>
          </a:bodyPr>
          <a:lstStyle/>
          <a:p>
            <a:pPr algn="l">
              <a:spcAft>
                <a:spcPts val="1000"/>
              </a:spcAft>
            </a:pPr>
            <a:r>
              <a:rPr sz="4000" b="1">
                <a:solidFill>
                  <a:srgbClr val="1F2A37"/>
                </a:solidFill>
                <a:latin typeface="Segoe UI"/>
              </a:rPr>
              <a:t>Risk II: Security, Privacy &amp; Mitigation in Practice</a:t>
            </a:r>
          </a:p>
        </p:txBody>
      </p:sp>
      <p:sp>
        <p:nvSpPr>
          <p:cNvPr id="3" name="Rectangle 2"/>
          <p:cNvSpPr/>
          <p:nvPr/>
        </p:nvSpPr>
        <p:spPr>
          <a:xfrm>
            <a:off x="822960" y="3703320"/>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977639"/>
            <a:ext cx="10515600" cy="822960"/>
          </a:xfrm>
          <a:prstGeom prst="rect">
            <a:avLst/>
          </a:prstGeom>
          <a:noFill/>
        </p:spPr>
        <p:txBody>
          <a:bodyPr wrap="square" anchor="t">
            <a:spAutoFit/>
          </a:bodyPr>
          <a:lstStyle/>
          <a:p>
            <a:pPr algn="l">
              <a:spcAft>
                <a:spcPts val="1000"/>
              </a:spcAft>
            </a:pPr>
            <a:r>
              <a:rPr sz="1700" b="0">
                <a:solidFill>
                  <a:srgbClr val="6B7280"/>
                </a:solidFill>
                <a:latin typeface="Segoe UI"/>
              </a:rPr>
              <a:t>Session 14 of 16  ·  Use it safely</a:t>
            </a:r>
          </a:p>
          <a:p>
            <a:pPr algn="l">
              <a:spcAft>
                <a:spcPts val="1000"/>
              </a:spcAft>
            </a:pPr>
            <a:r>
              <a:rPr sz="1700" b="0">
                <a:solidFill>
                  <a:srgbClr val="6B7280"/>
                </a:solidFill>
                <a:latin typeface="Segoe UI"/>
              </a:rPr>
              <a:t>AI Training Series  ·  45 min + 15 min Q&amp;A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Agenda</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Break a model (live)</a:t>
            </a:r>
          </a:p>
          <a:p>
            <a:pPr>
              <a:spcAft>
                <a:spcPts val="1400"/>
              </a:spcAft>
            </a:pPr>
            <a:r>
              <a:rPr sz="2100">
                <a:solidFill>
                  <a:srgbClr val="2563EB"/>
                </a:solidFill>
                <a:latin typeface="Segoe UI"/>
              </a:rPr>
              <a:t>▪  </a:t>
            </a:r>
            <a:r>
              <a:rPr sz="2100">
                <a:solidFill>
                  <a:srgbClr val="111827"/>
                </a:solidFill>
                <a:latin typeface="Segoe UI"/>
              </a:rPr>
              <a:t>Prompt injection</a:t>
            </a:r>
          </a:p>
          <a:p>
            <a:pPr>
              <a:spcAft>
                <a:spcPts val="1400"/>
              </a:spcAft>
            </a:pPr>
            <a:r>
              <a:rPr sz="2100">
                <a:solidFill>
                  <a:srgbClr val="2563EB"/>
                </a:solidFill>
                <a:latin typeface="Segoe UI"/>
              </a:rPr>
              <a:t>▪  </a:t>
            </a:r>
            <a:r>
              <a:rPr sz="2100">
                <a:solidFill>
                  <a:srgbClr val="111827"/>
                </a:solidFill>
                <a:latin typeface="Segoe UI"/>
              </a:rPr>
              <a:t>The three preconditions</a:t>
            </a:r>
          </a:p>
          <a:p>
            <a:pPr>
              <a:spcAft>
                <a:spcPts val="1400"/>
              </a:spcAft>
            </a:pPr>
            <a:r>
              <a:rPr sz="2100">
                <a:solidFill>
                  <a:srgbClr val="2563EB"/>
                </a:solidFill>
                <a:latin typeface="Segoe UI"/>
              </a:rPr>
              <a:t>▪  </a:t>
            </a:r>
            <a:r>
              <a:rPr sz="2100">
                <a:solidFill>
                  <a:srgbClr val="111827"/>
                </a:solidFill>
                <a:latin typeface="Segoe UI"/>
              </a:rPr>
              <a:t>Jailbreaks &amp; guardrails</a:t>
            </a:r>
          </a:p>
          <a:p>
            <a:pPr>
              <a:spcAft>
                <a:spcPts val="1400"/>
              </a:spcAft>
            </a:pPr>
            <a:r>
              <a:rPr sz="2100">
                <a:solidFill>
                  <a:srgbClr val="2563EB"/>
                </a:solidFill>
                <a:latin typeface="Segoe UI"/>
              </a:rPr>
              <a:t>▪  </a:t>
            </a:r>
            <a:r>
              <a:rPr sz="2100">
                <a:solidFill>
                  <a:srgbClr val="111827"/>
                </a:solidFill>
                <a:latin typeface="Segoe UI"/>
              </a:rPr>
              <a:t>What not to paste</a:t>
            </a:r>
          </a:p>
          <a:p>
            <a:pPr>
              <a:spcAft>
                <a:spcPts val="1400"/>
              </a:spcAft>
            </a:pPr>
            <a:r>
              <a:rPr sz="2100">
                <a:solidFill>
                  <a:srgbClr val="2563EB"/>
                </a:solidFill>
                <a:latin typeface="Segoe UI"/>
              </a:rPr>
              <a:t>▪  </a:t>
            </a:r>
            <a:r>
              <a:rPr sz="2100">
                <a:solidFill>
                  <a:srgbClr val="111827"/>
                </a:solidFill>
                <a:latin typeface="Segoe UI"/>
              </a:rPr>
              <a:t>Generated code</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14  ·  AI Training Series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Everyone, open this link (hook)</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gandalf.lakera.ai</a:t>
            </a:r>
          </a:p>
          <a:p>
            <a:pPr>
              <a:spcAft>
                <a:spcPts val="1400"/>
              </a:spcAft>
            </a:pPr>
            <a:r>
              <a:rPr sz="2100">
                <a:solidFill>
                  <a:srgbClr val="2563EB"/>
                </a:solidFill>
                <a:latin typeface="Segoe UI"/>
              </a:rPr>
              <a:t>▪  </a:t>
            </a:r>
            <a:r>
              <a:rPr sz="2100">
                <a:solidFill>
                  <a:srgbClr val="111827"/>
                </a:solidFill>
                <a:latin typeface="Segoe UI"/>
              </a:rPr>
              <a:t>Get the password out of it</a:t>
            </a:r>
          </a:p>
          <a:p>
            <a:pPr>
              <a:spcAft>
                <a:spcPts val="1400"/>
              </a:spcAft>
            </a:pPr>
            <a:r>
              <a:rPr sz="2100">
                <a:solidFill>
                  <a:srgbClr val="2563EB"/>
                </a:solidFill>
                <a:latin typeface="Segoe UI"/>
              </a:rPr>
              <a:t>▪  </a:t>
            </a:r>
            <a:r>
              <a:rPr sz="2100">
                <a:solidFill>
                  <a:srgbClr val="111827"/>
                </a:solidFill>
                <a:latin typeface="Segoe UI"/>
              </a:rPr>
              <a:t>8 minutes. Shout out when you clear a level</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14  ·  AI Training Series</a:t>
            </a:r>
          </a:p>
        </p:txBody>
      </p:sp>
      <p:sp>
        <p:nvSpPr>
          <p:cNvPr id="6" name="TextBox 5"/>
          <p:cNvSpPr txBox="1"/>
          <p:nvPr/>
        </p:nvSpPr>
        <p:spPr>
          <a:xfrm>
            <a:off x="7498079" y="6327648"/>
            <a:ext cx="4023360" cy="365760"/>
          </a:xfrm>
          <a:prstGeom prst="rect">
            <a:avLst/>
          </a:prstGeom>
          <a:noFill/>
        </p:spPr>
        <p:txBody>
          <a:bodyPr wrap="square" anchor="t">
            <a:spAutoFit/>
          </a:bodyPr>
          <a:lstStyle/>
          <a:p>
            <a:pPr algn="r">
              <a:spcAft>
                <a:spcPts val="1000"/>
              </a:spcAft>
            </a:pPr>
            <a:r>
              <a:rPr sz="1000" b="0">
                <a:solidFill>
                  <a:srgbClr val="6B7280"/>
                </a:solidFill>
                <a:latin typeface="Segoe UI"/>
              </a:rPr>
              <a:t>Lakera Gandalf — LIVE DEMO / LINK ONLY. Do not embed.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You just defeated real, engineered defences — in minutes</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L1 no defence</a:t>
            </a:r>
          </a:p>
          <a:p>
            <a:pPr>
              <a:spcAft>
                <a:spcPts val="1400"/>
              </a:spcAft>
            </a:pPr>
            <a:r>
              <a:rPr sz="2100">
                <a:solidFill>
                  <a:srgbClr val="2563EB"/>
                </a:solidFill>
                <a:latin typeface="Segoe UI"/>
              </a:rPr>
              <a:t>▪  </a:t>
            </a:r>
            <a:r>
              <a:rPr sz="2100">
                <a:solidFill>
                  <a:srgbClr val="111827"/>
                </a:solidFill>
                <a:latin typeface="Segoe UI"/>
              </a:rPr>
              <a:t>L2 system prompt</a:t>
            </a:r>
          </a:p>
          <a:p>
            <a:pPr>
              <a:spcAft>
                <a:spcPts val="1400"/>
              </a:spcAft>
            </a:pPr>
            <a:r>
              <a:rPr sz="2100">
                <a:solidFill>
                  <a:srgbClr val="2563EB"/>
                </a:solidFill>
                <a:latin typeface="Segoe UI"/>
              </a:rPr>
              <a:t>▪  </a:t>
            </a:r>
            <a:r>
              <a:rPr sz="2100">
                <a:solidFill>
                  <a:srgbClr val="111827"/>
                </a:solidFill>
                <a:latin typeface="Segoe UI"/>
              </a:rPr>
              <a:t>L3 output guard</a:t>
            </a:r>
          </a:p>
          <a:p>
            <a:pPr>
              <a:spcAft>
                <a:spcPts val="1400"/>
              </a:spcAft>
            </a:pPr>
            <a:r>
              <a:rPr sz="2100">
                <a:solidFill>
                  <a:srgbClr val="2563EB"/>
                </a:solidFill>
                <a:latin typeface="Segoe UI"/>
              </a:rPr>
              <a:t>▪  </a:t>
            </a:r>
            <a:r>
              <a:rPr sz="2100">
                <a:solidFill>
                  <a:srgbClr val="111827"/>
                </a:solidFill>
                <a:latin typeface="Segoe UI"/>
              </a:rPr>
              <a:t>L4 LLM classifier</a:t>
            </a:r>
          </a:p>
          <a:p>
            <a:pPr>
              <a:spcAft>
                <a:spcPts val="1400"/>
              </a:spcAft>
            </a:pPr>
            <a:r>
              <a:rPr sz="2100">
                <a:solidFill>
                  <a:srgbClr val="2563EB"/>
                </a:solidFill>
                <a:latin typeface="Segoe UI"/>
              </a:rPr>
              <a:t>▪  </a:t>
            </a:r>
            <a:r>
              <a:rPr sz="2100">
                <a:solidFill>
                  <a:srgbClr val="111827"/>
                </a:solidFill>
                <a:latin typeface="Segoe UI"/>
              </a:rPr>
              <a:t>L5+ input guard</a:t>
            </a:r>
          </a:p>
          <a:p>
            <a:pPr>
              <a:spcAft>
                <a:spcPts val="1400"/>
              </a:spcAft>
            </a:pPr>
            <a:r>
              <a:rPr sz="2100">
                <a:solidFill>
                  <a:srgbClr val="2563EB"/>
                </a:solidFill>
                <a:latin typeface="Segoe UI"/>
              </a:rPr>
              <a:t>▪  </a:t>
            </a:r>
            <a:r>
              <a:rPr sz="2100">
                <a:solidFill>
                  <a:srgbClr val="111827"/>
                </a:solidFill>
                <a:latin typeface="Segoe UI"/>
              </a:rPr>
              <a:t>Every one of them fell</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14  ·  AI Training Series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There is no boundary between instruction and data</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4937760" cy="4206240"/>
          </a:xfrm>
          <a:prstGeom prst="rect">
            <a:avLst/>
          </a:prstGeom>
          <a:noFill/>
        </p:spPr>
        <p:txBody>
          <a:bodyPr wrap="square">
            <a:spAutoFit/>
          </a:bodyPr>
          <a:lstStyle/>
          <a:p>
            <a:pPr>
              <a:spcAft>
                <a:spcPts val="1400"/>
              </a:spcAft>
            </a:pPr>
            <a:r>
              <a:rPr sz="1700">
                <a:solidFill>
                  <a:srgbClr val="2563EB"/>
                </a:solidFill>
                <a:latin typeface="Segoe UI"/>
              </a:rPr>
              <a:t>▪  </a:t>
            </a:r>
            <a:r>
              <a:rPr sz="1700">
                <a:solidFill>
                  <a:srgbClr val="111827"/>
                </a:solidFill>
                <a:latin typeface="Segoe UI"/>
              </a:rPr>
              <a:t>Your instructions + the untrusted document = one token stream</a:t>
            </a:r>
          </a:p>
          <a:p>
            <a:pPr>
              <a:spcAft>
                <a:spcPts val="1400"/>
              </a:spcAft>
            </a:pPr>
            <a:r>
              <a:rPr sz="1700">
                <a:solidFill>
                  <a:srgbClr val="2563EB"/>
                </a:solidFill>
                <a:latin typeface="Segoe UI"/>
              </a:rPr>
              <a:t>▪  </a:t>
            </a:r>
            <a:r>
              <a:rPr sz="1700">
                <a:solidFill>
                  <a:srgbClr val="111827"/>
                </a:solidFill>
                <a:latin typeface="Segoe UI"/>
              </a:rPr>
              <a:t>The model infers authority from pattern</a:t>
            </a:r>
          </a:p>
          <a:p>
            <a:pPr>
              <a:spcAft>
                <a:spcPts val="1400"/>
              </a:spcAft>
            </a:pPr>
            <a:r>
              <a:rPr sz="1700">
                <a:solidFill>
                  <a:srgbClr val="2563EB"/>
                </a:solidFill>
                <a:latin typeface="Segoe UI"/>
              </a:rPr>
              <a:t>▪  </a:t>
            </a:r>
            <a:r>
              <a:rPr sz="1700">
                <a:solidFill>
                  <a:srgbClr val="111827"/>
                </a:solidFill>
                <a:latin typeface="Segoe UI"/>
              </a:rPr>
              <a:t>Patterns can be imitated</a:t>
            </a:r>
          </a:p>
        </p:txBody>
      </p:sp>
      <p:sp>
        <p:nvSpPr>
          <p:cNvPr id="5" name="Rounded Rectangle 4" descr="Diagram: There is no boundary between instruction and data"/>
          <p:cNvSpPr/>
          <p:nvPr/>
        </p:nvSpPr>
        <p:spPr>
          <a:xfrm>
            <a:off x="5943600" y="1554480"/>
            <a:ext cx="5577840" cy="3840480"/>
          </a:xfrm>
          <a:prstGeom prst="roundRect">
            <a:avLst/>
          </a:prstGeom>
          <a:solidFill>
            <a:srgbClr val="F3F4F6"/>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6B7280"/>
                </a:solidFill>
                <a:latin typeface="Segoe UI"/>
              </a:rPr>
              <a:t>DIAGRAM — render from Mermaid source (in speaker notes)</a:t>
            </a:r>
          </a:p>
          <a:p>
            <a:pPr algn="ctr"/>
            <a:r>
              <a:rPr sz="1500">
                <a:solidFill>
                  <a:srgbClr val="1F2A37"/>
                </a:solidFill>
                <a:latin typeface="Segoe UI"/>
              </a:rPr>
              <a:t>System prompt (your instructions)  →  One concatenated token stream  →  User input (untrusted)  →  Retrieved document / email / ticket / log (untrusted)  →  Model: predicts the next token  →  Output</a:t>
            </a:r>
          </a:p>
        </p:txBody>
      </p:sp>
      <p:sp>
        <p:nvSpPr>
          <p:cNvPr id="6" name="TextBox 5"/>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14  ·  AI Training Series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SQL injection was solved. This one is not.</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SQL: parameterisation gave the DB a parser — code vs. data, enforceable</a:t>
            </a:r>
          </a:p>
          <a:p>
            <a:pPr>
              <a:spcAft>
                <a:spcPts val="1400"/>
              </a:spcAft>
            </a:pPr>
            <a:r>
              <a:rPr sz="2100">
                <a:solidFill>
                  <a:srgbClr val="2563EB"/>
                </a:solidFill>
                <a:latin typeface="Segoe UI"/>
              </a:rPr>
              <a:t>▪  </a:t>
            </a:r>
            <a:r>
              <a:rPr sz="2100">
                <a:solidFill>
                  <a:srgbClr val="111827"/>
                </a:solidFill>
                <a:latin typeface="Segoe UI"/>
              </a:rPr>
              <a:t>LLM: no parser, no grammar, no slots</a:t>
            </a:r>
          </a:p>
          <a:p>
            <a:pPr>
              <a:spcAft>
                <a:spcPts val="1400"/>
              </a:spcAft>
            </a:pPr>
            <a:r>
              <a:rPr sz="2100">
                <a:solidFill>
                  <a:srgbClr val="2563EB"/>
                </a:solidFill>
                <a:latin typeface="Segoe UI"/>
              </a:rPr>
              <a:t>▪  </a:t>
            </a:r>
            <a:r>
              <a:rPr sz="2100">
                <a:solidFill>
                  <a:srgbClr val="111827"/>
                </a:solidFill>
                <a:latin typeface="Segoe UI"/>
              </a:rPr>
              <a:t>Role separation is a strong prior, not a boundary</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14  ·  AI Training Series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Direct injection is embarrassing. Indirect is the incident.</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4937760" cy="4206240"/>
          </a:xfrm>
          <a:prstGeom prst="rect">
            <a:avLst/>
          </a:prstGeom>
          <a:noFill/>
        </p:spPr>
        <p:txBody>
          <a:bodyPr wrap="square">
            <a:spAutoFit/>
          </a:bodyPr>
          <a:lstStyle/>
          <a:p>
            <a:pPr>
              <a:spcAft>
                <a:spcPts val="1400"/>
              </a:spcAft>
            </a:pPr>
            <a:r>
              <a:rPr sz="1700">
                <a:solidFill>
                  <a:srgbClr val="2563EB"/>
                </a:solidFill>
                <a:latin typeface="Segoe UI"/>
              </a:rPr>
              <a:t>▪  </a:t>
            </a:r>
            <a:r>
              <a:rPr sz="1700">
                <a:solidFill>
                  <a:srgbClr val="111827"/>
                </a:solidFill>
                <a:latin typeface="Segoe UI"/>
              </a:rPr>
              <a:t>Direct: the user attacks → abuse, prompt leakage, cost</a:t>
            </a:r>
          </a:p>
          <a:p>
            <a:pPr>
              <a:spcAft>
                <a:spcPts val="1400"/>
              </a:spcAft>
            </a:pPr>
            <a:r>
              <a:rPr sz="1700">
                <a:solidFill>
                  <a:srgbClr val="2563EB"/>
                </a:solidFill>
                <a:latin typeface="Segoe UI"/>
              </a:rPr>
              <a:t>▪  </a:t>
            </a:r>
            <a:r>
              <a:rPr sz="1700">
                <a:solidFill>
                  <a:srgbClr val="111827"/>
                </a:solidFill>
                <a:latin typeface="Segoe UI"/>
              </a:rPr>
              <a:t>Indirect: the content attacks; the attacker never touches your system</a:t>
            </a:r>
          </a:p>
          <a:p>
            <a:pPr>
              <a:spcAft>
                <a:spcPts val="1400"/>
              </a:spcAft>
            </a:pPr>
            <a:r>
              <a:rPr sz="1700">
                <a:solidFill>
                  <a:srgbClr val="2563EB"/>
                </a:solidFill>
                <a:latin typeface="Segoe UI"/>
              </a:rPr>
              <a:t>▪  </a:t>
            </a:r>
            <a:r>
              <a:rPr sz="1700">
                <a:solidFill>
                  <a:srgbClr val="111827"/>
                </a:solidFill>
                <a:latin typeface="Segoe UI"/>
              </a:rPr>
              <a:t>Carriers: **customer defect descriptions</a:t>
            </a:r>
          </a:p>
          <a:p>
            <a:pPr>
              <a:spcAft>
                <a:spcPts val="1400"/>
              </a:spcAft>
            </a:pPr>
            <a:r>
              <a:rPr sz="1700">
                <a:solidFill>
                  <a:srgbClr val="2563EB"/>
                </a:solidFill>
                <a:latin typeface="Segoe UI"/>
              </a:rPr>
              <a:t>▪  </a:t>
            </a:r>
            <a:r>
              <a:rPr sz="1700">
                <a:solidFill>
                  <a:srgbClr val="111827"/>
                </a:solidFill>
                <a:latin typeface="Segoe UI"/>
              </a:rPr>
              <a:t>OSS commit messages</a:t>
            </a:r>
          </a:p>
          <a:p>
            <a:pPr>
              <a:spcAft>
                <a:spcPts val="1400"/>
              </a:spcAft>
            </a:pPr>
            <a:r>
              <a:rPr sz="1700">
                <a:solidFill>
                  <a:srgbClr val="2563EB"/>
                </a:solidFill>
                <a:latin typeface="Segoe UI"/>
              </a:rPr>
              <a:t>▪  </a:t>
            </a:r>
            <a:r>
              <a:rPr sz="1700">
                <a:solidFill>
                  <a:srgbClr val="111827"/>
                </a:solidFill>
                <a:latin typeface="Segoe UI"/>
              </a:rPr>
              <a:t>build logs</a:t>
            </a:r>
          </a:p>
          <a:p>
            <a:pPr>
              <a:spcAft>
                <a:spcPts val="1400"/>
              </a:spcAft>
            </a:pPr>
            <a:r>
              <a:rPr sz="1700">
                <a:solidFill>
                  <a:srgbClr val="2563EB"/>
                </a:solidFill>
                <a:latin typeface="Segoe UI"/>
              </a:rPr>
              <a:t>▪  </a:t>
            </a:r>
            <a:r>
              <a:rPr sz="1700">
                <a:solidFill>
                  <a:srgbClr val="111827"/>
                </a:solidFill>
                <a:latin typeface="Segoe UI"/>
              </a:rPr>
              <a:t>vendor release notes</a:t>
            </a:r>
          </a:p>
        </p:txBody>
      </p:sp>
      <p:sp>
        <p:nvSpPr>
          <p:cNvPr id="5" name="Rounded Rectangle 4" descr="Diagram: Direct injection is embarrassing. Indirect is the incident."/>
          <p:cNvSpPr/>
          <p:nvPr/>
        </p:nvSpPr>
        <p:spPr>
          <a:xfrm>
            <a:off x="5943600" y="1554480"/>
            <a:ext cx="5577840" cy="3840480"/>
          </a:xfrm>
          <a:prstGeom prst="roundRect">
            <a:avLst/>
          </a:prstGeom>
          <a:solidFill>
            <a:srgbClr val="F3F4F6"/>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6B7280"/>
                </a:solidFill>
                <a:latin typeface="Segoe UI"/>
              </a:rPr>
              <a:t>DIAGRAM — render from Mermaid source (in speaker notes)</a:t>
            </a:r>
          </a:p>
        </p:txBody>
      </p:sp>
      <p:sp>
        <p:nvSpPr>
          <p:cNvPr id="6" name="TextBox 5"/>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14  ·  AI Training Series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"Tell it to ignore instructions in the document" is not a control</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It does reduce naive success rates</a:t>
            </a:r>
          </a:p>
          <a:p>
            <a:pPr>
              <a:spcAft>
                <a:spcPts val="1400"/>
              </a:spcAft>
            </a:pPr>
            <a:r>
              <a:rPr sz="2100">
                <a:solidFill>
                  <a:srgbClr val="2563EB"/>
                </a:solidFill>
                <a:latin typeface="Segoe UI"/>
              </a:rPr>
              <a:t>▪  </a:t>
            </a:r>
            <a:r>
              <a:rPr sz="2100">
                <a:solidFill>
                  <a:srgbClr val="111827"/>
                </a:solidFill>
                <a:latin typeface="Segoe UI"/>
              </a:rPr>
              <a:t>It is still just more text in the same stream</a:t>
            </a:r>
          </a:p>
          <a:p>
            <a:pPr>
              <a:spcAft>
                <a:spcPts val="1400"/>
              </a:spcAft>
            </a:pPr>
            <a:r>
              <a:rPr sz="2100">
                <a:solidFill>
                  <a:srgbClr val="2563EB"/>
                </a:solidFill>
                <a:latin typeface="Segoe UI"/>
              </a:rPr>
              <a:t>▪  </a:t>
            </a:r>
            <a:r>
              <a:rPr sz="2100">
                <a:solidFill>
                  <a:srgbClr val="111827"/>
                </a:solidFill>
                <a:latin typeface="Segoe UI"/>
              </a:rPr>
              <a:t>It fails on reframing, other languages, encoding, chunk-splitting</a:t>
            </a:r>
          </a:p>
          <a:p>
            <a:pPr>
              <a:spcAft>
                <a:spcPts val="1400"/>
              </a:spcAft>
            </a:pPr>
            <a:r>
              <a:rPr sz="2100">
                <a:solidFill>
                  <a:srgbClr val="2563EB"/>
                </a:solidFill>
                <a:latin typeface="Segoe UI"/>
              </a:rPr>
              <a:t>▪  </a:t>
            </a:r>
            <a:r>
              <a:rPr sz="2100">
                <a:solidFill>
                  <a:srgbClr val="111827"/>
                </a:solidFill>
                <a:latin typeface="Segoe UI"/>
              </a:rPr>
              <a:t>You can never test it to completion</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14  ·  AI Training Series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Three preconditions make a deployment dangerous</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4937760" cy="4206240"/>
          </a:xfrm>
          <a:prstGeom prst="rect">
            <a:avLst/>
          </a:prstGeom>
          <a:noFill/>
        </p:spPr>
        <p:txBody>
          <a:bodyPr wrap="square">
            <a:spAutoFit/>
          </a:bodyPr>
          <a:lstStyle/>
          <a:p>
            <a:pPr>
              <a:spcAft>
                <a:spcPts val="1400"/>
              </a:spcAft>
            </a:pPr>
            <a:r>
              <a:rPr sz="1700">
                <a:solidFill>
                  <a:srgbClr val="2563EB"/>
                </a:solidFill>
                <a:latin typeface="Segoe UI"/>
              </a:rPr>
              <a:t>▪  </a:t>
            </a:r>
            <a:r>
              <a:rPr sz="1700">
                <a:solidFill>
                  <a:srgbClr val="111827"/>
                </a:solidFill>
                <a:latin typeface="Segoe UI"/>
              </a:rPr>
              <a:t>1. Untrusted content</a:t>
            </a:r>
          </a:p>
          <a:p>
            <a:pPr>
              <a:spcAft>
                <a:spcPts val="1400"/>
              </a:spcAft>
            </a:pPr>
            <a:r>
              <a:rPr sz="1700">
                <a:solidFill>
                  <a:srgbClr val="2563EB"/>
                </a:solidFill>
                <a:latin typeface="Segoe UI"/>
              </a:rPr>
              <a:t>▪  </a:t>
            </a:r>
            <a:r>
              <a:rPr sz="1700">
                <a:solidFill>
                  <a:srgbClr val="111827"/>
                </a:solidFill>
                <a:latin typeface="Segoe UI"/>
              </a:rPr>
              <a:t>2. Private data</a:t>
            </a:r>
          </a:p>
          <a:p>
            <a:pPr>
              <a:spcAft>
                <a:spcPts val="1400"/>
              </a:spcAft>
            </a:pPr>
            <a:r>
              <a:rPr sz="1700">
                <a:solidFill>
                  <a:srgbClr val="2563EB"/>
                </a:solidFill>
                <a:latin typeface="Segoe UI"/>
              </a:rPr>
              <a:t>▪  </a:t>
            </a:r>
            <a:r>
              <a:rPr sz="1700">
                <a:solidFill>
                  <a:srgbClr val="111827"/>
                </a:solidFill>
                <a:latin typeface="Segoe UI"/>
              </a:rPr>
              <a:t>3. An outbound channel</a:t>
            </a:r>
          </a:p>
          <a:p>
            <a:pPr>
              <a:spcAft>
                <a:spcPts val="1400"/>
              </a:spcAft>
            </a:pPr>
            <a:r>
              <a:rPr sz="1700">
                <a:solidFill>
                  <a:srgbClr val="2563EB"/>
                </a:solidFill>
                <a:latin typeface="Segoe UI"/>
              </a:rPr>
              <a:t>▪  </a:t>
            </a:r>
            <a:r>
              <a:rPr sz="1700">
                <a:solidFill>
                  <a:srgbClr val="111827"/>
                </a:solidFill>
                <a:latin typeface="Segoe UI"/>
              </a:rPr>
              <a:t>Remove any one leg → the exfiltration path breaks.</a:t>
            </a:r>
          </a:p>
        </p:txBody>
      </p:sp>
      <p:sp>
        <p:nvSpPr>
          <p:cNvPr id="5" name="Rounded Rectangle 4" descr="Diagram: Three preconditions make a deployment dangerous"/>
          <p:cNvSpPr/>
          <p:nvPr/>
        </p:nvSpPr>
        <p:spPr>
          <a:xfrm>
            <a:off x="5943600" y="1554480"/>
            <a:ext cx="5577840" cy="3840480"/>
          </a:xfrm>
          <a:prstGeom prst="roundRect">
            <a:avLst/>
          </a:prstGeom>
          <a:solidFill>
            <a:srgbClr val="F3F4F6"/>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6B7280"/>
                </a:solidFill>
                <a:latin typeface="Segoe UI"/>
              </a:rPr>
              <a:t>DIAGRAM — render from Mermaid source (in speaker notes)</a:t>
            </a:r>
          </a:p>
          <a:p>
            <a:pPr algn="ctr"/>
            <a:r>
              <a:rPr sz="1500">
                <a:solidFill>
                  <a:srgbClr val="1F2A37"/>
                </a:solidFill>
                <a:latin typeface="Segoe UI"/>
              </a:rPr>
              <a:t>1. Untrusted content  →  DANGEROUS combination  →  2. Private data  →  3. Outbound channel  →  Remove ANY ONE leg → path breaks</a:t>
            </a:r>
          </a:p>
        </p:txBody>
      </p:sp>
      <p:sp>
        <p:nvSpPr>
          <p:cNvPr id="6" name="TextBox 5"/>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14  ·  AI Training Series</a:t>
            </a:r>
          </a:p>
        </p:txBody>
      </p:sp>
      <p:sp>
        <p:nvSpPr>
          <p:cNvPr id="7" name="TextBox 6"/>
          <p:cNvSpPr txBox="1"/>
          <p:nvPr/>
        </p:nvSpPr>
        <p:spPr>
          <a:xfrm>
            <a:off x="7498079" y="6327648"/>
            <a:ext cx="4023360" cy="365760"/>
          </a:xfrm>
          <a:prstGeom prst="rect">
            <a:avLst/>
          </a:prstGeom>
          <a:noFill/>
        </p:spPr>
        <p:txBody>
          <a:bodyPr wrap="square" anchor="t">
            <a:spAutoFit/>
          </a:bodyPr>
          <a:lstStyle/>
          <a:p>
            <a:pPr algn="r">
              <a:spcAft>
                <a:spcPts val="1000"/>
              </a:spcAft>
            </a:pPr>
            <a:r>
              <a:rPr sz="1000" b="0">
                <a:solidFill>
                  <a:srgbClr val="6B7280"/>
                </a:solidFill>
                <a:latin typeface="Segoe UI"/>
              </a:rPr>
              <a:t>concept after Simon Willison — LINK-ONLY. Paraphrased; diagram original; no prose or figures reproduced.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Wiring it to act turns a nuisance into an incident</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Text-only: bad text → a human reads it → contained</a:t>
            </a:r>
          </a:p>
          <a:p>
            <a:pPr>
              <a:spcAft>
                <a:spcPts val="1400"/>
              </a:spcAft>
            </a:pPr>
            <a:r>
              <a:rPr sz="2100">
                <a:solidFill>
                  <a:srgbClr val="2563EB"/>
                </a:solidFill>
                <a:latin typeface="Segoe UI"/>
              </a:rPr>
              <a:t>▪  </a:t>
            </a:r>
            <a:r>
              <a:rPr sz="2100">
                <a:solidFill>
                  <a:srgbClr val="111827"/>
                </a:solidFill>
                <a:latin typeface="Segoe UI"/>
              </a:rPr>
              <a:t>Agent: bad text → a tool call → executed</a:t>
            </a:r>
          </a:p>
          <a:p>
            <a:pPr>
              <a:spcAft>
                <a:spcPts val="1400"/>
              </a:spcAft>
            </a:pPr>
            <a:r>
              <a:rPr sz="2100">
                <a:solidFill>
                  <a:srgbClr val="2563EB"/>
                </a:solidFill>
                <a:latin typeface="Segoe UI"/>
              </a:rPr>
              <a:t>▪  </a:t>
            </a:r>
            <a:r>
              <a:rPr sz="2100">
                <a:solidFill>
                  <a:srgbClr val="111827"/>
                </a:solidFill>
                <a:latin typeface="Segoe UI"/>
              </a:rPr>
              <a:t>Loops amplify</a:t>
            </a:r>
          </a:p>
          <a:p>
            <a:pPr>
              <a:spcAft>
                <a:spcPts val="1400"/>
              </a:spcAft>
            </a:pPr>
            <a:r>
              <a:rPr sz="2100">
                <a:solidFill>
                  <a:srgbClr val="2563EB"/>
                </a:solidFill>
                <a:latin typeface="Segoe UI"/>
              </a:rPr>
              <a:t>▪  </a:t>
            </a:r>
            <a:r>
              <a:rPr sz="2100">
                <a:solidFill>
                  <a:srgbClr val="111827"/>
                </a:solidFill>
                <a:latin typeface="Segoe UI"/>
              </a:rPr>
              <a:t>Permissions accrete</a:t>
            </a:r>
          </a:p>
          <a:p>
            <a:pPr>
              <a:spcAft>
                <a:spcPts val="1400"/>
              </a:spcAft>
            </a:pPr>
            <a:r>
              <a:rPr sz="2100">
                <a:solidFill>
                  <a:srgbClr val="2563EB"/>
                </a:solidFill>
                <a:latin typeface="Segoe UI"/>
              </a:rPr>
              <a:t>▪  </a:t>
            </a:r>
            <a:r>
              <a:rPr sz="2100">
                <a:solidFill>
                  <a:srgbClr val="111827"/>
                </a:solidFill>
                <a:latin typeface="Segoe UI"/>
              </a:rPr>
              <a:t>Nobody is watching</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14  ·  AI Training Series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Jailbreaking cannot be fully prevented — four independent reasons</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Safety is trained, not enforced</a:t>
            </a:r>
          </a:p>
          <a:p>
            <a:pPr>
              <a:spcAft>
                <a:spcPts val="1400"/>
              </a:spcAft>
            </a:pPr>
            <a:r>
              <a:rPr sz="2100">
                <a:solidFill>
                  <a:srgbClr val="2563EB"/>
                </a:solidFill>
                <a:latin typeface="Segoe UI"/>
              </a:rPr>
              <a:t>▪  </a:t>
            </a:r>
            <a:r>
              <a:rPr sz="2100">
                <a:solidFill>
                  <a:srgbClr val="111827"/>
                </a:solidFill>
                <a:latin typeface="Segoe UI"/>
              </a:rPr>
              <a:t>The input space is unbounded and searchable</a:t>
            </a:r>
          </a:p>
          <a:p>
            <a:pPr>
              <a:spcAft>
                <a:spcPts val="1400"/>
              </a:spcAft>
            </a:pPr>
            <a:r>
              <a:rPr sz="2100">
                <a:solidFill>
                  <a:srgbClr val="2563EB"/>
                </a:solidFill>
                <a:latin typeface="Segoe UI"/>
              </a:rPr>
              <a:t>▪  </a:t>
            </a:r>
            <a:r>
              <a:rPr sz="2100">
                <a:solidFill>
                  <a:srgbClr val="111827"/>
                </a:solidFill>
                <a:latin typeface="Segoe UI"/>
              </a:rPr>
              <a:t>Dual-use is genuinely fuzzy</a:t>
            </a:r>
          </a:p>
          <a:p>
            <a:pPr>
              <a:spcAft>
                <a:spcPts val="1400"/>
              </a:spcAft>
            </a:pPr>
            <a:r>
              <a:rPr sz="2100">
                <a:solidFill>
                  <a:srgbClr val="2563EB"/>
                </a:solidFill>
                <a:latin typeface="Segoe UI"/>
              </a:rPr>
              <a:t>▪  </a:t>
            </a:r>
            <a:r>
              <a:rPr sz="2100">
                <a:solidFill>
                  <a:srgbClr val="111827"/>
                </a:solidFill>
                <a:latin typeface="Segoe UI"/>
              </a:rPr>
              <a:t>Guardrails are models too</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14  ·  AI Training Series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Four leakage paths — and one paste rule</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Transit/storage → contract</a:t>
            </a:r>
          </a:p>
          <a:p>
            <a:pPr>
              <a:spcAft>
                <a:spcPts val="1400"/>
              </a:spcAft>
            </a:pPr>
            <a:r>
              <a:rPr sz="2100">
                <a:solidFill>
                  <a:srgbClr val="2563EB"/>
                </a:solidFill>
                <a:latin typeface="Segoe UI"/>
              </a:rPr>
              <a:t>▪  </a:t>
            </a:r>
            <a:r>
              <a:rPr sz="2100">
                <a:solidFill>
                  <a:srgbClr val="111827"/>
                </a:solidFill>
                <a:latin typeface="Segoe UI"/>
              </a:rPr>
              <a:t>Training use → verify per tier</a:t>
            </a:r>
          </a:p>
          <a:p>
            <a:pPr>
              <a:spcAft>
                <a:spcPts val="1400"/>
              </a:spcAft>
            </a:pPr>
            <a:r>
              <a:rPr sz="2100">
                <a:solidFill>
                  <a:srgbClr val="2563EB"/>
                </a:solidFill>
                <a:latin typeface="Segoe UI"/>
              </a:rPr>
              <a:t>▪  </a:t>
            </a:r>
            <a:r>
              <a:rPr sz="2100">
                <a:solidFill>
                  <a:srgbClr val="111827"/>
                </a:solidFill>
                <a:latin typeface="Segoe UI"/>
              </a:rPr>
              <a:t>Context → anything in the window is reachable</a:t>
            </a:r>
          </a:p>
          <a:p>
            <a:pPr>
              <a:spcAft>
                <a:spcPts val="1400"/>
              </a:spcAft>
            </a:pPr>
            <a:r>
              <a:rPr sz="2100">
                <a:solidFill>
                  <a:srgbClr val="2563EB"/>
                </a:solidFill>
                <a:latin typeface="Segoe UI"/>
              </a:rPr>
              <a:t>▪  </a:t>
            </a:r>
            <a:r>
              <a:rPr sz="2100">
                <a:solidFill>
                  <a:srgbClr val="111827"/>
                </a:solidFill>
                <a:latin typeface="Segoe UI"/>
              </a:rPr>
              <a:t>Output → validation &amp; egress</a:t>
            </a:r>
          </a:p>
          <a:p>
            <a:pPr>
              <a:spcAft>
                <a:spcPts val="1400"/>
              </a:spcAft>
            </a:pPr>
            <a:r>
              <a:rPr sz="2100">
                <a:solidFill>
                  <a:srgbClr val="2563EB"/>
                </a:solidFill>
                <a:latin typeface="Segoe UI"/>
              </a:rPr>
              <a:t>▪  </a:t>
            </a:r>
            <a:r>
              <a:rPr sz="2100">
                <a:solidFill>
                  <a:srgbClr val="111827"/>
                </a:solidFill>
                <a:latin typeface="Segoe UI"/>
              </a:rPr>
              <a:t>RED never</a:t>
            </a:r>
          </a:p>
          <a:p>
            <a:pPr>
              <a:spcAft>
                <a:spcPts val="1400"/>
              </a:spcAft>
            </a:pPr>
            <a:r>
              <a:rPr sz="2100">
                <a:solidFill>
                  <a:srgbClr val="2563EB"/>
                </a:solidFill>
                <a:latin typeface="Segoe UI"/>
              </a:rPr>
              <a:t>▪  </a:t>
            </a:r>
            <a:r>
              <a:rPr sz="2100">
                <a:solidFill>
                  <a:srgbClr val="111827"/>
                </a:solidFill>
                <a:latin typeface="Segoe UI"/>
              </a:rPr>
              <a:t>AMBER sanctioned tool only</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14  ·  AI Training Series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Compiles and works ≠ secure</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2021 Copilot study: ~40% (39.33%) of top suggestions in security-relevant scenarios carried a vulnerability</a:t>
            </a:r>
          </a:p>
          <a:p>
            <a:pPr>
              <a:spcAft>
                <a:spcPts val="1400"/>
              </a:spcAft>
            </a:pPr>
            <a:r>
              <a:rPr sz="2100">
                <a:solidFill>
                  <a:srgbClr val="2563EB"/>
                </a:solidFill>
                <a:latin typeface="Segoe UI"/>
              </a:rPr>
              <a:t>▪  </a:t>
            </a:r>
            <a:r>
              <a:rPr sz="2100">
                <a:solidFill>
                  <a:srgbClr val="111827"/>
                </a:solidFill>
                <a:latin typeface="Segoe UI"/>
              </a:rPr>
              <a:t>FormAI 2024: ~62%</a:t>
            </a:r>
          </a:p>
          <a:p>
            <a:pPr>
              <a:spcAft>
                <a:spcPts val="1400"/>
              </a:spcAft>
            </a:pPr>
            <a:r>
              <a:rPr sz="2100">
                <a:solidFill>
                  <a:srgbClr val="2563EB"/>
                </a:solidFill>
                <a:latin typeface="Segoe UI"/>
              </a:rPr>
              <a:t>▪  </a:t>
            </a:r>
            <a:r>
              <a:rPr sz="2100">
                <a:solidFill>
                  <a:srgbClr val="111827"/>
                </a:solidFill>
                <a:latin typeface="Segoe UI"/>
              </a:rPr>
              <a:t>Veracode 2025: ~45%</a:t>
            </a:r>
          </a:p>
          <a:p>
            <a:pPr>
              <a:spcAft>
                <a:spcPts val="1400"/>
              </a:spcAft>
            </a:pPr>
            <a:r>
              <a:rPr sz="2100">
                <a:solidFill>
                  <a:srgbClr val="2563EB"/>
                </a:solidFill>
                <a:latin typeface="Segoe UI"/>
              </a:rPr>
              <a:t>▪  </a:t>
            </a:r>
            <a:r>
              <a:rPr sz="2100">
                <a:solidFill>
                  <a:srgbClr val="111827"/>
                </a:solidFill>
                <a:latin typeface="Segoe UI"/>
              </a:rPr>
              <a:t>Scale did not fix it.</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14  ·  AI Training Series</a:t>
            </a:r>
          </a:p>
        </p:txBody>
      </p:sp>
      <p:sp>
        <p:nvSpPr>
          <p:cNvPr id="6" name="TextBox 5"/>
          <p:cNvSpPr txBox="1"/>
          <p:nvPr/>
        </p:nvSpPr>
        <p:spPr>
          <a:xfrm>
            <a:off x="7498079" y="6327648"/>
            <a:ext cx="4023360" cy="365760"/>
          </a:xfrm>
          <a:prstGeom prst="rect">
            <a:avLst/>
          </a:prstGeom>
          <a:noFill/>
        </p:spPr>
        <p:txBody>
          <a:bodyPr wrap="square" anchor="t">
            <a:spAutoFit/>
          </a:bodyPr>
          <a:lstStyle/>
          <a:p>
            <a:pPr algn="r">
              <a:spcAft>
                <a:spcPts val="1000"/>
              </a:spcAft>
            </a:pPr>
            <a:r>
              <a:rPr sz="1000" b="0">
                <a:solidFill>
                  <a:srgbClr val="6B7280"/>
                </a:solidFill>
                <a:latin typeface="Segoe UI"/>
              </a:rPr>
              <a:t>Cite the statistics as facts — Pearce et al. arXiv:2108.09293 / IEEE S&amp;P 2022; FormAI; Veracode. Footer: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The checklist: OWASP Top 10 for LLM Applications 2025</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LLM01 Prompt Injection</a:t>
            </a:r>
          </a:p>
          <a:p>
            <a:pPr>
              <a:spcAft>
                <a:spcPts val="1400"/>
              </a:spcAft>
            </a:pPr>
            <a:r>
              <a:rPr sz="2100">
                <a:solidFill>
                  <a:srgbClr val="2563EB"/>
                </a:solidFill>
                <a:latin typeface="Segoe UI"/>
              </a:rPr>
              <a:t>▪  </a:t>
            </a:r>
            <a:r>
              <a:rPr sz="2100">
                <a:solidFill>
                  <a:srgbClr val="111827"/>
                </a:solidFill>
                <a:latin typeface="Segoe UI"/>
              </a:rPr>
              <a:t>LLM02 Sensitive Information Disclosure</a:t>
            </a:r>
          </a:p>
          <a:p>
            <a:pPr>
              <a:spcAft>
                <a:spcPts val="1400"/>
              </a:spcAft>
            </a:pPr>
            <a:r>
              <a:rPr sz="2100">
                <a:solidFill>
                  <a:srgbClr val="2563EB"/>
                </a:solidFill>
                <a:latin typeface="Segoe UI"/>
              </a:rPr>
              <a:t>▪  </a:t>
            </a:r>
            <a:r>
              <a:rPr sz="2100">
                <a:solidFill>
                  <a:srgbClr val="111827"/>
                </a:solidFill>
                <a:latin typeface="Segoe UI"/>
              </a:rPr>
              <a:t>LLM03 Supply Chain</a:t>
            </a:r>
          </a:p>
          <a:p>
            <a:pPr>
              <a:spcAft>
                <a:spcPts val="1400"/>
              </a:spcAft>
            </a:pPr>
            <a:r>
              <a:rPr sz="2100">
                <a:solidFill>
                  <a:srgbClr val="2563EB"/>
                </a:solidFill>
                <a:latin typeface="Segoe UI"/>
              </a:rPr>
              <a:t>▪  </a:t>
            </a:r>
            <a:r>
              <a:rPr sz="2100">
                <a:solidFill>
                  <a:srgbClr val="111827"/>
                </a:solidFill>
                <a:latin typeface="Segoe UI"/>
              </a:rPr>
              <a:t>LLM04 Data &amp; Model Poisoning</a:t>
            </a:r>
          </a:p>
          <a:p>
            <a:pPr>
              <a:spcAft>
                <a:spcPts val="1400"/>
              </a:spcAft>
            </a:pPr>
            <a:r>
              <a:rPr sz="2100">
                <a:solidFill>
                  <a:srgbClr val="2563EB"/>
                </a:solidFill>
                <a:latin typeface="Segoe UI"/>
              </a:rPr>
              <a:t>▪  </a:t>
            </a:r>
            <a:r>
              <a:rPr sz="2100">
                <a:solidFill>
                  <a:srgbClr val="111827"/>
                </a:solidFill>
                <a:latin typeface="Segoe UI"/>
              </a:rPr>
              <a:t>LLM05 Improper Output Handling</a:t>
            </a:r>
          </a:p>
          <a:p>
            <a:pPr>
              <a:spcAft>
                <a:spcPts val="1400"/>
              </a:spcAft>
            </a:pPr>
            <a:r>
              <a:rPr sz="2100">
                <a:solidFill>
                  <a:srgbClr val="2563EB"/>
                </a:solidFill>
                <a:latin typeface="Segoe UI"/>
              </a:rPr>
              <a:t>▪  </a:t>
            </a:r>
            <a:r>
              <a:rPr sz="2100">
                <a:solidFill>
                  <a:srgbClr val="111827"/>
                </a:solidFill>
                <a:latin typeface="Segoe UI"/>
              </a:rPr>
              <a:t>LLM06 Excessive Agency</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14  ·  AI Training Series</a:t>
            </a:r>
          </a:p>
        </p:txBody>
      </p:sp>
      <p:sp>
        <p:nvSpPr>
          <p:cNvPr id="6" name="TextBox 5"/>
          <p:cNvSpPr txBox="1"/>
          <p:nvPr/>
        </p:nvSpPr>
        <p:spPr>
          <a:xfrm>
            <a:off x="7498079" y="6327648"/>
            <a:ext cx="4023360" cy="365760"/>
          </a:xfrm>
          <a:prstGeom prst="rect">
            <a:avLst/>
          </a:prstGeom>
          <a:noFill/>
        </p:spPr>
        <p:txBody>
          <a:bodyPr wrap="square" anchor="t">
            <a:spAutoFit/>
          </a:bodyPr>
          <a:lstStyle/>
          <a:p>
            <a:pPr algn="r">
              <a:spcAft>
                <a:spcPts val="1000"/>
              </a:spcAft>
            </a:pPr>
            <a:r>
              <a:rPr sz="1000" b="0">
                <a:solidFill>
                  <a:srgbClr val="6B7280"/>
                </a:solidFill>
                <a:latin typeface="Segoe UI"/>
              </a:rPr>
              <a:t>OWASP Top 10 for LLM Applications 2025 — OWASP GenAI Security Project. CC BY-SA 4.0. SLIDE-SAFE. Attribut…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The two new entries tell you what changed in deployment</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LLM07 System Prompt Leakage → treat the system prompt as public</a:t>
            </a:r>
          </a:p>
          <a:p>
            <a:pPr>
              <a:spcAft>
                <a:spcPts val="1400"/>
              </a:spcAft>
            </a:pPr>
            <a:r>
              <a:rPr sz="2100">
                <a:solidFill>
                  <a:srgbClr val="2563EB"/>
                </a:solidFill>
                <a:latin typeface="Segoe UI"/>
              </a:rPr>
              <a:t>▪  </a:t>
            </a:r>
            <a:r>
              <a:rPr sz="2100">
                <a:solidFill>
                  <a:srgbClr val="111827"/>
                </a:solidFill>
                <a:latin typeface="Segoe UI"/>
              </a:rPr>
              <a:t>LLM08 Vector &amp; Embedding Weaknesses → your RAG index is an attack surface</a:t>
            </a:r>
          </a:p>
          <a:p>
            <a:pPr>
              <a:spcAft>
                <a:spcPts val="1400"/>
              </a:spcAft>
            </a:pPr>
            <a:r>
              <a:rPr sz="2100">
                <a:solidFill>
                  <a:srgbClr val="2563EB"/>
                </a:solidFill>
                <a:latin typeface="Segoe UI"/>
              </a:rPr>
              <a:t>▪  </a:t>
            </a:r>
            <a:r>
              <a:rPr sz="2100">
                <a:solidFill>
                  <a:srgbClr val="111827"/>
                </a:solidFill>
                <a:latin typeface="Segoe UI"/>
              </a:rPr>
              <a:t>Agents became normal. RAG became normal</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14  ·  AI Training Series</a:t>
            </a:r>
          </a:p>
        </p:txBody>
      </p:sp>
      <p:sp>
        <p:nvSpPr>
          <p:cNvPr id="6" name="TextBox 5"/>
          <p:cNvSpPr txBox="1"/>
          <p:nvPr/>
        </p:nvSpPr>
        <p:spPr>
          <a:xfrm>
            <a:off x="7498079" y="6327648"/>
            <a:ext cx="4023360" cy="365760"/>
          </a:xfrm>
          <a:prstGeom prst="rect">
            <a:avLst/>
          </a:prstGeom>
          <a:noFill/>
        </p:spPr>
        <p:txBody>
          <a:bodyPr wrap="square" anchor="t">
            <a:spAutoFit/>
          </a:bodyPr>
          <a:lstStyle/>
          <a:p>
            <a:pPr algn="r">
              <a:spcAft>
                <a:spcPts val="1000"/>
              </a:spcAft>
            </a:pPr>
            <a:r>
              <a:rPr sz="1000" b="0">
                <a:solidFill>
                  <a:srgbClr val="6B7280"/>
                </a:solidFill>
                <a:latin typeface="Segoe UI"/>
              </a:rPr>
              <a:t>OWASP LLM Top 10 2025, CC BY-SA 4.0. Attribution footer required.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Shrink the triangle, or collapse it</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4937760" cy="4206240"/>
          </a:xfrm>
          <a:prstGeom prst="rect">
            <a:avLst/>
          </a:prstGeom>
          <a:noFill/>
        </p:spPr>
        <p:txBody>
          <a:bodyPr wrap="square">
            <a:spAutoFit/>
          </a:bodyPr>
          <a:lstStyle/>
          <a:p>
            <a:pPr>
              <a:spcAft>
                <a:spcPts val="1400"/>
              </a:spcAft>
            </a:pPr>
            <a:r>
              <a:rPr sz="1700">
                <a:solidFill>
                  <a:srgbClr val="2563EB"/>
                </a:solidFill>
                <a:latin typeface="Segoe UI"/>
              </a:rPr>
              <a:t>▪  </a:t>
            </a:r>
            <a:r>
              <a:rPr sz="1700">
                <a:solidFill>
                  <a:srgbClr val="111827"/>
                </a:solidFill>
                <a:latin typeface="Segoe UI"/>
              </a:rPr>
              <a:t>HS — wrong information</a:t>
            </a:r>
          </a:p>
          <a:p>
            <a:pPr>
              <a:spcAft>
                <a:spcPts val="1400"/>
              </a:spcAft>
            </a:pPr>
            <a:r>
              <a:rPr sz="1700">
                <a:solidFill>
                  <a:srgbClr val="2563EB"/>
                </a:solidFill>
                <a:latin typeface="Segoe UI"/>
              </a:rPr>
              <a:t>▪  </a:t>
            </a:r>
            <a:r>
              <a:rPr sz="1700">
                <a:solidFill>
                  <a:srgbClr val="111827"/>
                </a:solidFill>
                <a:latin typeface="Segoe UI"/>
              </a:rPr>
              <a:t>IM — what turns it into harm</a:t>
            </a:r>
          </a:p>
          <a:p>
            <a:pPr>
              <a:spcAft>
                <a:spcPts val="1400"/>
              </a:spcAft>
            </a:pPr>
            <a:r>
              <a:rPr sz="1700">
                <a:solidFill>
                  <a:srgbClr val="2563EB"/>
                </a:solidFill>
                <a:latin typeface="Segoe UI"/>
              </a:rPr>
              <a:t>▪  </a:t>
            </a:r>
            <a:r>
              <a:rPr sz="1700">
                <a:solidFill>
                  <a:srgbClr val="111827"/>
                </a:solidFill>
                <a:latin typeface="Segoe UI"/>
              </a:rPr>
              <a:t>TTO — who is hurt, how badly</a:t>
            </a:r>
          </a:p>
          <a:p>
            <a:pPr>
              <a:spcAft>
                <a:spcPts val="1400"/>
              </a:spcAft>
            </a:pPr>
            <a:r>
              <a:rPr sz="1700">
                <a:solidFill>
                  <a:srgbClr val="2563EB"/>
                </a:solidFill>
                <a:latin typeface="Segoe UI"/>
              </a:rPr>
              <a:t>▪  </a:t>
            </a:r>
            <a:r>
              <a:rPr sz="1700">
                <a:solidFill>
                  <a:srgbClr val="111827"/>
                </a:solidFill>
                <a:latin typeface="Segoe UI"/>
              </a:rPr>
              <a:t>Reduce one → risk falls</a:t>
            </a:r>
          </a:p>
          <a:p>
            <a:pPr>
              <a:spcAft>
                <a:spcPts val="1400"/>
              </a:spcAft>
            </a:pPr>
            <a:r>
              <a:rPr sz="1700">
                <a:solidFill>
                  <a:srgbClr val="2563EB"/>
                </a:solidFill>
                <a:latin typeface="Segoe UI"/>
              </a:rPr>
              <a:t>▪  </a:t>
            </a:r>
            <a:r>
              <a:rPr sz="1700">
                <a:solidFill>
                  <a:srgbClr val="111827"/>
                </a:solidFill>
                <a:latin typeface="Segoe UI"/>
              </a:rPr>
              <a:t>Eliminate one → the hazard is gone.</a:t>
            </a:r>
          </a:p>
        </p:txBody>
      </p:sp>
      <p:sp>
        <p:nvSpPr>
          <p:cNvPr id="5" name="Rounded Rectangle 4" descr="Diagram: Shrink the triangle, or collapse it"/>
          <p:cNvSpPr/>
          <p:nvPr/>
        </p:nvSpPr>
        <p:spPr>
          <a:xfrm>
            <a:off x="5943600" y="1554480"/>
            <a:ext cx="5577840" cy="3840480"/>
          </a:xfrm>
          <a:prstGeom prst="roundRect">
            <a:avLst/>
          </a:prstGeom>
          <a:solidFill>
            <a:srgbClr val="F3F4F6"/>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6B7280"/>
                </a:solidFill>
                <a:latin typeface="Segoe UI"/>
              </a:rPr>
              <a:t>DIAGRAM — render from Mermaid source (in speaker notes)</a:t>
            </a:r>
          </a:p>
          <a:p>
            <a:pPr algn="ctr"/>
            <a:r>
              <a:rPr sz="1500">
                <a:solidFill>
                  <a:srgbClr val="1F2A37"/>
                </a:solidFill>
                <a:latin typeface="Segoe UI"/>
              </a:rPr>
              <a:t>HS — Hazard Source wrong / injected information  →  IM — Initiating Mechanism what turns it into harm  →  TTO — Target / Threat Outcome who is hurt, how badly</a:t>
            </a:r>
          </a:p>
        </p:txBody>
      </p:sp>
      <p:sp>
        <p:nvSpPr>
          <p:cNvPr id="6" name="TextBox 5"/>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14  ·  AI Training Series</a:t>
            </a:r>
          </a:p>
        </p:txBody>
      </p:sp>
      <p:sp>
        <p:nvSpPr>
          <p:cNvPr id="7" name="TextBox 6"/>
          <p:cNvSpPr txBox="1"/>
          <p:nvPr/>
        </p:nvSpPr>
        <p:spPr>
          <a:xfrm>
            <a:off x="7498079" y="6327648"/>
            <a:ext cx="4023360" cy="365760"/>
          </a:xfrm>
          <a:prstGeom prst="rect">
            <a:avLst/>
          </a:prstGeom>
          <a:noFill/>
        </p:spPr>
        <p:txBody>
          <a:bodyPr wrap="square" anchor="t">
            <a:spAutoFit/>
          </a:bodyPr>
          <a:lstStyle/>
          <a:p>
            <a:pPr algn="r">
              <a:spcAft>
                <a:spcPts val="1000"/>
              </a:spcAft>
            </a:pPr>
            <a:r>
              <a:rPr sz="1000" b="0">
                <a:solidFill>
                  <a:srgbClr val="6B7280"/>
                </a:solidFill>
                <a:latin typeface="Segoe UI"/>
              </a:rPr>
              <a:t>framing after the LLM-safety source deck — LINK-ONLY, paraphrased. Diagram original. Footer: "Framing aft…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Worked: the automated release-notes agent</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HS: injected or hallucinated draft</a:t>
            </a:r>
          </a:p>
          <a:p>
            <a:pPr>
              <a:spcAft>
                <a:spcPts val="1400"/>
              </a:spcAft>
            </a:pPr>
            <a:r>
              <a:rPr sz="2100">
                <a:solidFill>
                  <a:srgbClr val="2563EB"/>
                </a:solidFill>
                <a:latin typeface="Segoe UI"/>
              </a:rPr>
              <a:t>▪  </a:t>
            </a:r>
            <a:r>
              <a:rPr sz="2100">
                <a:solidFill>
                  <a:srgbClr val="111827"/>
                </a:solidFill>
                <a:latin typeface="Segoe UI"/>
              </a:rPr>
              <a:t>IM: the scheduled publish</a:t>
            </a:r>
          </a:p>
          <a:p>
            <a:pPr>
              <a:spcAft>
                <a:spcPts val="1400"/>
              </a:spcAft>
            </a:pPr>
            <a:r>
              <a:rPr sz="2100">
                <a:solidFill>
                  <a:srgbClr val="2563EB"/>
                </a:solidFill>
                <a:latin typeface="Segoe UI"/>
              </a:rPr>
              <a:t>▪  </a:t>
            </a:r>
            <a:r>
              <a:rPr sz="2100">
                <a:solidFill>
                  <a:srgbClr val="111827"/>
                </a:solidFill>
                <a:latin typeface="Segoe UI"/>
              </a:rPr>
              <a:t>TTO: customer acts on false info; irreversible</a:t>
            </a:r>
          </a:p>
          <a:p>
            <a:pPr>
              <a:spcAft>
                <a:spcPts val="1400"/>
              </a:spcAft>
            </a:pPr>
            <a:r>
              <a:rPr sz="2100">
                <a:solidFill>
                  <a:srgbClr val="2563EB"/>
                </a:solidFill>
                <a:latin typeface="Segoe UI"/>
              </a:rPr>
              <a:t>▪  </a:t>
            </a:r>
            <a:r>
              <a:rPr sz="2100">
                <a:solidFill>
                  <a:srgbClr val="111827"/>
                </a:solidFill>
                <a:latin typeface="Segoe UI"/>
              </a:rPr>
              <a:t>Remove the auto-publish → triangle collapses</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14  ·  AI Training Series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Constrain it to do less — and gate every action</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4937760" cy="4206240"/>
          </a:xfrm>
          <a:prstGeom prst="rect">
            <a:avLst/>
          </a:prstGeom>
          <a:noFill/>
        </p:spPr>
        <p:txBody>
          <a:bodyPr wrap="square">
            <a:spAutoFit/>
          </a:bodyPr>
          <a:lstStyle/>
          <a:p>
            <a:pPr>
              <a:spcAft>
                <a:spcPts val="1400"/>
              </a:spcAft>
            </a:pPr>
            <a:r>
              <a:rPr sz="1700">
                <a:solidFill>
                  <a:srgbClr val="2563EB"/>
                </a:solidFill>
                <a:latin typeface="Segoe UI"/>
              </a:rPr>
              <a:t>▪  </a:t>
            </a:r>
            <a:r>
              <a:rPr sz="1700">
                <a:solidFill>
                  <a:srgbClr val="111827"/>
                </a:solidFill>
                <a:latin typeface="Segoe UI"/>
              </a:rPr>
              <a:t>Operating domain: **what data</a:t>
            </a:r>
          </a:p>
          <a:p>
            <a:pPr>
              <a:spcAft>
                <a:spcPts val="1400"/>
              </a:spcAft>
            </a:pPr>
            <a:r>
              <a:rPr sz="1700">
                <a:solidFill>
                  <a:srgbClr val="2563EB"/>
                </a:solidFill>
                <a:latin typeface="Segoe UI"/>
              </a:rPr>
              <a:t>▪  </a:t>
            </a:r>
            <a:r>
              <a:rPr sz="1700">
                <a:solidFill>
                  <a:srgbClr val="111827"/>
                </a:solidFill>
                <a:latin typeface="Segoe UI"/>
              </a:rPr>
              <a:t>what tasks</a:t>
            </a:r>
          </a:p>
          <a:p>
            <a:pPr>
              <a:spcAft>
                <a:spcPts val="1400"/>
              </a:spcAft>
            </a:pPr>
            <a:r>
              <a:rPr sz="1700">
                <a:solidFill>
                  <a:srgbClr val="2563EB"/>
                </a:solidFill>
                <a:latin typeface="Segoe UI"/>
              </a:rPr>
              <a:t>▪  </a:t>
            </a:r>
            <a:r>
              <a:rPr sz="1700">
                <a:solidFill>
                  <a:srgbClr val="111827"/>
                </a:solidFill>
                <a:latin typeface="Segoe UI"/>
              </a:rPr>
              <a:t>how the user verifies**</a:t>
            </a:r>
          </a:p>
          <a:p>
            <a:pPr>
              <a:spcAft>
                <a:spcPts val="1400"/>
              </a:spcAft>
            </a:pPr>
            <a:r>
              <a:rPr sz="1700">
                <a:solidFill>
                  <a:srgbClr val="2563EB"/>
                </a:solidFill>
                <a:latin typeface="Segoe UI"/>
              </a:rPr>
              <a:t>▪  </a:t>
            </a:r>
            <a:r>
              <a:rPr sz="1700">
                <a:solidFill>
                  <a:srgbClr val="111827"/>
                </a:solidFill>
                <a:latin typeface="Segoe UI"/>
              </a:rPr>
              <a:t>Write the barred uses, not just the allowed ones</a:t>
            </a:r>
          </a:p>
          <a:p>
            <a:pPr>
              <a:spcAft>
                <a:spcPts val="1400"/>
              </a:spcAft>
            </a:pPr>
            <a:r>
              <a:rPr sz="1700">
                <a:solidFill>
                  <a:srgbClr val="2563EB"/>
                </a:solidFill>
                <a:latin typeface="Segoe UI"/>
              </a:rPr>
              <a:t>▪  </a:t>
            </a:r>
            <a:r>
              <a:rPr sz="1700">
                <a:solidFill>
                  <a:srgbClr val="111827"/>
                </a:solidFill>
                <a:latin typeface="Segoe UI"/>
              </a:rPr>
              <a:t>No automated pipeline acts on model output without a qualified human gate.</a:t>
            </a:r>
          </a:p>
        </p:txBody>
      </p:sp>
      <p:sp>
        <p:nvSpPr>
          <p:cNvPr id="5" name="Rounded Rectangle 4" descr="Diagram: Constrain it to do less — and gate every action"/>
          <p:cNvSpPr/>
          <p:nvPr/>
        </p:nvSpPr>
        <p:spPr>
          <a:xfrm>
            <a:off x="5943600" y="1554480"/>
            <a:ext cx="5577840" cy="3840480"/>
          </a:xfrm>
          <a:prstGeom prst="roundRect">
            <a:avLst/>
          </a:prstGeom>
          <a:solidFill>
            <a:srgbClr val="F3F4F6"/>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6B7280"/>
                </a:solidFill>
                <a:latin typeface="Segoe UI"/>
              </a:rPr>
              <a:t>DIAGRAM — render from Mermaid source (in speaker notes)</a:t>
            </a:r>
          </a:p>
          <a:p>
            <a:pPr algn="ctr"/>
            <a:r>
              <a:rPr sz="1500">
                <a:solidFill>
                  <a:srgbClr val="1F2A37"/>
                </a:solidFill>
                <a:latin typeface="Segoe UI"/>
              </a:rPr>
              <a:t>1. What DATA goes in  →  LLM  →  2. What TASKS are sanctioned  →  3. How the USER verifies  →  Real-world actions</a:t>
            </a:r>
          </a:p>
        </p:txBody>
      </p:sp>
      <p:sp>
        <p:nvSpPr>
          <p:cNvPr id="6" name="TextBox 5"/>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14  ·  AI Training Series</a:t>
            </a:r>
          </a:p>
        </p:txBody>
      </p:sp>
      <p:sp>
        <p:nvSpPr>
          <p:cNvPr id="7" name="TextBox 6"/>
          <p:cNvSpPr txBox="1"/>
          <p:nvPr/>
        </p:nvSpPr>
        <p:spPr>
          <a:xfrm>
            <a:off x="7498079" y="6327648"/>
            <a:ext cx="4023360" cy="365760"/>
          </a:xfrm>
          <a:prstGeom prst="rect">
            <a:avLst/>
          </a:prstGeom>
          <a:noFill/>
        </p:spPr>
        <p:txBody>
          <a:bodyPr wrap="square" anchor="t">
            <a:spAutoFit/>
          </a:bodyPr>
          <a:lstStyle/>
          <a:p>
            <a:pPr algn="r">
              <a:spcAft>
                <a:spcPts val="1000"/>
              </a:spcAft>
            </a:pPr>
            <a:r>
              <a:rPr sz="1000" b="0">
                <a:solidFill>
                  <a:srgbClr val="6B7280"/>
                </a:solidFill>
                <a:latin typeface="Segoe UI"/>
              </a:rPr>
              <a:t>framing after the LLM-safety source deck — LINK-ONLY, paraphrased. Diagram original.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EU AI Act: you are a deployer, and three things apply</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In force now: Art. 5 prohibited practices (incl. workplace emotion recognition)</a:t>
            </a:r>
          </a:p>
          <a:p>
            <a:pPr>
              <a:spcAft>
                <a:spcPts val="1400"/>
              </a:spcAft>
            </a:pPr>
            <a:r>
              <a:rPr sz="2100">
                <a:solidFill>
                  <a:srgbClr val="2563EB"/>
                </a:solidFill>
                <a:latin typeface="Segoe UI"/>
              </a:rPr>
              <a:t>▪  </a:t>
            </a:r>
            <a:r>
              <a:rPr sz="2100">
                <a:solidFill>
                  <a:srgbClr val="111827"/>
                </a:solidFill>
                <a:latin typeface="Segoe UI"/>
              </a:rPr>
              <a:t>Art. 4 AI literacy — this training counts</a:t>
            </a:r>
          </a:p>
          <a:p>
            <a:pPr>
              <a:spcAft>
                <a:spcPts val="1400"/>
              </a:spcAft>
            </a:pPr>
            <a:r>
              <a:rPr sz="2100">
                <a:solidFill>
                  <a:srgbClr val="2563EB"/>
                </a:solidFill>
                <a:latin typeface="Segoe UI"/>
              </a:rPr>
              <a:t>▪  </a:t>
            </a:r>
            <a:r>
              <a:rPr sz="2100">
                <a:solidFill>
                  <a:srgbClr val="111827"/>
                </a:solidFill>
                <a:latin typeface="Segoe UI"/>
              </a:rPr>
              <a:t>From 2026-08-02: Art. 50 transparency</a:t>
            </a:r>
          </a:p>
          <a:p>
            <a:pPr>
              <a:spcAft>
                <a:spcPts val="1400"/>
              </a:spcAft>
            </a:pPr>
            <a:r>
              <a:rPr sz="2100">
                <a:solidFill>
                  <a:srgbClr val="2563EB"/>
                </a:solidFill>
                <a:latin typeface="Segoe UI"/>
              </a:rPr>
              <a:t>▪  </a:t>
            </a:r>
            <a:r>
              <a:rPr sz="2100">
                <a:solidFill>
                  <a:srgbClr val="111827"/>
                </a:solidFill>
                <a:latin typeface="Segoe UI"/>
              </a:rPr>
              <a:t>High-risk deployer duties: reportedly deferred to 2027-12-02 — PROVISIONAL.</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14  ·  AI Training Series</a:t>
            </a:r>
          </a:p>
        </p:txBody>
      </p:sp>
      <p:sp>
        <p:nvSpPr>
          <p:cNvPr id="6" name="TextBox 5"/>
          <p:cNvSpPr txBox="1"/>
          <p:nvPr/>
        </p:nvSpPr>
        <p:spPr>
          <a:xfrm>
            <a:off x="7498079" y="6327648"/>
            <a:ext cx="4023360" cy="365760"/>
          </a:xfrm>
          <a:prstGeom prst="rect">
            <a:avLst/>
          </a:prstGeom>
          <a:noFill/>
        </p:spPr>
        <p:txBody>
          <a:bodyPr wrap="square" anchor="t">
            <a:spAutoFit/>
          </a:bodyPr>
          <a:lstStyle/>
          <a:p>
            <a:pPr algn="r">
              <a:spcAft>
                <a:spcPts val="1000"/>
              </a:spcAft>
            </a:pPr>
            <a:r>
              <a:rPr sz="1000" b="0">
                <a:solidFill>
                  <a:srgbClr val="6B7280"/>
                </a:solidFill>
                <a:latin typeface="Segoe UI"/>
              </a:rPr>
              <a:t>European Commission / AI Act implementation timeline — official EU material, paraphrased. ⏱ RE-VERIFY EVE…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Your homework: write the policy yourselves</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9 sections</a:t>
            </a:r>
          </a:p>
          <a:p>
            <a:pPr>
              <a:spcAft>
                <a:spcPts val="1400"/>
              </a:spcAft>
            </a:pPr>
            <a:r>
              <a:rPr sz="2100">
                <a:solidFill>
                  <a:srgbClr val="2563EB"/>
                </a:solidFill>
                <a:latin typeface="Segoe UI"/>
              </a:rPr>
              <a:t>▪  </a:t>
            </a:r>
            <a:r>
              <a:rPr sz="2100">
                <a:solidFill>
                  <a:srgbClr val="111827"/>
                </a:solidFill>
                <a:latin typeface="Segoe UI"/>
              </a:rPr>
              <a:t>§4 data tiers</a:t>
            </a:r>
          </a:p>
          <a:p>
            <a:pPr>
              <a:spcAft>
                <a:spcPts val="1400"/>
              </a:spcAft>
            </a:pPr>
            <a:r>
              <a:rPr sz="2100">
                <a:solidFill>
                  <a:srgbClr val="2563EB"/>
                </a:solidFill>
                <a:latin typeface="Segoe UI"/>
              </a:rPr>
              <a:t>▪  </a:t>
            </a:r>
            <a:r>
              <a:rPr sz="2100">
                <a:solidFill>
                  <a:srgbClr val="111827"/>
                </a:solidFill>
                <a:latin typeface="Segoe UI"/>
              </a:rPr>
              <a:t>§5 sanctioned &amp; barred uses</a:t>
            </a:r>
          </a:p>
          <a:p>
            <a:pPr>
              <a:spcAft>
                <a:spcPts val="1400"/>
              </a:spcAft>
            </a:pPr>
            <a:r>
              <a:rPr sz="2100">
                <a:solidFill>
                  <a:srgbClr val="2563EB"/>
                </a:solidFill>
                <a:latin typeface="Segoe UI"/>
              </a:rPr>
              <a:t>▪  </a:t>
            </a:r>
            <a:r>
              <a:rPr sz="2100">
                <a:solidFill>
                  <a:srgbClr val="111827"/>
                </a:solidFill>
                <a:latin typeface="Segoe UI"/>
              </a:rPr>
              <a:t>§6 the gate rule</a:t>
            </a:r>
          </a:p>
          <a:p>
            <a:pPr>
              <a:spcAft>
                <a:spcPts val="1400"/>
              </a:spcAft>
            </a:pPr>
            <a:r>
              <a:rPr sz="2100">
                <a:solidFill>
                  <a:srgbClr val="2563EB"/>
                </a:solidFill>
                <a:latin typeface="Segoe UI"/>
              </a:rPr>
              <a:t>▪  </a:t>
            </a:r>
            <a:r>
              <a:rPr sz="2100">
                <a:solidFill>
                  <a:srgbClr val="111827"/>
                </a:solidFill>
                <a:latin typeface="Segoe UI"/>
              </a:rPr>
              <a:t>§8 incident reporting</a:t>
            </a:r>
          </a:p>
          <a:p>
            <a:pPr>
              <a:spcAft>
                <a:spcPts val="1400"/>
              </a:spcAft>
            </a:pPr>
            <a:r>
              <a:rPr sz="2100">
                <a:solidFill>
                  <a:srgbClr val="2563EB"/>
                </a:solidFill>
                <a:latin typeface="Segoe UI"/>
              </a:rPr>
              <a:t>▪  </a:t>
            </a:r>
            <a:r>
              <a:rPr sz="2100">
                <a:solidFill>
                  <a:srgbClr val="111827"/>
                </a:solidFill>
                <a:latin typeface="Segoe UI"/>
              </a:rPr>
              <a:t>Built from NIST AI RMF Playbook (public domain) + UK AI Playbook (OGL v3.0)</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14  ·  AI Training Series</a:t>
            </a:r>
          </a:p>
        </p:txBody>
      </p:sp>
      <p:sp>
        <p:nvSpPr>
          <p:cNvPr id="6" name="TextBox 5"/>
          <p:cNvSpPr txBox="1"/>
          <p:nvPr/>
        </p:nvSpPr>
        <p:spPr>
          <a:xfrm>
            <a:off x="7498079" y="6327648"/>
            <a:ext cx="4023360" cy="365760"/>
          </a:xfrm>
          <a:prstGeom prst="rect">
            <a:avLst/>
          </a:prstGeom>
          <a:noFill/>
        </p:spPr>
        <p:txBody>
          <a:bodyPr wrap="square" anchor="t">
            <a:spAutoFit/>
          </a:bodyPr>
          <a:lstStyle/>
          <a:p>
            <a:pPr algn="r">
              <a:spcAft>
                <a:spcPts val="1000"/>
              </a:spcAft>
            </a:pPr>
            <a:r>
              <a:rPr sz="1000" b="0">
                <a:solidFill>
                  <a:srgbClr val="6B7280"/>
                </a:solidFill>
                <a:latin typeface="Segoe UI"/>
              </a:rPr>
              <a:t>NIST AI RMF Playbook — US public domain. UK Government AI Playbook — OGL v3.0 (attribution required). GSA…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Q&amp;A / discussion</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"Where in your area does an automated system already act on output that nobody reads?"</a:t>
            </a:r>
          </a:p>
          <a:p>
            <a:pPr>
              <a:spcAft>
                <a:spcPts val="1400"/>
              </a:spcAft>
            </a:pPr>
            <a:r>
              <a:rPr sz="2100">
                <a:solidFill>
                  <a:srgbClr val="2563EB"/>
                </a:solidFill>
                <a:latin typeface="Segoe UI"/>
              </a:rPr>
              <a:t>▪  </a:t>
            </a:r>
            <a:r>
              <a:rPr sz="2100">
                <a:solidFill>
                  <a:srgbClr val="111827"/>
                </a:solidFill>
                <a:latin typeface="Segoe UI"/>
              </a:rPr>
              <a:t>Poll results recap</a:t>
            </a:r>
          </a:p>
          <a:p>
            <a:pPr>
              <a:spcAft>
                <a:spcPts val="1400"/>
              </a:spcAft>
            </a:pPr>
            <a:r>
              <a:rPr sz="2100">
                <a:solidFill>
                  <a:srgbClr val="2563EB"/>
                </a:solidFill>
                <a:latin typeface="Segoe UI"/>
              </a:rPr>
              <a:t>▪  </a:t>
            </a:r>
            <a:r>
              <a:rPr sz="2100">
                <a:solidFill>
                  <a:srgbClr val="111827"/>
                </a:solidFill>
                <a:latin typeface="Segoe UI"/>
              </a:rPr>
              <a:t>Monday commitments</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14  ·  AI Training Series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Resources &amp; credits</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OWASP LLM Top 10 2025 (CC BY-SA 4.0)</a:t>
            </a:r>
          </a:p>
          <a:p>
            <a:pPr>
              <a:spcAft>
                <a:spcPts val="1400"/>
              </a:spcAft>
            </a:pPr>
            <a:r>
              <a:rPr sz="2100">
                <a:solidFill>
                  <a:srgbClr val="2563EB"/>
                </a:solidFill>
                <a:latin typeface="Segoe UI"/>
              </a:rPr>
              <a:t>▪  </a:t>
            </a:r>
            <a:r>
              <a:rPr sz="2100">
                <a:solidFill>
                  <a:srgbClr val="111827"/>
                </a:solidFill>
                <a:latin typeface="Segoe UI"/>
              </a:rPr>
              <a:t>NIST AI RMF &amp; GenAI Profile (public domain)</a:t>
            </a:r>
          </a:p>
          <a:p>
            <a:pPr>
              <a:spcAft>
                <a:spcPts val="1400"/>
              </a:spcAft>
            </a:pPr>
            <a:r>
              <a:rPr sz="2100">
                <a:solidFill>
                  <a:srgbClr val="2563EB"/>
                </a:solidFill>
                <a:latin typeface="Segoe UI"/>
              </a:rPr>
              <a:t>▪  </a:t>
            </a:r>
            <a:r>
              <a:rPr sz="2100">
                <a:solidFill>
                  <a:srgbClr val="111827"/>
                </a:solidFill>
                <a:latin typeface="Segoe UI"/>
              </a:rPr>
              <a:t>MITRE ATLAS™ (© MITRE, reproduced with permission)</a:t>
            </a:r>
          </a:p>
          <a:p>
            <a:pPr>
              <a:spcAft>
                <a:spcPts val="1400"/>
              </a:spcAft>
            </a:pPr>
            <a:r>
              <a:rPr sz="2100">
                <a:solidFill>
                  <a:srgbClr val="2563EB"/>
                </a:solidFill>
                <a:latin typeface="Segoe UI"/>
              </a:rPr>
              <a:t>▪  </a:t>
            </a:r>
            <a:r>
              <a:rPr sz="2100">
                <a:solidFill>
                  <a:srgbClr val="111827"/>
                </a:solidFill>
                <a:latin typeface="Segoe UI"/>
              </a:rPr>
              <a:t>UK AI Playbook (OGL v3.0)</a:t>
            </a:r>
          </a:p>
          <a:p>
            <a:pPr>
              <a:spcAft>
                <a:spcPts val="1400"/>
              </a:spcAft>
            </a:pPr>
            <a:r>
              <a:rPr sz="2100">
                <a:solidFill>
                  <a:srgbClr val="2563EB"/>
                </a:solidFill>
                <a:latin typeface="Segoe UI"/>
              </a:rPr>
              <a:t>▪  </a:t>
            </a:r>
            <a:r>
              <a:rPr sz="2100">
                <a:solidFill>
                  <a:srgbClr val="111827"/>
                </a:solidFill>
                <a:latin typeface="Segoe UI"/>
              </a:rPr>
              <a:t>GSA CIO 2185.1C</a:t>
            </a:r>
          </a:p>
          <a:p>
            <a:pPr>
              <a:spcAft>
                <a:spcPts val="1400"/>
              </a:spcAft>
            </a:pPr>
            <a:r>
              <a:rPr sz="2100">
                <a:solidFill>
                  <a:srgbClr val="2563EB"/>
                </a:solidFill>
                <a:latin typeface="Segoe UI"/>
              </a:rPr>
              <a:t>▪  </a:t>
            </a:r>
            <a:r>
              <a:rPr sz="2100">
                <a:solidFill>
                  <a:srgbClr val="111827"/>
                </a:solidFill>
                <a:latin typeface="Segoe UI"/>
              </a:rPr>
              <a:t>Pre-read: Simon Willison on prompt injection</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14  ·  AI Training Series</a:t>
            </a:r>
          </a:p>
        </p:txBody>
      </p:sp>
      <p:sp>
        <p:nvSpPr>
          <p:cNvPr id="6" name="TextBox 5"/>
          <p:cNvSpPr txBox="1"/>
          <p:nvPr/>
        </p:nvSpPr>
        <p:spPr>
          <a:xfrm>
            <a:off x="7498079" y="6327648"/>
            <a:ext cx="4023360" cy="365760"/>
          </a:xfrm>
          <a:prstGeom prst="rect">
            <a:avLst/>
          </a:prstGeom>
          <a:noFill/>
        </p:spPr>
        <p:txBody>
          <a:bodyPr wrap="square" anchor="t">
            <a:spAutoFit/>
          </a:bodyPr>
          <a:lstStyle/>
          <a:p>
            <a:pPr algn="r">
              <a:spcAft>
                <a:spcPts val="1000"/>
              </a:spcAft>
            </a:pPr>
            <a:r>
              <a:rPr sz="1000" b="0">
                <a:solidFill>
                  <a:srgbClr val="6B7280"/>
                </a:solidFill>
                <a:latin typeface="Segoe UI"/>
              </a:rPr>
              <a:t>as listed. --- ### Slide-to-content map | Slides | Content file | |---|---| | 3–4 | exercises/lab.md Part…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