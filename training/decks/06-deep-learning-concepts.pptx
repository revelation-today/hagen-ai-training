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demystifying session. We open the black box of a neural network so that the hands-on sessions coming next feel earned, not hand-waved. We teach the ideas; we deliberately skip the from-scratch calculus.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arc in 20 seconds. Flag that the middle (training) is the heart, and that nobody has to run code today — Session 7 is the lab.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running example: pick readable text for any background. Honesty up front — a plain rule or a logistic regression solves this; we use a network only because it's small enough to see through. Real networks earn their keep on images/audio/language.</a:t>
            </a:r>
          </a:p>
          <a:p/>
          <a:p>
            <a:r>
              <a:t>--- Mermaid source 1 (render and place on the diagram box) ---</a:t>
            </a:r>
          </a:p>
          <a:p>
            <a:r>
              <a:t>flowchart LR</a:t>
            </a:r>
          </a:p>
          <a:p>
            <a:r>
              <a:t>    C["Colour (255,255,204)"] --&gt; N["Network 3-&gt;3-&gt;1"] --&gt; P["0.57 = P(dark)"] --&gt; D{"&gt;= 0.5?"}</a:t>
            </a:r>
          </a:p>
          <a:p>
            <a:r>
              <a:t>    D --&gt;|yes| DARK["DARK text"]</a:t>
            </a:r>
          </a:p>
          <a:p>
            <a:r>
              <a:t>    D --&gt;|no| LIGHT["LIGHT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steps: a weighted sum (this is just y = mx + b with several inputs), then a nonlinear activation. Weights say how much the neuron cares about each input; the bias is its default lean. These are the numbers training will set — everything else is fixed.</a:t>
            </a:r>
          </a:p>
          <a:p/>
          <a:p>
            <a:r>
              <a:t>--- Mermaid source 1 (render and place on the diagram box) ---</a:t>
            </a:r>
          </a:p>
          <a:p>
            <a:r>
              <a:t>flowchart LR</a:t>
            </a:r>
          </a:p>
          <a:p>
            <a:r>
              <a:t>    x1["x1"] --&gt;|w1| S</a:t>
            </a:r>
          </a:p>
          <a:p>
            <a:r>
              <a:t>    x2["x2"] --&gt;|w2| S</a:t>
            </a:r>
          </a:p>
          <a:p>
            <a:r>
              <a:t>    x3["x3"] --&gt;|w3| S</a:t>
            </a:r>
          </a:p>
          <a:p>
            <a:r>
              <a:t>    B["bias b"] --&gt; S</a:t>
            </a:r>
          </a:p>
          <a:p>
            <a:r>
              <a:t>    S["sum: z = w1x1+w2x2+w3x3+b"] --&gt; F["f(z) activation"] --&gt; A["output 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arithmetic once, slowly. Point out ReLU here just passed 0.36 through unchanged; had z been negative, ReLU would clamp it to 0. That clamp is the neuron's only nonlinearity — and it's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3→3→1 architecture we use the rest of the session. Hidden only means "not input or output" — nothing secret. Every arrow is a weight; every hidden/output neuron adds a bias.</a:t>
            </a:r>
          </a:p>
          <a:p/>
          <a:p>
            <a:r>
              <a:t>--- Mermaid source 1 (render and place on the diagram box) ---</a:t>
            </a:r>
          </a:p>
          <a:p>
            <a:r>
              <a:t>flowchart LR</a:t>
            </a:r>
          </a:p>
          <a:p>
            <a:r>
              <a:t>    R["Red"] --&gt; H1 &amp; H2 &amp; H3</a:t>
            </a:r>
          </a:p>
          <a:p>
            <a:r>
              <a:t>    G["Green"] --&gt; H1 &amp; H2 &amp; H3</a:t>
            </a:r>
          </a:p>
          <a:p>
            <a:r>
              <a:t>    B["Blue"] --&gt; H1 &amp; H2 &amp; H3</a:t>
            </a:r>
          </a:p>
          <a:p>
            <a:r>
              <a:t>    H1 --&gt; O</a:t>
            </a:r>
          </a:p>
          <a:p>
            <a:r>
              <a:t>    H2 --&gt; O</a:t>
            </a:r>
          </a:p>
          <a:p>
            <a:r>
              <a:t>    H3 --&gt; O</a:t>
            </a:r>
          </a:p>
          <a:p>
            <a:r>
              <a:t>    O["out"] --&gt; P["P(dark)"]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scaling point. Our toy has 16 knobs, all random at the start, all nudged by training. A large model is this exact structure with a hundred billion knobs. Nothing about the mechanism changes — a reassuring anchor for Session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precise definition, then the admission — the source course teaches "deep learning" with a non-deep network. We call it out rather than hide it (source error #13). More layers = more capacity but slower, more data-hungry, easier to overfit. No formula for how many; it's experiment.</a:t>
            </a:r>
          </a:p>
          <a:p/>
          <a:p>
            <a:r>
              <a:t>--- Mermaid source 1 (render and place on the diagram box) ---</a:t>
            </a:r>
          </a:p>
          <a:p>
            <a:r>
              <a:t>flowchart LR</a:t>
            </a:r>
          </a:p>
          <a:p>
            <a:r>
              <a:t>    A["Add layers/neurons"] --&gt; B["+ capture more complex patterns"]</a:t>
            </a:r>
          </a:p>
          <a:p>
            <a:r>
              <a:t>    A --&gt; C["- more knobs, slower, more data"]</a:t>
            </a:r>
          </a:p>
          <a:p>
            <a:r>
              <a:t>    A --&gt; D["- easier to OVERFIT"]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salmon pink all the way through. Two rounds of "multiply-add, then bend." The three hidden numbers are the network's internal features — no human name, and that's normal. Emphasise: no magic step is hiding in the middle.</a:t>
            </a:r>
          </a:p>
          <a:p/>
          <a:p>
            <a:r>
              <a:t>--- Mermaid source 1 (render and place on the diagram box) ---</a:t>
            </a:r>
          </a:p>
          <a:p>
            <a:r>
              <a:t>flowchart LR</a:t>
            </a:r>
          </a:p>
          <a:p>
            <a:r>
              <a:t>    IN["(1.0,1.0,0.8)"] --&gt; H1["h1 -&gt; 0.36"] &amp; H2["h2 -&gt; 0.22"] &amp; H3["h3 -&gt; 0.00"]</a:t>
            </a:r>
          </a:p>
          <a:p>
            <a:r>
              <a:t>    H1 --&gt; O["out -&gt; sigmoid -&gt; 0.57"]</a:t>
            </a:r>
          </a:p>
          <a:p>
            <a:r>
              <a:t>    H2 --&gt; O</a:t>
            </a:r>
          </a:p>
          <a:p>
            <a:r>
              <a:t>    H3 --&gt; O</a:t>
            </a:r>
          </a:p>
          <a:p>
            <a:r>
              <a:t>    O --&gt; R{"&gt;= 0.5?"} --&gt;|yes| DARK["DARK"]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decision rule cleanly and note the correction: the source deck contradicts itself (one slide says ≥.5 → light). We hold ≥.5 → DARK because the output is defined as the probability of dark. Pick one direction and keep it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of the session's first half. Stack linear layers and algebra collapses them into one linear layer — you'd spend millions of parameters to reinvent linear regression. The nonlinearity between layers is what lets each layer build a genuinely new shape.</a:t>
            </a:r>
          </a:p>
          <a:p/>
          <a:p>
            <a:r>
              <a:t>--- Mermaid source 1 (render and place on the diagram box) ---</a:t>
            </a:r>
          </a:p>
          <a:p>
            <a:r>
              <a:t>flowchart LR</a:t>
            </a:r>
          </a:p>
          <a:p>
            <a:r>
              <a:t>    L1["Linear"] --&gt; L2["Linear"] --&gt; L3["Linear"] --&gt; EQ["= ONE line"]</a:t>
            </a:r>
          </a:p>
          <a:p>
            <a:r>
              <a:t>    M1["Lin+ReLU"] --&gt; M2["Lin+ReLU"] --&gt; M3["Lin+sigmoid"] --&gt; CURVE["= curves &amp; complex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Recognition-level only. ReLU almost always for hidden layers (cheap; avoids vanishing gradients). Output activation matches the answer: sigmoid for one probability, softmax for one-of-N. Optionally show the Desmos graphs live (link only). Footnote the MSE-vs-cross-entropy simplification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emotional beat of Session 7 — you'll see the untrained model flail before it learns. Training's whole job: turn 16 random numbers into 16 good ones. How?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 is the same "cost/distance we minimise" spine from Sessions 3–5, returning as loss. Squaring stops positives and negatives cancelling and punishes big misses. Low loss = good predictions. Everything else is machinery to shrink it.</a:t>
            </a:r>
          </a:p>
          <a:p/>
          <a:p>
            <a:r>
              <a:t>--- Mermaid source 1 (render and place on the diagram box) ---</a:t>
            </a:r>
          </a:p>
          <a:p>
            <a:r>
              <a:t>flowchart LR</a:t>
            </a:r>
          </a:p>
          <a:p>
            <a:r>
              <a:t>    P["prediction 0.57"] --&gt; D["gap = pred - truth"]</a:t>
            </a:r>
          </a:p>
          <a:p>
            <a:r>
              <a:t>    T["truth 1"] --&gt; D</a:t>
            </a:r>
          </a:p>
          <a:p>
            <a:r>
              <a:t>    D --&gt; SQ["square it"] --&gt; AVG["average"] --&gt; L["LOSS"]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metaphor. Night, mountains, a flashlight — you see only the ground at your feet, so you step downhill and repeat. Steeper slope → bigger step. Learning rate too big = a giant leaping over the valley; too small = an ant taking forever. No formula; tuned by experiment (Session 8).</a:t>
            </a:r>
          </a:p>
          <a:p/>
          <a:p>
            <a:r>
              <a:t>--- Mermaid source 1 (render and place on the diagram box) ---</a:t>
            </a:r>
          </a:p>
          <a:p>
            <a:r>
              <a:t>flowchart TD</a:t>
            </a:r>
          </a:p>
          <a:p>
            <a:r>
              <a:t>    S["Random weights"] --&gt; F["Feel the slope (gradient)"]</a:t>
            </a:r>
          </a:p>
          <a:p>
            <a:r>
              <a:t>    F --&gt; STEP["Step downhill: w = w - stepsize x slope"]</a:t>
            </a:r>
          </a:p>
          <a:p>
            <a:r>
              <a:t>    STEP --&gt; CHK{"Still downhill?"}</a:t>
            </a:r>
          </a:p>
          <a:p>
            <a:r>
              <a:t>    CHK --&gt;|yes| F</a:t>
            </a:r>
          </a:p>
          <a:p>
            <a:r>
              <a:t>    CHK --&gt;|flat| DONE["Valley: loss 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descent needs to know which way is downhill for every weight, including hidden ones that only affect the answer indirectly. Backprop pushes the error backward and hands each weight its share of the blame. The arithmetic (chain rule) is real but we skip it — the intuition is "split the blame backward."</a:t>
            </a:r>
          </a:p>
          <a:p/>
          <a:p>
            <a:r>
              <a:t>--- Mermaid source 1 (render and place on the diagram box) ---</a:t>
            </a:r>
          </a:p>
          <a:p>
            <a:r>
              <a:t>flowchart RL</a:t>
            </a:r>
          </a:p>
          <a:p>
            <a:r>
              <a:t>    ERR["Output error"] --&gt; OUT["Output weights: your share"]</a:t>
            </a:r>
          </a:p>
          <a:p>
            <a:r>
              <a:t>    OUT --&gt; HID["Hidden weights: smaller, indirect share"]</a:t>
            </a:r>
          </a:p>
          <a:p>
            <a:r>
              <a:t>    HID --&gt; UPD["Every weight knows which way to move"]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Assemble the loop. This single loop, at enormous scale, trained every model you've heard of. Mention the two wrinkles by name only: randomness (mini-batch / stochastic) shakes us out of shallow valleys and is cheaper; and we want a "good enough" valley, not the deepest — chasing the deepest overfits, which is the next slide.</a:t>
            </a:r>
          </a:p>
          <a:p/>
          <a:p>
            <a:r>
              <a:t>--- Mermaid source 1 (render and place on the diagram box) ---</a:t>
            </a:r>
          </a:p>
          <a:p>
            <a:r>
              <a:t>flowchart TD</a:t>
            </a:r>
          </a:p>
          <a:p>
            <a:r>
              <a:t>    INIT["Random weights"] --&gt; FWD["FORWARD -&gt; predictions"]</a:t>
            </a:r>
          </a:p>
          <a:p>
            <a:r>
              <a:t>    FWD --&gt; LOSS["LOSS"]</a:t>
            </a:r>
          </a:p>
          <a:p>
            <a:r>
              <a:t>    LOSS --&gt; BACK["BACKPROP -&gt; blame"]</a:t>
            </a:r>
          </a:p>
          <a:p>
            <a:r>
              <a:t>    BACK --&gt; GD["GRADIENT DESCENT -&gt; nudge weights"]</a:t>
            </a:r>
          </a:p>
          <a:p>
            <a:r>
              <a:t>    GD --&gt; R{"Improving?"}</a:t>
            </a:r>
          </a:p>
          <a:p>
            <a:r>
              <a:t>    R --&gt;|yes| FWD</a:t>
            </a:r>
          </a:p>
          <a:p>
            <a:r>
              <a:t>    R --&gt;|no| TRAINED["Trained network"]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who memorised last year's paper aces it and fails new questions. You can't spot overfitting from training performance — an overfit model looks best there. Hold out a test set (the model never learns from it) as a stand-in for the future. When the two loss curves diverge, you've started memorising noise. Fixes (Session 8): more data, early stopping, simpler net, dropout. Ties to Session 13: a good score is not proof it works.</a:t>
            </a:r>
          </a:p>
          <a:p/>
          <a:p>
            <a:r>
              <a:t>--- Mermaid source 1 (render and place on the diagram box) ---</a:t>
            </a:r>
          </a:p>
          <a:p>
            <a:r>
              <a:t>xychart-beta</a:t>
            </a:r>
          </a:p>
          <a:p>
            <a:r>
              <a:t>    title "Training vs test loss over epochs"</a:t>
            </a:r>
          </a:p>
          <a:p>
            <a:r>
              <a:t>    x-axis "Epoch" [1, 5, 10, 20, 40]</a:t>
            </a:r>
          </a:p>
          <a:p>
            <a:r>
              <a:t>    y-axis "Loss" 0 --&gt; 0.8</a:t>
            </a:r>
          </a:p>
          <a:p>
            <a:r>
              <a:t>    line "Training" [0.68, 0.42, 0.25, 0.12, 0.04]</a:t>
            </a:r>
          </a:p>
          <a:p>
            <a:r>
              <a:t>    line "Test" [0.69, 0.44, 0.28, 0.30, 0.41]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at the 3Blue1Brown series as the single best visual companion to today. Everything on this deck is our own drawing; nothing was lifted from the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Methods IV: Deep Learning, Conceptually</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6 of 16  ·  Methods</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One neuron → a network of layers → forward propagation → activation functions → training → overfitting.</a:t>
            </a:r>
          </a:p>
          <a:p>
            <a:pPr>
              <a:spcAft>
                <a:spcPts val="1400"/>
              </a:spcAft>
            </a:pPr>
            <a:r>
              <a:rPr sz="2100">
                <a:solidFill>
                  <a:srgbClr val="2563EB"/>
                </a:solidFill>
                <a:latin typeface="Segoe UI"/>
              </a:rPr>
              <a:t>▪  </a:t>
            </a:r>
            <a:r>
              <a:rPr sz="2100">
                <a:solidFill>
                  <a:srgbClr val="111827"/>
                </a:solidFill>
                <a:latin typeface="Segoe UI"/>
              </a:rPr>
              <a:t>"45 min + 15 min Q&amp;A."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problem we'll trace all session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"One tiny problem carries the whole idea." Bullets: background colour in (R,G,B); one probability out; ≥0.5 → dark text, else light.</a:t>
            </a:r>
          </a:p>
        </p:txBody>
      </p:sp>
      <p:sp>
        <p:nvSpPr>
          <p:cNvPr id="5" name="Rounded Rectangle 4" descr="Diagram: The problem we'll trace all session"/>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Colour (255,255,204)  →  Network 3-&gt;3-&gt;1  →  0.57 = P(dark)  →  DARK text  →  LIGHT text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neuron: weighted sum + a bend</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neuron is a linear function wearing a nonlinearity." Bullets: multiply each input by a weight; add a bias; pass through an activation.</a:t>
            </a:r>
          </a:p>
          <a:p>
            <a:pPr>
              <a:spcAft>
                <a:spcPts val="1400"/>
              </a:spcAft>
            </a:pPr>
            <a:r>
              <a:rPr sz="1700">
                <a:solidFill>
                  <a:srgbClr val="2563EB"/>
                </a:solidFill>
                <a:latin typeface="Segoe UI"/>
              </a:rPr>
              <a:t>▪  </a:t>
            </a:r>
            <a:r>
              <a:rPr sz="1700">
                <a:solidFill>
                  <a:srgbClr val="111827"/>
                </a:solidFill>
                <a:latin typeface="Segoe UI"/>
              </a:rPr>
              <a:t>Weights + bias = the learned parts.</a:t>
            </a:r>
          </a:p>
        </p:txBody>
      </p:sp>
      <p:sp>
        <p:nvSpPr>
          <p:cNvPr id="5" name="Rounded Rectangle 4" descr="Diagram: A neuron: weighted sum + a bend"/>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x1  →  x2  →  x3  →  bias b  →  sum: z = w1x1+w2x2+w3x3+b  →  f(z) activation</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neuron, with a real number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whole neuron is one line of arithmetic." Show: inputs (1.0, 1.0, 0.8); weights (0.5, −0.4, 0.2); bias 0.1 → z = 0.36 → ReLU → 0.36.</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network is layers of neurons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"Wire neurons into layers; each layer feeds the next." Bullets: input layer (the data); hidden layer (the workers); output layer (the answer); fully connected = Keras Dense.</a:t>
            </a:r>
          </a:p>
        </p:txBody>
      </p:sp>
      <p:sp>
        <p:nvSpPr>
          <p:cNvPr id="5" name="Rounded Rectangle 4" descr="Diagram: A network is layers of neuron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Red  →  Green  →  Blue  →  out  →  P(dark)</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16 knobs here; billions in an LLM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"Same mechanism, only the count changes." Table: inputs→hidden 9 weights + 3 biases; hidden→output 3 + 1; total 16 learnable numbers.</a:t>
            </a:r>
          </a:p>
          <a:p>
            <a:pPr>
              <a:spcAft>
                <a:spcPts val="1400"/>
              </a:spcAft>
            </a:pPr>
            <a:r>
              <a:rPr sz="2100">
                <a:solidFill>
                  <a:srgbClr val="2563EB"/>
                </a:solidFill>
                <a:latin typeface="Segoe UI"/>
              </a:rPr>
              <a:t>▪  </a:t>
            </a:r>
            <a:r>
              <a:rPr sz="2100">
                <a:solidFill>
                  <a:srgbClr val="111827"/>
                </a:solidFill>
                <a:latin typeface="Segoe UI"/>
              </a:rPr>
              <a:t>Footnote: an LLM has ~hundreds of billions of these.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What "deep" means (and our honest admission)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"'Deep' = more than one hidden layer.</a:t>
            </a:r>
          </a:p>
          <a:p>
            <a:pPr>
              <a:spcAft>
                <a:spcPts val="1400"/>
              </a:spcAft>
            </a:pPr>
            <a:r>
              <a:rPr sz="1700">
                <a:solidFill>
                  <a:srgbClr val="2563EB"/>
                </a:solidFill>
                <a:latin typeface="Segoe UI"/>
              </a:rPr>
              <a:t>▪  </a:t>
            </a:r>
            <a:r>
              <a:rPr sz="1700">
                <a:solidFill>
                  <a:srgbClr val="111827"/>
                </a:solidFill>
                <a:latin typeface="Segoe UI"/>
              </a:rPr>
              <a:t>Ours has one — so it isn't deep." Bullets: 2+ hidden layers = deep; ours is a (shallow) neural network; everything still transfers.</a:t>
            </a:r>
          </a:p>
        </p:txBody>
      </p:sp>
      <p:sp>
        <p:nvSpPr>
          <p:cNvPr id="5" name="Rounded Rectangle 4" descr="Diagram: What &quot;deep&quot; means (and our honest admission)"/>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Add layers/neurons  →  + capture more complex patterns  →  - more knobs, slower, more data  →  - easier to OVERFIT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Forward propagation: push the numbers through</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"Making a prediction is just arithmetic, twice." Bullets: scale RGB by 255; hidden layer → (0.36, 0.22, 0.00); output → 0.278 → sigmoid → 0.57.</a:t>
            </a:r>
          </a:p>
        </p:txBody>
      </p:sp>
      <p:sp>
        <p:nvSpPr>
          <p:cNvPr id="5" name="Rounded Rectangle 4" descr="Diagram: Forward propagation: push the numbers through"/>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(1.0,1.0,0.8)  →  h1 -&gt; 0.36  →  h2 -&gt; 0.22  →  h3 -&gt; 0.00  →  out -&gt; sigmoid -&gt; 0.57  →  DARK</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Read the answer: ≥0.5 → DARK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"0.57 ≥ 0.5 → dark text on salmon pink." Bullets: output = probability of dark; the threshold rule; a sensible answer for a pale background.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Why the nonlinearity is not optional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"Remove the activations and a deep network collapses into a line." Bullets: linear ∘ linear = linear; depth buys nothing without a bend; the activation is the whole point.</a:t>
            </a:r>
          </a:p>
        </p:txBody>
      </p:sp>
      <p:sp>
        <p:nvSpPr>
          <p:cNvPr id="5" name="Rounded Rectangle 4" descr="Diagram: Why the nonlinearity is not optional"/>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Linear  →  Linear  →  Linear  →  = ONE line  →  Lin+ReLU  →  Lin+ReLU</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activation toolkit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"Pick the activation to match the job." Compact table: ReLU (hidden, default), sigmoid (binary output), tanh (older hidden), softmax (multi-class output).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Training starts useless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"Random weights = coin-flip accuracy.</a:t>
            </a:r>
          </a:p>
          <a:p>
            <a:pPr>
              <a:spcAft>
                <a:spcPts val="1400"/>
              </a:spcAft>
            </a:pPr>
            <a:r>
              <a:rPr sz="2100">
                <a:solidFill>
                  <a:srgbClr val="2563EB"/>
                </a:solidFill>
                <a:latin typeface="Segoe UI"/>
              </a:rPr>
              <a:t>▪  </a:t>
            </a:r>
            <a:r>
              <a:rPr sz="2100">
                <a:solidFill>
                  <a:srgbClr val="111827"/>
                </a:solidFill>
                <a:latin typeface="Segoe UI"/>
              </a:rPr>
              <a:t>That's the honest starting line." Bullets: 16 random numbers; ~50% on a two-way problem; training turns random into good.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Step 1: measure wrongness (loss)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"You can't improve what you can't measure." Bullets: gap = prediction − truth; square it (positive + punishes big misses); average = loss; training minimises this one number.</a:t>
            </a:r>
          </a:p>
        </p:txBody>
      </p:sp>
      <p:sp>
        <p:nvSpPr>
          <p:cNvPr id="5" name="Rounded Rectangle 4" descr="Diagram: Step 1: measure wrongness (los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prediction 0.57  →  gap = pred - truth  →  truth 1  →  square it  →  average  →  LOSS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Step 2: gradient descent = flashlight in the mountains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"Feel which way is downhill, step, repeat." Bullets: loss = a landscape; weights = your location; height = error; flashlight = the local slope; learning rate = step size.</a:t>
            </a:r>
          </a:p>
        </p:txBody>
      </p:sp>
      <p:sp>
        <p:nvSpPr>
          <p:cNvPr id="5" name="Rounded Rectangle 4" descr="Diagram: Step 2: gradient descent = flashlight in the mountain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Random weights  →  Feel the slope (gradient)  →  Step downhill: w = w - stepsize x slope  →  Valley: loss low</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Step 3: backpropagation = distribute the blame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"Forward makes the prediction; back assigns the blame." Bullets: take the output error; push it backward; each weight gets its share; big contributor → big correction.</a:t>
            </a:r>
          </a:p>
        </p:txBody>
      </p:sp>
      <p:sp>
        <p:nvSpPr>
          <p:cNvPr id="5" name="Rounded Rectangle 4" descr="Diagram: Step 3: backpropagation = distribute the blam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Output error  →  Output weights: your share  →  Hidden weights: smaller, indirect share  →  Every weight knows which way to move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training loop, whole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"Predict → measure → blame → nudge.</a:t>
            </a:r>
          </a:p>
          <a:p>
            <a:pPr>
              <a:spcAft>
                <a:spcPts val="1400"/>
              </a:spcAft>
            </a:pPr>
            <a:r>
              <a:rPr sz="1700">
                <a:solidFill>
                  <a:srgbClr val="2563EB"/>
                </a:solidFill>
                <a:latin typeface="Segoe UI"/>
              </a:rPr>
              <a:t>▪  </a:t>
            </a:r>
            <a:r>
              <a:rPr sz="1700">
                <a:solidFill>
                  <a:srgbClr val="111827"/>
                </a:solidFill>
                <a:latin typeface="Segoe UI"/>
              </a:rPr>
              <a:t>Thousands of times." Bullets: forward; loss; backprop; gradient-descent step; repeat until good.</a:t>
            </a:r>
          </a:p>
        </p:txBody>
      </p:sp>
      <p:sp>
        <p:nvSpPr>
          <p:cNvPr id="5" name="Rounded Rectangle 4" descr="Diagram: The training loop, whol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Random weights  →  FORWARD -&gt; predictions  →  LOSS  →  BACKPROP -&gt; blame  →  GRADIENT DESCENT -&gt; nudge weights  →  Trained network</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Overfitting: memorising isn't learning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perfect training score can mean a useless model." Bullets: overfit = memorised the answer key; catch it with a held-out test set (~2/3 train, ~1/3 test); the tell = train loss falls while test loss turns up.</a:t>
            </a:r>
          </a:p>
        </p:txBody>
      </p:sp>
      <p:sp>
        <p:nvSpPr>
          <p:cNvPr id="5" name="Rounded Rectangle 4" descr="Diagram: Overfitting: memorising isn't learning"/>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5, 10, 20, 40  →  0.68, 0.42, 0.25, 0.12, 0.04  →  0.69, 0.44, 0.28, 0.30, 0.41</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 / Q&amp;A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"Questions &amp; discussion." 2–3 seed prompts (see exercises/discussion.md): Where in your work would a held-out test set have caught a bad decision? Why not just always use a neural network? Would you trust a vendor's accuracy number now?</a:t>
            </a:r>
          </a:p>
          <a:p>
            <a:pPr>
              <a:spcAft>
                <a:spcPts val="1400"/>
              </a:spcAft>
            </a:pPr>
            <a:r>
              <a:rPr sz="2100">
                <a:solidFill>
                  <a:srgbClr val="2563EB"/>
                </a:solidFill>
                <a:latin typeface="Segoe UI"/>
              </a:rPr>
              <a:t>▪  </a:t>
            </a:r>
            <a:r>
              <a:rPr sz="2100">
                <a:solidFill>
                  <a:srgbClr val="111827"/>
                </a:solidFill>
                <a:latin typeface="Segoe UI"/>
              </a:rPr>
              <a:t>Pre-reading and tools, with licences. 3Blue1Brown Neural Networks (link-only pre-reading); Desmos activation grapher (live demo); Keras/TensorFlow docs (Apache-2.0); source course credited as background (not reproduced)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per resources/sources.md. --- ## Build checklist (this deck) - [ ] 15 content slides (3–18);…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