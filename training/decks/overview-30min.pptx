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no maths, no code, no jargon left undefined. By the end you'll understand what these tools are, why they sometimes lie, and how to get good results. One promise: you'll leave with a single mental model that makes the rest make sense.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beats, each builds on the last. Flag that beat three — why it makes things up — is the one that changes how you use these tools; beats four and five are the practical payoff; beat six is where the field is heading and was specifically asked for. Keep the pace up — this is 35 minutes, not 45.</a:t>
            </a:r>
          </a:p>
          <a:p/>
          <a:p>
            <a:r>
              <a:t>--- Mermaid source 1 (render and place on the diagram box) ---</a:t>
            </a:r>
          </a:p>
          <a:p>
            <a:r>
              <a:t>flowchart LR</a:t>
            </a:r>
          </a:p>
          <a:p>
            <a:r>
              <a:t>    A["What AI is"] --&gt; B["How it works"] --&gt; C["Why it lies"] --&gt; D["Working with it"] --&gt; E["Good prompts"] --&gt; F["Agents &amp; skills"]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of hands, take one 20-second story. Land the point gently: the memory felt true. That inability to feel your own error is the best intuition for how AI works and fails — we'll come back to it. This is the emotional anchor of the whole talk; don't rush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in one flip. Classical software applies rules a human wrote. Machine learning is handed the data and the answers and works out the rules itself. Those "rules" are a pile of numbers we call a model. Everything else today is a consequence of this.</a:t>
            </a:r>
          </a:p>
          <a:p/>
          <a:p>
            <a:r>
              <a:t>--- Mermaid source 1 (render and place on the diagram box) ---</a:t>
            </a:r>
          </a:p>
          <a:p>
            <a:r>
              <a:t>flowchart LR</a:t>
            </a:r>
          </a:p>
          <a:p>
            <a:r>
              <a:t>    subgraph CL["Classical software"]</a:t>
            </a:r>
          </a:p>
          <a:p>
            <a:r>
              <a:t>      D1["Data"] --&gt; P1["Rules a human wrote"] --&gt; A1["Answer"]</a:t>
            </a:r>
          </a:p>
          <a:p>
            <a:r>
              <a:t>    end</a:t>
            </a:r>
          </a:p>
          <a:p>
            <a:r>
              <a:t>    subgraph ML["Machine learning"]</a:t>
            </a:r>
          </a:p>
          <a:p>
            <a:r>
              <a:t>      D2["Data"] --&gt; P2["Learning algorithm"]</a:t>
            </a:r>
          </a:p>
          <a:p>
            <a:r>
              <a:t>      A2["Answers (labelled)"] --&gt; P2 --&gt; R2["Rules = a model"]</a:t>
            </a:r>
          </a:p>
          <a:p>
            <a:r>
              <a:t>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cat/dog impossibility is the intuition pump. This is the whole reason machine learning exists: problems where examples are plentiful but rules can't be spelled out. Contrast with a tax calculation, where the rules are known and you'd never use AI.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up the vocabulary once. These are nested, not synonyms. When a vendor says "AI," ask which layer they mean. The tools this room touches — ChatGPT, Claude, Copilot — are all LLMs, so that's our focus from here.</a:t>
            </a:r>
          </a:p>
          <a:p/>
          <a:p>
            <a:r>
              <a:t>--- Mermaid source 1 (render and place on the diagram box) ---</a:t>
            </a:r>
          </a:p>
          <a:p>
            <a:r>
              <a:t>flowchart TD</a:t>
            </a:r>
          </a:p>
          <a:p>
            <a:r>
              <a:t>    AI["Artificial Intelligence"] --&gt; ML["Machine Learning"] --&gt; DL["Deep Learning"] --&gt; LLM["Large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talk. The model learned by covering the next word and guessing, over and over, on a huge amount of text. When you ask it something, it isn't consulting a database — it's producing the most plausible next chunk of text, one piece at a time. Say the phrase and make them remember it: autocomplete on steroids.</a:t>
            </a:r>
          </a:p>
          <a:p/>
          <a:p>
            <a:r>
              <a:t>--- Mermaid source 1 (render and place on the diagram box) ---</a:t>
            </a:r>
          </a:p>
          <a:p>
            <a:r>
              <a:t>flowchart LR</a:t>
            </a:r>
          </a:p>
          <a:p>
            <a:r>
              <a:t>    P["Your prompt"] --&gt; M["Predict most likely next token"] --&gt; T["Append"] --&gt; M</a:t>
            </a:r>
          </a:p>
          <a:p>
            <a:r>
              <a:t>    T --&gt; O["...until done"]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 home the distinction — it's the root of everything in the next section. It doesn't retrieve; it reconstructs. Correct facts appear because true statements dominate the training text, not because it's checking anything. Mention tokens briefly: how it reads, writes, and how the paid APIs bill. Optional: temperature as the randomness dial.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for anyone who'll rely on these tools. The model's job is a plausible continuation. Where the pattern is well-covered, plausible is usually also true. Where it's thin — a niche fact, a specific number, something recent — it still produces a confident, fluent answer with nothing solid underneath. This will not be "fixed"; it's structural. It can only be managed.</a:t>
            </a:r>
          </a:p>
          <a:p/>
          <a:p>
            <a:r>
              <a:t>--- Mermaid source 1 (render and place on the diagram box) ---</a:t>
            </a:r>
          </a:p>
          <a:p>
            <a:r>
              <a:t>flowchart LR</a:t>
            </a:r>
          </a:p>
          <a:p>
            <a:r>
              <a:t>    P["Prompt"] --&gt; R{"Well covered by&lt;br/&gt;training data?"}</a:t>
            </a:r>
          </a:p>
          <a:p>
            <a:r>
              <a:t>    R --&gt;|"Yes — dense"| G["Fluent, usually correct"]</a:t>
            </a:r>
          </a:p>
          <a:p>
            <a:r>
              <a:t>    R --&gt;|"No — sparse"| H["Fluent, possibly invented"]</a:t>
            </a:r>
          </a:p>
          <a:p>
            <a:r>
              <a:t>    G --&gt; S["Identical confidence.&lt;br/&gt;No warning label."]</a:t>
            </a:r>
          </a:p>
          <a:p>
            <a:r>
              <a:t>    H --&gt;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to the opening. Your brain hands you a false memory feeling certain; the model hands you an invented fact feeling fluent — same mechanism, pattern-completion ahead of evidence. When it's about facts we call it hallucination; about people, bias. The practical line: confidence is free, verification is your job.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useful rule in the talk. Verifiable, or truth-irrelevant — those are the safe zones. The danger zone is an unverifiable answer that has to be right. The habit that follows: a human who can actually judge the result stays in the loop. A plausible answer in a field you don't know is the most dangerous kind.</a:t>
            </a:r>
          </a:p>
          <a:p/>
          <a:p>
            <a:r>
              <a:t>--- Mermaid source 1 (render and place on the diagram box) ---</a:t>
            </a:r>
          </a:p>
          <a:p>
            <a:r>
              <a:t>flowchart TD</a:t>
            </a:r>
          </a:p>
          <a:p>
            <a:r>
              <a:t>    Q{"Can you easily&lt;br/&gt;verify it?"}</a:t>
            </a:r>
          </a:p>
          <a:p>
            <a:r>
              <a:t>    Q --&gt;|Yes| OK["Good use"]</a:t>
            </a:r>
          </a:p>
          <a:p>
            <a:r>
              <a:t>    Q --&gt;|No| Q2{"Does truth&lt;br/&gt;matter here?"}</a:t>
            </a:r>
          </a:p>
          <a:p>
            <a:r>
              <a:t>    Q2 --&gt;|No| OK2["Fine — truth isn't the point"]</a:t>
            </a:r>
          </a:p>
          <a:p>
            <a:r>
              <a:t>    Q2 --&gt;|Yes| D["Danger — need an expert&lt;br/&gt;or a grounded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heart of "how to work with it." Frame the do's as the sweet spot: transformation tasks where the material is in front of you and errors are visible. Frame the don'ts as the two ways people get burned — data leaving the building, and unverified facts going into something that matters. "Give it the source and ask it to work from that" is the single most useful habit; it makes the output checkable, which is the whole game. This slide is a keeper — tell them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Ask the model for a biography of a colleague (or yourself) who isn't famous. It will produce fluent, specific, confident, largely fabricated detail. Nothing lands "confident and wrong look identical" harder than watching it happen live. Fallback if no network: a pre-captured screenshot. Keep it light — the point is visceral, not a gotcha.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prompting as briefing, not incantation. The model is capable but knows nothing about your specific situation, so you supply that. Walk the five parts once. Emphasise that the biggest lever, by far, is specificity plus giving it the actual source material to work from.</a:t>
            </a:r>
          </a:p>
          <a:p/>
          <a:p>
            <a:r>
              <a:t>--- Mermaid source 1 (render and place on the diagram box) ---</a:t>
            </a:r>
          </a:p>
          <a:p>
            <a:r>
              <a:t>flowchart TD</a:t>
            </a:r>
          </a:p>
          <a:p>
            <a:r>
              <a:t>    R["Role"] --&gt; T["Task — one clear ask"] --&gt; C["Context + source material"] --&gt; F["Format"] --&gt; E["Example (if shape matters)"]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slide for the prompting section. Read both aloud. The "after" wins on specificity, real source material (which makes the output checkable), and an explicit "don't invent" instruction. It quietly demonstrates the safety habits too. Then the honest anti-pattern: there is no magic phrase — "act as a world-class expert" does far less than one concrete example.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were flagged as important, so give them a full slide. The shift is from a model that answers to one that acts. Walk the Think–Act–Observe loop concretely with a task from this room — e.g. "read the failed pipeline log, find the likely cause, and open a draft ticket." Genuinely powerful. Then land the safety point hard, because it's the whole reason it matters: a wrong chatbot answer is caught when you read it; a wrong answer from an agent that already ran the command or filed the ticket is an incident. So everything from the "own the output" rule matters more with agents, not less. Start them on narrow, well-bounded tasks with a human gate.</a:t>
            </a:r>
          </a:p>
          <a:p/>
          <a:p>
            <a:r>
              <a:t>--- Mermaid source 1 (render and place on the diagram box) ---</a:t>
            </a:r>
          </a:p>
          <a:p>
            <a:r>
              <a:t>flowchart LR</a:t>
            </a:r>
          </a:p>
          <a:p>
            <a:r>
              <a:t>    G["Goal"] --&gt; TH["Think:&lt;br/&gt;next step?"]</a:t>
            </a:r>
          </a:p>
          <a:p>
            <a:r>
              <a:t>    TH --&gt; AC["Act:&lt;br/&gt;use a tool"]</a:t>
            </a:r>
          </a:p>
          <a:p>
            <a:r>
              <a:t>    AC --&gt; OB["Observe:&lt;br/&gt;read result"]</a:t>
            </a:r>
          </a:p>
          <a:p>
            <a:r>
              <a:t>    OB --&gt; TH</a:t>
            </a:r>
          </a:p>
          <a:p>
            <a:r>
              <a:t>    OB --&gt; D["Done"]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complement to agents. A prompt is one-off; you re-explain every time. A skill is a saved procedure — "here's exactly how we write release notes / triage an incident" — that the model loads whenever it's relevant. That's what turns a generically capable model into one that does your tasks your way, and it's what makes an agent reliable rather than improvisational. Walk the ladder: prompt is asking a colleague one thing; a skill is the team's how-to guide they follow every time; an agent is delegating a whole task. For an intro, the takeaway is awareness — agents and skills are how AI moves from answering questions to doing tasks. Sessions 11 (skills, working with Claude) and 12 (agents) go deep.</a:t>
            </a:r>
          </a:p>
          <a:p/>
          <a:p>
            <a:r>
              <a:t>--- Mermaid source 1 (render and place on the diagram box) ---</a:t>
            </a:r>
          </a:p>
          <a:p>
            <a:r>
              <a:t>flowchart LR</a:t>
            </a:r>
          </a:p>
          <a:p>
            <a:r>
              <a:t>    P["Prompt&lt;br/&gt;one-off instruction"] --&gt; S["Skill&lt;br/&gt;saved reusable procedure"] --&gt; A["Agent&lt;br/&gt;acts with tools in a loop"]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arc. Then the one sentence to leave in the room: an LLM is a fluent, confident, sometimes-wrong assistant — brilliant when you can check its work, dangerous when you can't. Treat it accordingly, especially once you let it act. Point to the full course for anyone who wants more.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Common questions to expect: is our data safe to paste (depends — treat as external), will it replace jobs (see Session 15), which tool is best (they're similar; the skill transfers), can it just do the task for me (that's agents — Session 12). Point to the glossary and the full series.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nchor="t">
            <a:spAutoFit/>
          </a:bodyPr>
          <a:lstStyle/>
          <a:p>
            <a:pPr algn="l">
              <a:spcAft>
                <a:spcPts val="1000"/>
              </a:spcAft>
            </a:pPr>
            <a:r>
              <a:rPr sz="4000" b="1">
                <a:solidFill>
                  <a:srgbClr val="1F2A37"/>
                </a:solidFill>
                <a:latin typeface="Segoe UI"/>
              </a:rPr>
              <a:t>AI in 35 Minutes</a:t>
            </a:r>
          </a:p>
        </p:txBody>
      </p:sp>
      <p:sp>
        <p:nvSpPr>
          <p:cNvPr id="3" name="Rectangle 2"/>
          <p:cNvSpPr/>
          <p:nvPr/>
        </p:nvSpPr>
        <p:spPr>
          <a:xfrm>
            <a:off x="822960" y="3703320"/>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977639"/>
            <a:ext cx="10515600" cy="822960"/>
          </a:xfrm>
          <a:prstGeom prst="rect">
            <a:avLst/>
          </a:prstGeom>
          <a:noFill/>
        </p:spPr>
        <p:txBody>
          <a:bodyPr wrap="square" anchor="t">
            <a:spAutoFit/>
          </a:bodyPr>
          <a:lstStyle/>
          <a:p>
            <a:pPr algn="l">
              <a:spcAft>
                <a:spcPts val="1000"/>
              </a:spcAft>
            </a:pPr>
            <a:r>
              <a:rPr sz="1700" b="0">
                <a:solidFill>
                  <a:srgbClr val="6B7280"/>
                </a:solidFill>
                <a:latin typeface="Segoe UI"/>
              </a:rPr>
              <a:t>Standalone intro talk</a:t>
            </a:r>
          </a:p>
          <a:p>
            <a:pPr algn="l">
              <a:spcAft>
                <a:spcPts val="1000"/>
              </a:spcAft>
            </a:pPr>
            <a:r>
              <a:rPr sz="1700" b="0">
                <a:solidFill>
                  <a:srgbClr val="6B7280"/>
                </a:solidFill>
                <a:latin typeface="Segoe UI"/>
              </a:rPr>
              <a:t>AI Training Series  ·  ~30 min + Q&amp;A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What we'll cover</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What AI is</a:t>
            </a:r>
          </a:p>
          <a:p>
            <a:pPr>
              <a:spcAft>
                <a:spcPts val="1400"/>
              </a:spcAft>
            </a:pPr>
            <a:r>
              <a:rPr sz="1700">
                <a:solidFill>
                  <a:srgbClr val="2563EB"/>
                </a:solidFill>
                <a:latin typeface="Segoe UI"/>
              </a:rPr>
              <a:t>▪  </a:t>
            </a:r>
            <a:r>
              <a:rPr sz="1700">
                <a:solidFill>
                  <a:srgbClr val="111827"/>
                </a:solidFill>
                <a:latin typeface="Segoe UI"/>
              </a:rPr>
              <a:t>How it basically works</a:t>
            </a:r>
          </a:p>
          <a:p>
            <a:pPr>
              <a:spcAft>
                <a:spcPts val="1400"/>
              </a:spcAft>
            </a:pPr>
            <a:r>
              <a:rPr sz="1700">
                <a:solidFill>
                  <a:srgbClr val="2563EB"/>
                </a:solidFill>
                <a:latin typeface="Segoe UI"/>
              </a:rPr>
              <a:t>▪  </a:t>
            </a:r>
            <a:r>
              <a:rPr sz="1700">
                <a:solidFill>
                  <a:srgbClr val="111827"/>
                </a:solidFill>
                <a:latin typeface="Segoe UI"/>
              </a:rPr>
              <a:t>Why it makes things up</a:t>
            </a:r>
          </a:p>
          <a:p>
            <a:pPr>
              <a:spcAft>
                <a:spcPts val="1400"/>
              </a:spcAft>
            </a:pPr>
            <a:r>
              <a:rPr sz="1700">
                <a:solidFill>
                  <a:srgbClr val="2563EB"/>
                </a:solidFill>
                <a:latin typeface="Segoe UI"/>
              </a:rPr>
              <a:t>▪  </a:t>
            </a:r>
            <a:r>
              <a:rPr sz="1700">
                <a:solidFill>
                  <a:srgbClr val="111827"/>
                </a:solidFill>
                <a:latin typeface="Segoe UI"/>
              </a:rPr>
              <a:t>How to work with it</a:t>
            </a:r>
          </a:p>
          <a:p>
            <a:pPr>
              <a:spcAft>
                <a:spcPts val="1400"/>
              </a:spcAft>
            </a:pPr>
            <a:r>
              <a:rPr sz="1700">
                <a:solidFill>
                  <a:srgbClr val="2563EB"/>
                </a:solidFill>
                <a:latin typeface="Segoe UI"/>
              </a:rPr>
              <a:t>▪  </a:t>
            </a:r>
            <a:r>
              <a:rPr sz="1700">
                <a:solidFill>
                  <a:srgbClr val="111827"/>
                </a:solidFill>
                <a:latin typeface="Segoe UI"/>
              </a:rPr>
              <a:t>Good prompts</a:t>
            </a:r>
          </a:p>
          <a:p>
            <a:pPr>
              <a:spcAft>
                <a:spcPts val="1400"/>
              </a:spcAft>
            </a:pPr>
            <a:r>
              <a:rPr sz="1700">
                <a:solidFill>
                  <a:srgbClr val="2563EB"/>
                </a:solidFill>
                <a:latin typeface="Segoe UI"/>
              </a:rPr>
              <a:t>▪  </a:t>
            </a:r>
            <a:r>
              <a:rPr sz="1700">
                <a:solidFill>
                  <a:srgbClr val="111827"/>
                </a:solidFill>
                <a:latin typeface="Segoe UI"/>
              </a:rPr>
              <a:t>Agents &amp; skills (what's next)</a:t>
            </a:r>
          </a:p>
        </p:txBody>
      </p:sp>
      <p:sp>
        <p:nvSpPr>
          <p:cNvPr id="5" name="Rounded Rectangle 4" descr="Diagram: What we'll cover"/>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What AI is  →  How it works  →  Why it lies  →  Working with it  →  Good prompts  →  Agents &amp; skills</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You have been confidently, vividly wrong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"Ever remembered something vividly — and been completely wrong?"</a:t>
            </a:r>
          </a:p>
          <a:p>
            <a:pPr>
              <a:spcAft>
                <a:spcPts val="1400"/>
              </a:spcAft>
            </a:pPr>
            <a:r>
              <a:rPr sz="2100">
                <a:solidFill>
                  <a:srgbClr val="2563EB"/>
                </a:solidFill>
                <a:latin typeface="Segoe UI"/>
              </a:rPr>
              <a:t>▪  </a:t>
            </a:r>
            <a:r>
              <a:rPr sz="2100">
                <a:solidFill>
                  <a:srgbClr val="111827"/>
                </a:solidFill>
                <a:latin typeface="Segoe UI"/>
              </a:rPr>
              <a:t>It didn't feel like a guess</a:t>
            </a:r>
          </a:p>
          <a:p>
            <a:pPr>
              <a:spcAft>
                <a:spcPts val="1400"/>
              </a:spcAft>
            </a:pPr>
            <a:r>
              <a:rPr sz="2100">
                <a:solidFill>
                  <a:srgbClr val="2563EB"/>
                </a:solidFill>
                <a:latin typeface="Segoe UI"/>
              </a:rPr>
              <a:t>▪  </a:t>
            </a:r>
            <a:r>
              <a:rPr sz="2100">
                <a:solidFill>
                  <a:srgbClr val="111827"/>
                </a:solidFill>
                <a:latin typeface="Segoe UI"/>
              </a:rPr>
              <a:t>You couldn't tell from the inside</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AI turns programming inside out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Classical software: data + rules → answers</a:t>
            </a:r>
          </a:p>
          <a:p>
            <a:pPr>
              <a:spcAft>
                <a:spcPts val="1400"/>
              </a:spcAft>
            </a:pPr>
            <a:r>
              <a:rPr sz="1700">
                <a:solidFill>
                  <a:srgbClr val="2563EB"/>
                </a:solidFill>
                <a:latin typeface="Segoe UI"/>
              </a:rPr>
              <a:t>▪  </a:t>
            </a:r>
            <a:r>
              <a:rPr sz="1700">
                <a:solidFill>
                  <a:srgbClr val="111827"/>
                </a:solidFill>
                <a:latin typeface="Segoe UI"/>
              </a:rPr>
              <a:t>Machine learning: data + answers → rules</a:t>
            </a:r>
          </a:p>
          <a:p>
            <a:pPr>
              <a:spcAft>
                <a:spcPts val="1400"/>
              </a:spcAft>
            </a:pPr>
            <a:r>
              <a:rPr sz="1700">
                <a:solidFill>
                  <a:srgbClr val="2563EB"/>
                </a:solidFill>
                <a:latin typeface="Segoe UI"/>
              </a:rPr>
              <a:t>▪  </a:t>
            </a:r>
            <a:r>
              <a:rPr sz="1700">
                <a:solidFill>
                  <a:srgbClr val="111827"/>
                </a:solidFill>
                <a:latin typeface="Segoe UI"/>
              </a:rPr>
              <a:t>Nobody writes the rule — the machine infers it</a:t>
            </a:r>
          </a:p>
        </p:txBody>
      </p:sp>
      <p:sp>
        <p:nvSpPr>
          <p:cNvPr id="5" name="Rounded Rectangle 4" descr="Diagram: AI turns programming inside out"/>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Classical software  →  Data  →  Rules a human wrote  →  Answer  →  Machine learning  →  Data</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Some rules can't be written, so we learn them</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Write the exact rule for "cat or dog in a photo."</a:t>
            </a:r>
          </a:p>
          <a:p>
            <a:pPr>
              <a:spcAft>
                <a:spcPts val="1400"/>
              </a:spcAft>
            </a:pPr>
            <a:r>
              <a:rPr sz="2100">
                <a:solidFill>
                  <a:srgbClr val="2563EB"/>
                </a:solidFill>
                <a:latin typeface="Segoe UI"/>
              </a:rPr>
              <a:t>▪  </a:t>
            </a:r>
            <a:r>
              <a:rPr sz="2100">
                <a:solidFill>
                  <a:srgbClr val="111827"/>
                </a:solidFill>
                <a:latin typeface="Segoe UI"/>
              </a:rPr>
              <a:t>You can't. A three-year-old can</a:t>
            </a:r>
          </a:p>
          <a:p>
            <a:pPr>
              <a:spcAft>
                <a:spcPts val="1400"/>
              </a:spcAft>
            </a:pPr>
            <a:r>
              <a:rPr sz="2100">
                <a:solidFill>
                  <a:srgbClr val="2563EB"/>
                </a:solidFill>
                <a:latin typeface="Segoe UI"/>
              </a:rPr>
              <a:t>▪  </a:t>
            </a:r>
            <a:r>
              <a:rPr sz="2100">
                <a:solidFill>
                  <a:srgbClr val="111827"/>
                </a:solidFill>
                <a:latin typeface="Segoe UI"/>
              </a:rPr>
              <a:t>Fuzzy, perceptual tasks → learn from examples</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Four words, nested — not the same thing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AI ⊃ Machine Learning ⊃ Deep Learning ⊃ LLM</a:t>
            </a:r>
          </a:p>
          <a:p>
            <a:pPr>
              <a:spcAft>
                <a:spcPts val="1400"/>
              </a:spcAft>
            </a:pPr>
            <a:r>
              <a:rPr sz="1700">
                <a:solidFill>
                  <a:srgbClr val="2563EB"/>
                </a:solidFill>
                <a:latin typeface="Segoe UI"/>
              </a:rPr>
              <a:t>▪  </a:t>
            </a:r>
            <a:r>
              <a:rPr sz="1700">
                <a:solidFill>
                  <a:srgbClr val="111827"/>
                </a:solidFill>
                <a:latin typeface="Segoe UI"/>
              </a:rPr>
              <a:t>Every LLM is AI; most "AI" in a pitch is not an LLM</a:t>
            </a:r>
          </a:p>
          <a:p>
            <a:pPr>
              <a:spcAft>
                <a:spcPts val="1400"/>
              </a:spcAft>
            </a:pPr>
            <a:r>
              <a:rPr sz="1700">
                <a:solidFill>
                  <a:srgbClr val="2563EB"/>
                </a:solidFill>
                <a:latin typeface="Segoe UI"/>
              </a:rPr>
              <a:t>▪  </a:t>
            </a:r>
            <a:r>
              <a:rPr sz="1700">
                <a:solidFill>
                  <a:srgbClr val="111827"/>
                </a:solidFill>
                <a:latin typeface="Segoe UI"/>
              </a:rPr>
              <a:t>The tools you use are LLMs</a:t>
            </a:r>
          </a:p>
        </p:txBody>
      </p:sp>
      <p:sp>
        <p:nvSpPr>
          <p:cNvPr id="5" name="Rounded Rectangle 4" descr="Diagram: Four words, nested — not the same thing"/>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Artificial Intelligence  →  Machine Learning  →  Deep Learning  →  Large Language Model</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An LLM is autocomplete on steroids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Trained by one game, played billions of times: guess the next word</a:t>
            </a:r>
          </a:p>
          <a:p>
            <a:pPr>
              <a:spcAft>
                <a:spcPts val="1400"/>
              </a:spcAft>
            </a:pPr>
            <a:r>
              <a:rPr sz="1700">
                <a:solidFill>
                  <a:srgbClr val="2563EB"/>
                </a:solidFill>
                <a:latin typeface="Segoe UI"/>
              </a:rPr>
              <a:t>▪  </a:t>
            </a:r>
            <a:r>
              <a:rPr sz="1700">
                <a:solidFill>
                  <a:srgbClr val="111827"/>
                </a:solidFill>
                <a:latin typeface="Segoe UI"/>
              </a:rPr>
              <a:t>At scale, it gets very good at plausible continuations</a:t>
            </a:r>
          </a:p>
          <a:p>
            <a:pPr>
              <a:spcAft>
                <a:spcPts val="1400"/>
              </a:spcAft>
            </a:pPr>
            <a:r>
              <a:rPr sz="1700">
                <a:solidFill>
                  <a:srgbClr val="2563EB"/>
                </a:solidFill>
                <a:latin typeface="Segoe UI"/>
              </a:rPr>
              <a:t>▪  </a:t>
            </a:r>
            <a:r>
              <a:rPr sz="1700">
                <a:solidFill>
                  <a:srgbClr val="111827"/>
                </a:solidFill>
                <a:latin typeface="Segoe UI"/>
              </a:rPr>
              <a:t>It generates text — it does not look things up</a:t>
            </a:r>
          </a:p>
        </p:txBody>
      </p:sp>
      <p:sp>
        <p:nvSpPr>
          <p:cNvPr id="5" name="Rounded Rectangle 4" descr="Diagram: An LLM is autocomplete on steroids"/>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Your prompt  →  Predict most likely next token  →  Append  →  ...until done</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It's a pattern-matcher, not a search engine</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No database of facts inside</a:t>
            </a:r>
          </a:p>
          <a:p>
            <a:pPr>
              <a:spcAft>
                <a:spcPts val="1400"/>
              </a:spcAft>
            </a:pPr>
            <a:r>
              <a:rPr sz="2100">
                <a:solidFill>
                  <a:srgbClr val="2563EB"/>
                </a:solidFill>
                <a:latin typeface="Segoe UI"/>
              </a:rPr>
              <a:t>▪  </a:t>
            </a:r>
            <a:r>
              <a:rPr sz="2100">
                <a:solidFill>
                  <a:srgbClr val="111827"/>
                </a:solidFill>
                <a:latin typeface="Segoe UI"/>
              </a:rPr>
              <a:t>A statistical sense of what text usually looks like</a:t>
            </a:r>
          </a:p>
          <a:p>
            <a:pPr>
              <a:spcAft>
                <a:spcPts val="1400"/>
              </a:spcAft>
            </a:pPr>
            <a:r>
              <a:rPr sz="2100">
                <a:solidFill>
                  <a:srgbClr val="2563EB"/>
                </a:solidFill>
                <a:latin typeface="Segoe UI"/>
              </a:rPr>
              <a:t>▪  </a:t>
            </a:r>
            <a:r>
              <a:rPr sz="2100">
                <a:solidFill>
                  <a:srgbClr val="111827"/>
                </a:solidFill>
                <a:latin typeface="Segoe UI"/>
              </a:rPr>
              <a:t>True facts come out because they're common in the text — truth is a side effect</a:t>
            </a:r>
          </a:p>
          <a:p>
            <a:pPr>
              <a:spcAft>
                <a:spcPts val="1400"/>
              </a:spcAft>
            </a:pPr>
            <a:r>
              <a:rPr sz="2100">
                <a:solidFill>
                  <a:srgbClr val="2563EB"/>
                </a:solidFill>
                <a:latin typeface="Segoe UI"/>
              </a:rPr>
              <a:t>▪  </a:t>
            </a:r>
            <a:r>
              <a:rPr sz="2100">
                <a:solidFill>
                  <a:srgbClr val="111827"/>
                </a:solidFill>
                <a:latin typeface="Segoe UI"/>
              </a:rPr>
              <a:t>Works in tokens (~¾ of a word) — also the unit of billing</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Hallucination is not a bug</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When it states something false as fact = a hallucination</a:t>
            </a:r>
          </a:p>
          <a:p>
            <a:pPr>
              <a:spcAft>
                <a:spcPts val="1400"/>
              </a:spcAft>
            </a:pPr>
            <a:r>
              <a:rPr sz="1700">
                <a:solidFill>
                  <a:srgbClr val="2563EB"/>
                </a:solidFill>
                <a:latin typeface="Segoe UI"/>
              </a:rPr>
              <a:t>▪  </a:t>
            </a:r>
            <a:r>
              <a:rPr sz="1700">
                <a:solidFill>
                  <a:srgbClr val="111827"/>
                </a:solidFill>
                <a:latin typeface="Segoe UI"/>
              </a:rPr>
              <a:t>It's a direct result of how the model works</a:t>
            </a:r>
          </a:p>
          <a:p>
            <a:pPr>
              <a:spcAft>
                <a:spcPts val="1400"/>
              </a:spcAft>
            </a:pPr>
            <a:r>
              <a:rPr sz="1700">
                <a:solidFill>
                  <a:srgbClr val="2563EB"/>
                </a:solidFill>
                <a:latin typeface="Segoe UI"/>
              </a:rPr>
              <a:t>▪  </a:t>
            </a:r>
            <a:r>
              <a:rPr sz="1700">
                <a:solidFill>
                  <a:srgbClr val="111827"/>
                </a:solidFill>
                <a:latin typeface="Segoe UI"/>
              </a:rPr>
              <a:t>Dense training data → usually right</a:t>
            </a:r>
          </a:p>
          <a:p>
            <a:pPr>
              <a:spcAft>
                <a:spcPts val="1400"/>
              </a:spcAft>
            </a:pPr>
            <a:r>
              <a:rPr sz="1700">
                <a:solidFill>
                  <a:srgbClr val="2563EB"/>
                </a:solidFill>
                <a:latin typeface="Segoe UI"/>
              </a:rPr>
              <a:t>▪  </a:t>
            </a:r>
            <a:r>
              <a:rPr sz="1700">
                <a:solidFill>
                  <a:srgbClr val="111827"/>
                </a:solidFill>
                <a:latin typeface="Segoe UI"/>
              </a:rPr>
              <a:t>Sparse data → fluent but possibly invented</a:t>
            </a:r>
          </a:p>
        </p:txBody>
      </p:sp>
      <p:sp>
        <p:nvSpPr>
          <p:cNvPr id="5" name="Rounded Rectangle 4" descr="Diagram: Hallucination is not a bug"/>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Prompt  →  Fluent, usually correct  →  Fluent, possibly invented  →  Identical confidence. No warning label.</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Confidence tells you nothing about truth</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Same fluency whether right or invented</a:t>
            </a:r>
          </a:p>
          <a:p>
            <a:pPr>
              <a:spcAft>
                <a:spcPts val="1400"/>
              </a:spcAft>
            </a:pPr>
            <a:r>
              <a:rPr sz="2100">
                <a:solidFill>
                  <a:srgbClr val="2563EB"/>
                </a:solidFill>
                <a:latin typeface="Segoe UI"/>
              </a:rPr>
              <a:t>▪  </a:t>
            </a:r>
            <a:r>
              <a:rPr sz="2100">
                <a:solidFill>
                  <a:srgbClr val="111827"/>
                </a:solidFill>
                <a:latin typeface="Segoe UI"/>
              </a:rPr>
              <a:t>"It sounded confident" = zero information</a:t>
            </a:r>
          </a:p>
          <a:p>
            <a:pPr>
              <a:spcAft>
                <a:spcPts val="1400"/>
              </a:spcAft>
            </a:pPr>
            <a:r>
              <a:rPr sz="2100">
                <a:solidFill>
                  <a:srgbClr val="2563EB"/>
                </a:solidFill>
                <a:latin typeface="Segoe UI"/>
              </a:rPr>
              <a:t>▪  </a:t>
            </a:r>
            <a:r>
              <a:rPr sz="2100">
                <a:solidFill>
                  <a:srgbClr val="111827"/>
                </a:solidFill>
                <a:latin typeface="Segoe UI"/>
              </a:rPr>
              <a:t>Same failure as a false memory — and as prejudice</a:t>
            </a:r>
          </a:p>
          <a:p>
            <a:pPr>
              <a:spcAft>
                <a:spcPts val="1400"/>
              </a:spcAft>
            </a:pPr>
            <a:r>
              <a:rPr sz="2100">
                <a:solidFill>
                  <a:srgbClr val="2563EB"/>
                </a:solidFill>
                <a:latin typeface="Segoe UI"/>
              </a:rPr>
              <a:t>▪  </a:t>
            </a:r>
            <a:r>
              <a:rPr sz="2100">
                <a:solidFill>
                  <a:srgbClr val="111827"/>
                </a:solidFill>
                <a:latin typeface="Segoe UI"/>
              </a:rPr>
              <a:t>Never treat a confident answer as a verified one</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One rule for when to trust it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Use it when you can EASILY CHECK the answer</a:t>
            </a:r>
          </a:p>
          <a:p>
            <a:pPr>
              <a:spcAft>
                <a:spcPts val="1400"/>
              </a:spcAft>
            </a:pPr>
            <a:r>
              <a:rPr sz="1700">
                <a:solidFill>
                  <a:srgbClr val="2563EB"/>
                </a:solidFill>
                <a:latin typeface="Segoe UI"/>
              </a:rPr>
              <a:t>▪  </a:t>
            </a:r>
            <a:r>
              <a:rPr sz="1700">
                <a:solidFill>
                  <a:srgbClr val="111827"/>
                </a:solidFill>
                <a:latin typeface="Segoe UI"/>
              </a:rPr>
              <a:t>…or when TRUTH DOESN'T MATTER (drafts, ideas, tone)</a:t>
            </a:r>
          </a:p>
          <a:p>
            <a:pPr>
              <a:spcAft>
                <a:spcPts val="1400"/>
              </a:spcAft>
            </a:pPr>
            <a:r>
              <a:rPr sz="1700">
                <a:solidFill>
                  <a:srgbClr val="2563EB"/>
                </a:solidFill>
                <a:latin typeface="Segoe UI"/>
              </a:rPr>
              <a:t>▪  </a:t>
            </a:r>
            <a:r>
              <a:rPr sz="1700">
                <a:solidFill>
                  <a:srgbClr val="111827"/>
                </a:solidFill>
                <a:latin typeface="Segoe UI"/>
              </a:rPr>
              <a:t>Be careful exactly where neither holds</a:t>
            </a:r>
          </a:p>
          <a:p>
            <a:pPr>
              <a:spcAft>
                <a:spcPts val="1400"/>
              </a:spcAft>
            </a:pPr>
            <a:r>
              <a:rPr sz="1700">
                <a:solidFill>
                  <a:srgbClr val="2563EB"/>
                </a:solidFill>
                <a:latin typeface="Segoe UI"/>
              </a:rPr>
              <a:t>▪  </a:t>
            </a:r>
            <a:r>
              <a:rPr sz="1700">
                <a:solidFill>
                  <a:srgbClr val="111827"/>
                </a:solidFill>
                <a:latin typeface="Segoe UI"/>
              </a:rPr>
              <a:t>And always: you own the output</a:t>
            </a:r>
          </a:p>
        </p:txBody>
      </p:sp>
      <p:sp>
        <p:nvSpPr>
          <p:cNvPr id="5" name="Rounded Rectangle 4" descr="Diagram: One rule for when to trust it"/>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Good use  →  Fine — truth isn't the point  →  Danger — need an expert or a grounded source</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Daily do's and don'ts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DO: draft, summarise, rephrase, explain, get unstuck</a:t>
            </a:r>
          </a:p>
          <a:p>
            <a:pPr>
              <a:spcAft>
                <a:spcPts val="1400"/>
              </a:spcAft>
            </a:pPr>
            <a:r>
              <a:rPr sz="2100">
                <a:solidFill>
                  <a:srgbClr val="2563EB"/>
                </a:solidFill>
                <a:latin typeface="Segoe UI"/>
              </a:rPr>
              <a:t>▪  </a:t>
            </a:r>
            <a:r>
              <a:rPr sz="2100">
                <a:solidFill>
                  <a:srgbClr val="111827"/>
                </a:solidFill>
                <a:latin typeface="Segoe UI"/>
              </a:rPr>
              <a:t>DO: give it the source and ask it to work from THAT</a:t>
            </a:r>
          </a:p>
          <a:p>
            <a:pPr>
              <a:spcAft>
                <a:spcPts val="1400"/>
              </a:spcAft>
            </a:pPr>
            <a:r>
              <a:rPr sz="2100">
                <a:solidFill>
                  <a:srgbClr val="2563EB"/>
                </a:solidFill>
                <a:latin typeface="Segoe UI"/>
              </a:rPr>
              <a:t>▪  </a:t>
            </a:r>
            <a:r>
              <a:rPr sz="2100">
                <a:solidFill>
                  <a:srgbClr val="111827"/>
                </a:solidFill>
                <a:latin typeface="Segoe UI"/>
              </a:rPr>
              <a:t>DON'T: paste confidential or personal data</a:t>
            </a:r>
          </a:p>
          <a:p>
            <a:pPr>
              <a:spcAft>
                <a:spcPts val="1400"/>
              </a:spcAft>
            </a:pPr>
            <a:r>
              <a:rPr sz="2100">
                <a:solidFill>
                  <a:srgbClr val="2563EB"/>
                </a:solidFill>
                <a:latin typeface="Segoe UI"/>
              </a:rPr>
              <a:t>▪  </a:t>
            </a:r>
            <a:r>
              <a:rPr sz="2100">
                <a:solidFill>
                  <a:srgbClr val="111827"/>
                </a:solidFill>
                <a:latin typeface="Segoe UI"/>
              </a:rPr>
              <a:t>DON'T: trust a fact, number, quote or citation unchecked</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See it happen (live demo)</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Live: ask it for a short bio of someone in the room</a:t>
            </a:r>
          </a:p>
          <a:p>
            <a:pPr>
              <a:spcAft>
                <a:spcPts val="1400"/>
              </a:spcAft>
            </a:pPr>
            <a:r>
              <a:rPr sz="2100">
                <a:solidFill>
                  <a:srgbClr val="2563EB"/>
                </a:solidFill>
                <a:latin typeface="Segoe UI"/>
              </a:rPr>
              <a:t>▪  </a:t>
            </a:r>
            <a:r>
              <a:rPr sz="2100">
                <a:solidFill>
                  <a:srgbClr val="111827"/>
                </a:solidFill>
                <a:latin typeface="Segoe UI"/>
              </a:rPr>
              <a:t>Watch it invent plausible, specific, wrong details</a:t>
            </a:r>
          </a:p>
          <a:p>
            <a:pPr>
              <a:spcAft>
                <a:spcPts val="1400"/>
              </a:spcAft>
            </a:pPr>
            <a:r>
              <a:rPr sz="2100">
                <a:solidFill>
                  <a:srgbClr val="2563EB"/>
                </a:solidFill>
                <a:latin typeface="Segoe UI"/>
              </a:rPr>
              <a:t>▪  </a:t>
            </a:r>
            <a:r>
              <a:rPr sz="2100">
                <a:solidFill>
                  <a:srgbClr val="111827"/>
                </a:solidFill>
                <a:latin typeface="Segoe UI"/>
              </a:rPr>
              <a:t>Confidence unchanged throughout</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
        <p:nvSpPr>
          <p:cNvPr id="6" name="TextBox 5"/>
          <p:cNvSpPr txBox="1"/>
          <p:nvPr/>
        </p:nvSpPr>
        <p:spPr>
          <a:xfrm>
            <a:off x="7498079" y="6327648"/>
            <a:ext cx="4023360" cy="365760"/>
          </a:xfrm>
          <a:prstGeom prst="rect">
            <a:avLst/>
          </a:prstGeom>
          <a:noFill/>
        </p:spPr>
        <p:txBody>
          <a:bodyPr wrap="square" anchor="t">
            <a:spAutoFit/>
          </a:bodyPr>
          <a:lstStyle/>
          <a:p>
            <a:pPr algn="r">
              <a:spcAft>
                <a:spcPts val="1000"/>
              </a:spcAft>
            </a:pPr>
            <a:r>
              <a:rPr sz="1000" b="0">
                <a:solidFill>
                  <a:srgbClr val="6B7280"/>
                </a:solidFill>
                <a:latin typeface="Segoe UI"/>
              </a:rPr>
              <a:t>live demo — nothing embedded.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Good output starts with a good brief</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Most bad output is a prompt problem, not a model problem</a:t>
            </a:r>
          </a:p>
          <a:p>
            <a:pPr>
              <a:spcAft>
                <a:spcPts val="1400"/>
              </a:spcAft>
            </a:pPr>
            <a:r>
              <a:rPr sz="1700">
                <a:solidFill>
                  <a:srgbClr val="2563EB"/>
                </a:solidFill>
                <a:latin typeface="Segoe UI"/>
              </a:rPr>
              <a:t>▪  </a:t>
            </a:r>
            <a:r>
              <a:rPr sz="1700">
                <a:solidFill>
                  <a:srgbClr val="111827"/>
                </a:solidFill>
                <a:latin typeface="Segoe UI"/>
              </a:rPr>
              <a:t>Brief it like a fast, well-read new colleague with no context</a:t>
            </a:r>
          </a:p>
          <a:p>
            <a:pPr>
              <a:spcAft>
                <a:spcPts val="1400"/>
              </a:spcAft>
            </a:pPr>
            <a:r>
              <a:rPr sz="1700">
                <a:solidFill>
                  <a:srgbClr val="2563EB"/>
                </a:solidFill>
                <a:latin typeface="Segoe UI"/>
              </a:rPr>
              <a:t>▪  </a:t>
            </a:r>
            <a:r>
              <a:rPr sz="1700">
                <a:solidFill>
                  <a:srgbClr val="111827"/>
                </a:solidFill>
                <a:latin typeface="Segoe UI"/>
              </a:rPr>
              <a:t>Role</a:t>
            </a:r>
          </a:p>
          <a:p>
            <a:pPr>
              <a:spcAft>
                <a:spcPts val="1400"/>
              </a:spcAft>
            </a:pPr>
            <a:r>
              <a:rPr sz="1700">
                <a:solidFill>
                  <a:srgbClr val="2563EB"/>
                </a:solidFill>
                <a:latin typeface="Segoe UI"/>
              </a:rPr>
              <a:t>▪  </a:t>
            </a:r>
            <a:r>
              <a:rPr sz="1700">
                <a:solidFill>
                  <a:srgbClr val="111827"/>
                </a:solidFill>
                <a:latin typeface="Segoe UI"/>
              </a:rPr>
              <a:t>Task</a:t>
            </a:r>
          </a:p>
          <a:p>
            <a:pPr>
              <a:spcAft>
                <a:spcPts val="1400"/>
              </a:spcAft>
            </a:pPr>
            <a:r>
              <a:rPr sz="1700">
                <a:solidFill>
                  <a:srgbClr val="2563EB"/>
                </a:solidFill>
                <a:latin typeface="Segoe UI"/>
              </a:rPr>
              <a:t>▪  </a:t>
            </a:r>
            <a:r>
              <a:rPr sz="1700">
                <a:solidFill>
                  <a:srgbClr val="111827"/>
                </a:solidFill>
                <a:latin typeface="Segoe UI"/>
              </a:rPr>
              <a:t>Context</a:t>
            </a:r>
          </a:p>
          <a:p>
            <a:pPr>
              <a:spcAft>
                <a:spcPts val="1400"/>
              </a:spcAft>
            </a:pPr>
            <a:r>
              <a:rPr sz="1700">
                <a:solidFill>
                  <a:srgbClr val="2563EB"/>
                </a:solidFill>
                <a:latin typeface="Segoe UI"/>
              </a:rPr>
              <a:t>▪  </a:t>
            </a:r>
            <a:r>
              <a:rPr sz="1700">
                <a:solidFill>
                  <a:srgbClr val="111827"/>
                </a:solidFill>
                <a:latin typeface="Segoe UI"/>
              </a:rPr>
              <a:t>Format</a:t>
            </a:r>
          </a:p>
        </p:txBody>
      </p:sp>
      <p:sp>
        <p:nvSpPr>
          <p:cNvPr id="5" name="Rounded Rectangle 4" descr="Diagram: Good output starts with a good brief"/>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Role  →  Task — one clear ask  →  Context + source material  →  Format  →  Example (if shape matters)</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Before and after</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Before: "Write release notes." → invents audience, format, and content</a:t>
            </a:r>
          </a:p>
          <a:p>
            <a:pPr>
              <a:spcAft>
                <a:spcPts val="1400"/>
              </a:spcAft>
            </a:pPr>
            <a:r>
              <a:rPr sz="2100">
                <a:solidFill>
                  <a:srgbClr val="2563EB"/>
                </a:solidFill>
                <a:latin typeface="Segoe UI"/>
              </a:rPr>
              <a:t>▪  </a:t>
            </a:r>
            <a:r>
              <a:rPr sz="2100">
                <a:solidFill>
                  <a:srgbClr val="111827"/>
                </a:solidFill>
                <a:latin typeface="Segoe UI"/>
              </a:rPr>
              <a:t>After: role + the 12 real PR titles + "group into Features/Fixes/Known Issues, one sentence each, invent nothing"</a:t>
            </a:r>
          </a:p>
          <a:p>
            <a:pPr>
              <a:spcAft>
                <a:spcPts val="1400"/>
              </a:spcAft>
            </a:pPr>
            <a:r>
              <a:rPr sz="2100">
                <a:solidFill>
                  <a:srgbClr val="2563EB"/>
                </a:solidFill>
                <a:latin typeface="Segoe UI"/>
              </a:rPr>
              <a:t>▪  </a:t>
            </a:r>
            <a:r>
              <a:rPr sz="2100">
                <a:solidFill>
                  <a:srgbClr val="111827"/>
                </a:solidFill>
                <a:latin typeface="Segoe UI"/>
              </a:rPr>
              <a:t>Same model. Completely different result</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Next: when the model acts, not just answers (agents)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An agent = an LLM given tools + a loop</a:t>
            </a:r>
          </a:p>
          <a:p>
            <a:pPr>
              <a:spcAft>
                <a:spcPts val="1400"/>
              </a:spcAft>
            </a:pPr>
            <a:r>
              <a:rPr sz="1700">
                <a:solidFill>
                  <a:srgbClr val="2563EB"/>
                </a:solidFill>
                <a:latin typeface="Segoe UI"/>
              </a:rPr>
              <a:t>▪  </a:t>
            </a:r>
            <a:r>
              <a:rPr sz="1700">
                <a:solidFill>
                  <a:srgbClr val="111827"/>
                </a:solidFill>
                <a:latin typeface="Segoe UI"/>
              </a:rPr>
              <a:t>It doesn't just reply — it searches, runs code, reads a file, files a ticket, then decides the next step</a:t>
            </a:r>
          </a:p>
          <a:p>
            <a:pPr>
              <a:spcAft>
                <a:spcPts val="1400"/>
              </a:spcAft>
            </a:pPr>
            <a:r>
              <a:rPr sz="1700">
                <a:solidFill>
                  <a:srgbClr val="2563EB"/>
                </a:solidFill>
                <a:latin typeface="Segoe UI"/>
              </a:rPr>
              <a:t>▪  </a:t>
            </a:r>
            <a:r>
              <a:rPr sz="1700">
                <a:solidFill>
                  <a:srgbClr val="111827"/>
                </a:solidFill>
                <a:latin typeface="Segoe UI"/>
              </a:rPr>
              <a:t>Think → Act → Observe → repeat</a:t>
            </a:r>
          </a:p>
          <a:p>
            <a:pPr>
              <a:spcAft>
                <a:spcPts val="1400"/>
              </a:spcAft>
            </a:pPr>
            <a:r>
              <a:rPr sz="1700">
                <a:solidFill>
                  <a:srgbClr val="2563EB"/>
                </a:solidFill>
                <a:latin typeface="Segoe UI"/>
              </a:rPr>
              <a:t>▪  </a:t>
            </a:r>
            <a:r>
              <a:rPr sz="1700">
                <a:solidFill>
                  <a:srgbClr val="111827"/>
                </a:solidFill>
                <a:latin typeface="Segoe UI"/>
              </a:rPr>
              <a:t>The catch: it acts on its output, so a wrong answer becomes an incident, not just an embarrassment</a:t>
            </a:r>
          </a:p>
        </p:txBody>
      </p:sp>
      <p:sp>
        <p:nvSpPr>
          <p:cNvPr id="5" name="Rounded Rectangle 4" descr="Diagram: Next: when the model acts, not just answers (agents)"/>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Goal  →  Think: next step?  →  Act: use a tool  →  Observe: read result  →  Done</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Skills: teaching it your way, once</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4937760" cy="4206240"/>
          </a:xfrm>
          <a:prstGeom prst="rect">
            <a:avLst/>
          </a:prstGeom>
          <a:noFill/>
        </p:spPr>
        <p:txBody>
          <a:bodyPr wrap="square">
            <a:spAutoFit/>
          </a:bodyPr>
          <a:lstStyle/>
          <a:p>
            <a:pPr>
              <a:spcAft>
                <a:spcPts val="1400"/>
              </a:spcAft>
            </a:pPr>
            <a:r>
              <a:rPr sz="1700">
                <a:solidFill>
                  <a:srgbClr val="2563EB"/>
                </a:solidFill>
                <a:latin typeface="Segoe UI"/>
              </a:rPr>
              <a:t>▪  </a:t>
            </a:r>
            <a:r>
              <a:rPr sz="1700">
                <a:solidFill>
                  <a:srgbClr val="111827"/>
                </a:solidFill>
                <a:latin typeface="Segoe UI"/>
              </a:rPr>
              <a:t>A skill = a saved, reusable procedure that teaches the model how you do a task</a:t>
            </a:r>
          </a:p>
          <a:p>
            <a:pPr>
              <a:spcAft>
                <a:spcPts val="1400"/>
              </a:spcAft>
            </a:pPr>
            <a:r>
              <a:rPr sz="1700">
                <a:solidFill>
                  <a:srgbClr val="2563EB"/>
                </a:solidFill>
                <a:latin typeface="Segoe UI"/>
              </a:rPr>
              <a:t>▪  </a:t>
            </a:r>
            <a:r>
              <a:rPr sz="1700">
                <a:solidFill>
                  <a:srgbClr val="111827"/>
                </a:solidFill>
                <a:latin typeface="Segoe UI"/>
              </a:rPr>
              <a:t>Prompt = a one-off instruction</a:t>
            </a:r>
          </a:p>
          <a:p>
            <a:pPr>
              <a:spcAft>
                <a:spcPts val="1400"/>
              </a:spcAft>
            </a:pPr>
            <a:r>
              <a:rPr sz="1700">
                <a:solidFill>
                  <a:srgbClr val="2563EB"/>
                </a:solidFill>
                <a:latin typeface="Segoe UI"/>
              </a:rPr>
              <a:t>▪  </a:t>
            </a:r>
            <a:r>
              <a:rPr sz="1700">
                <a:solidFill>
                  <a:srgbClr val="111827"/>
                </a:solidFill>
                <a:latin typeface="Segoe UI"/>
              </a:rPr>
              <a:t>Skill = a written how-to it reuses every time</a:t>
            </a:r>
          </a:p>
          <a:p>
            <a:pPr>
              <a:spcAft>
                <a:spcPts val="1400"/>
              </a:spcAft>
            </a:pPr>
            <a:r>
              <a:rPr sz="1700">
                <a:solidFill>
                  <a:srgbClr val="2563EB"/>
                </a:solidFill>
                <a:latin typeface="Segoe UI"/>
              </a:rPr>
              <a:t>▪  </a:t>
            </a:r>
            <a:r>
              <a:rPr sz="1700">
                <a:solidFill>
                  <a:srgbClr val="111827"/>
                </a:solidFill>
                <a:latin typeface="Segoe UI"/>
              </a:rPr>
              <a:t>Skills make chats AND agents consistent and expert at YOUR work, not just generically capable</a:t>
            </a:r>
          </a:p>
          <a:p>
            <a:pPr>
              <a:spcAft>
                <a:spcPts val="1400"/>
              </a:spcAft>
            </a:pPr>
            <a:r>
              <a:rPr sz="1700">
                <a:solidFill>
                  <a:srgbClr val="2563EB"/>
                </a:solidFill>
                <a:latin typeface="Segoe UI"/>
              </a:rPr>
              <a:t>▪  </a:t>
            </a:r>
            <a:r>
              <a:rPr sz="1700">
                <a:solidFill>
                  <a:srgbClr val="111827"/>
                </a:solidFill>
                <a:latin typeface="Segoe UI"/>
              </a:rPr>
              <a:t>Prompt → Skill → Agent</a:t>
            </a:r>
          </a:p>
        </p:txBody>
      </p:sp>
      <p:sp>
        <p:nvSpPr>
          <p:cNvPr id="5" name="Rounded Rectangle 4" descr="Diagram: Skills: teaching it your way, once"/>
          <p:cNvSpPr/>
          <p:nvPr/>
        </p:nvSpPr>
        <p:spPr>
          <a:xfrm>
            <a:off x="5943600" y="1554480"/>
            <a:ext cx="5577840" cy="3840480"/>
          </a:xfrm>
          <a:prstGeom prst="roundRect">
            <a:avLst/>
          </a:prstGeom>
          <a:solidFill>
            <a:srgbClr val="F3F4F6"/>
          </a:solidFill>
          <a:ln w="127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6B7280"/>
                </a:solidFill>
                <a:latin typeface="Segoe UI"/>
              </a:rPr>
              <a:t>DIAGRAM — render from Mermaid source (in speaker notes)</a:t>
            </a:r>
          </a:p>
          <a:p>
            <a:pPr algn="ctr"/>
            <a:r>
              <a:rPr sz="1500">
                <a:solidFill>
                  <a:srgbClr val="1F2A37"/>
                </a:solidFill>
                <a:latin typeface="Segoe UI"/>
              </a:rPr>
              <a:t>Prompt one-off instruction  →  Skill saved reusable procedure  →  Agent acts with tools in a loop</a:t>
            </a:r>
          </a:p>
        </p:txBody>
      </p:sp>
      <p:sp>
        <p:nvSpPr>
          <p:cNvPr id="6" name="TextBox 5"/>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Take away six things</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1. Learns from examples, not rules</a:t>
            </a:r>
          </a:p>
          <a:p>
            <a:pPr>
              <a:spcAft>
                <a:spcPts val="1400"/>
              </a:spcAft>
            </a:pPr>
            <a:r>
              <a:rPr sz="2100">
                <a:solidFill>
                  <a:srgbClr val="2563EB"/>
                </a:solidFill>
                <a:latin typeface="Segoe UI"/>
              </a:rPr>
              <a:t>▪  </a:t>
            </a:r>
            <a:r>
              <a:rPr sz="2100">
                <a:solidFill>
                  <a:srgbClr val="111827"/>
                </a:solidFill>
                <a:latin typeface="Segoe UI"/>
              </a:rPr>
              <a:t>2. Autocomplete on steroids — doesn't look things up</a:t>
            </a:r>
          </a:p>
          <a:p>
            <a:pPr>
              <a:spcAft>
                <a:spcPts val="1400"/>
              </a:spcAft>
            </a:pPr>
            <a:r>
              <a:rPr sz="2100">
                <a:solidFill>
                  <a:srgbClr val="2563EB"/>
                </a:solidFill>
                <a:latin typeface="Segoe UI"/>
              </a:rPr>
              <a:t>▪  </a:t>
            </a:r>
            <a:r>
              <a:rPr sz="2100">
                <a:solidFill>
                  <a:srgbClr val="111827"/>
                </a:solidFill>
                <a:latin typeface="Segoe UI"/>
              </a:rPr>
              <a:t>3. Hallucination is structural; confidence ≠ truth</a:t>
            </a:r>
          </a:p>
          <a:p>
            <a:pPr>
              <a:spcAft>
                <a:spcPts val="1400"/>
              </a:spcAft>
            </a:pPr>
            <a:r>
              <a:rPr sz="2100">
                <a:solidFill>
                  <a:srgbClr val="2563EB"/>
                </a:solidFill>
                <a:latin typeface="Segoe UI"/>
              </a:rPr>
              <a:t>▪  </a:t>
            </a:r>
            <a:r>
              <a:rPr sz="2100">
                <a:solidFill>
                  <a:srgbClr val="111827"/>
                </a:solidFill>
                <a:latin typeface="Segoe UI"/>
              </a:rPr>
              <a:t>4. Use where you can verify, or truth doesn't matter — own the output</a:t>
            </a:r>
          </a:p>
          <a:p>
            <a:pPr>
              <a:spcAft>
                <a:spcPts val="1400"/>
              </a:spcAft>
            </a:pPr>
            <a:r>
              <a:rPr sz="2100">
                <a:solidFill>
                  <a:srgbClr val="2563EB"/>
                </a:solidFill>
                <a:latin typeface="Segoe UI"/>
              </a:rPr>
              <a:t>▪  </a:t>
            </a:r>
            <a:r>
              <a:rPr sz="2100">
                <a:solidFill>
                  <a:srgbClr val="111827"/>
                </a:solidFill>
                <a:latin typeface="Segoe UI"/>
              </a:rPr>
              <a:t>5. Good prompts are clear briefs, not magic words</a:t>
            </a:r>
          </a:p>
          <a:p>
            <a:pPr>
              <a:spcAft>
                <a:spcPts val="1400"/>
              </a:spcAft>
            </a:pPr>
            <a:r>
              <a:rPr sz="2100">
                <a:solidFill>
                  <a:srgbClr val="2563EB"/>
                </a:solidFill>
                <a:latin typeface="Segoe UI"/>
              </a:rPr>
              <a:t>▪  </a:t>
            </a:r>
            <a:r>
              <a:rPr sz="2100">
                <a:solidFill>
                  <a:srgbClr val="111827"/>
                </a:solidFill>
                <a:latin typeface="Segoe UI"/>
              </a:rPr>
              <a:t>6. Agents act, skills make them consistent — owning the output matters more once it acts</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731520"/>
          </a:xfrm>
          <a:prstGeom prst="rect">
            <a:avLst/>
          </a:prstGeom>
          <a:noFill/>
        </p:spPr>
        <p:txBody>
          <a:bodyPr wrap="square" anchor="t">
            <a:spAutoFit/>
          </a:bodyPr>
          <a:lstStyle/>
          <a:p>
            <a:pPr algn="l">
              <a:spcAft>
                <a:spcPts val="1000"/>
              </a:spcAft>
            </a:pPr>
            <a:r>
              <a:rPr sz="2800" b="1">
                <a:solidFill>
                  <a:srgbClr val="1F2A37"/>
                </a:solidFill>
                <a:latin typeface="Segoe UI"/>
              </a:rPr>
              <a:t>Questions, and where to go next</a:t>
            </a:r>
          </a:p>
        </p:txBody>
      </p:sp>
      <p:sp>
        <p:nvSpPr>
          <p:cNvPr id="3" name="Rectangle 2"/>
          <p:cNvSpPr/>
          <p:nvPr/>
        </p:nvSpPr>
        <p:spPr>
          <a:xfrm>
            <a:off x="640080" y="1170432"/>
            <a:ext cx="100584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424160" cy="4023360"/>
          </a:xfrm>
          <a:prstGeom prst="rect">
            <a:avLst/>
          </a:prstGeom>
          <a:noFill/>
        </p:spPr>
        <p:txBody>
          <a:bodyPr wrap="square">
            <a:spAutoFit/>
          </a:bodyPr>
          <a:lstStyle/>
          <a:p>
            <a:pPr>
              <a:spcAft>
                <a:spcPts val="1400"/>
              </a:spcAft>
            </a:pPr>
            <a:r>
              <a:rPr sz="2100">
                <a:solidFill>
                  <a:srgbClr val="2563EB"/>
                </a:solidFill>
                <a:latin typeface="Segoe UI"/>
              </a:rPr>
              <a:t>▪  </a:t>
            </a:r>
            <a:r>
              <a:rPr sz="2100">
                <a:solidFill>
                  <a:srgbClr val="111827"/>
                </a:solidFill>
                <a:latin typeface="Segoe UI"/>
              </a:rPr>
              <a:t>Questions?</a:t>
            </a:r>
          </a:p>
          <a:p>
            <a:pPr>
              <a:spcAft>
                <a:spcPts val="1400"/>
              </a:spcAft>
            </a:pPr>
            <a:r>
              <a:rPr sz="2100">
                <a:solidFill>
                  <a:srgbClr val="2563EB"/>
                </a:solidFill>
                <a:latin typeface="Segoe UI"/>
              </a:rPr>
              <a:t>▪  </a:t>
            </a:r>
            <a:r>
              <a:rPr sz="2100">
                <a:solidFill>
                  <a:srgbClr val="111827"/>
                </a:solidFill>
                <a:latin typeface="Segoe UI"/>
              </a:rPr>
              <a:t>Full 16-session course</a:t>
            </a:r>
          </a:p>
          <a:p>
            <a:pPr>
              <a:spcAft>
                <a:spcPts val="1400"/>
              </a:spcAft>
            </a:pPr>
            <a:r>
              <a:rPr sz="2100">
                <a:solidFill>
                  <a:srgbClr val="2563EB"/>
                </a:solidFill>
                <a:latin typeface="Segoe UI"/>
              </a:rPr>
              <a:t>▪  </a:t>
            </a:r>
            <a:r>
              <a:rPr sz="2100">
                <a:solidFill>
                  <a:srgbClr val="111827"/>
                </a:solidFill>
                <a:latin typeface="Segoe UI"/>
              </a:rPr>
              <a:t>Start with: Session 1, Session 13 (confidently wrong), Sessions 10–12 (prompting, Claude, agents)</a:t>
            </a:r>
          </a:p>
          <a:p>
            <a:pPr>
              <a:spcAft>
                <a:spcPts val="1400"/>
              </a:spcAft>
            </a:pPr>
            <a:r>
              <a:rPr sz="2100">
                <a:solidFill>
                  <a:srgbClr val="2563EB"/>
                </a:solidFill>
                <a:latin typeface="Segoe UI"/>
              </a:rPr>
              <a:t>▪  </a:t>
            </a:r>
            <a:r>
              <a:rPr sz="2100">
                <a:solidFill>
                  <a:srgbClr val="111827"/>
                </a:solidFill>
                <a:latin typeface="Segoe UI"/>
              </a:rPr>
              <a:t>Glossary for every term</a:t>
            </a:r>
          </a:p>
        </p:txBody>
      </p:sp>
      <p:sp>
        <p:nvSpPr>
          <p:cNvPr id="5" name="TextBox 4"/>
          <p:cNvSpPr txBox="1"/>
          <p:nvPr/>
        </p:nvSpPr>
        <p:spPr>
          <a:xfrm>
            <a:off x="640080" y="6327648"/>
            <a:ext cx="6858000" cy="365760"/>
          </a:xfrm>
          <a:prstGeom prst="rect">
            <a:avLst/>
          </a:prstGeom>
          <a:noFill/>
        </p:spPr>
        <p:txBody>
          <a:bodyPr wrap="square" anchor="t">
            <a:spAutoFit/>
          </a:bodyPr>
          <a:lstStyle/>
          <a:p>
            <a:pPr algn="l">
              <a:spcAft>
                <a:spcPts val="1000"/>
              </a:spcAft>
            </a:pPr>
            <a:r>
              <a:rPr sz="1100" b="0">
                <a:solidFill>
                  <a:srgbClr val="6B7280"/>
                </a:solidFill>
                <a:latin typeface="Segoe UI"/>
              </a:rPr>
              <a:t>AI Training Series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