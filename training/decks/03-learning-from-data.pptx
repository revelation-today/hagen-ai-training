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foundation for the next four sessions. Trees, forests, deep learning, LLMs all sit on the ideas we cover today, so we do them once, here. It's a concept session — one short code illustration, no full lab.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 that the "holding data back" segment is the one that matters most and the one we protect if we run long. 45 minutes is tight with no slack.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idea to anchor the whole block. In normal software you write the rules; in supervised learning you supply examples with answers and the machine infers the rules. That's the power (solve problems whose rules you can't write) and the danger (the rules are only as good as the examples, and you often can't read them). Hold on this — it reframes everything after.</a:t>
            </a:r>
          </a:p>
          <a:p/>
          <a:p>
            <a:r>
              <a:t>--- Mermaid source 1 (render and place on the diagram box) ---</a:t>
            </a:r>
          </a:p>
          <a:p>
            <a:r>
              <a:t>flowchart LR</a:t>
            </a:r>
          </a:p>
          <a:p>
            <a:r>
              <a:t>      subgraph TR["Traditional software"]</a:t>
            </a:r>
          </a:p>
          <a:p>
            <a:r>
              <a:t>        R1["Rules"] --&gt; P1["Program"]</a:t>
            </a:r>
          </a:p>
          <a:p>
            <a:r>
              <a:t>        D1["Data"] --&gt; P1</a:t>
            </a:r>
          </a:p>
          <a:p>
            <a:r>
              <a:t>        P1 --&gt; A1["Answers"]</a:t>
            </a:r>
          </a:p>
          <a:p>
            <a:r>
              <a:t>      end</a:t>
            </a:r>
          </a:p>
          <a:p>
            <a:r>
              <a:t>      subgraph ML["Supervised ML"]</a:t>
            </a:r>
          </a:p>
          <a:p>
            <a:r>
              <a:t>        D2["Data (features)"] --&gt; P2["Training"]</a:t>
            </a:r>
          </a:p>
          <a:p>
            <a:r>
              <a:t>        A2["Answers (labels)"] --&gt; P2</a:t>
            </a:r>
          </a:p>
          <a:p>
            <a:r>
              <a:t>        P2 --&gt; R2["Rules (the model)"]</a:t>
            </a:r>
          </a:p>
          <a:p>
            <a:r>
              <a:t>      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colour table: R, G, B are features; light/dark is the label. To the model "dark" means nothing but a category attached to certain RGB combinations. Land the sharp question: a model is only as good as its labels — where did they come from?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supervised method is a version of this loop; they differ only in what "adjust" means. Two things to plant for later: the model IS its settings (random at first → chance accuracy); and the loop only optimises the training data — which is exactly why we'll have to hold data back.</a:t>
            </a:r>
          </a:p>
          <a:p/>
          <a:p>
            <a:r>
              <a:t>--- Mermaid source 1 (render and place on the diagram box) ---</a:t>
            </a:r>
          </a:p>
          <a:p>
            <a:r>
              <a:t>flowchart TD</a:t>
            </a:r>
          </a:p>
          <a:p>
            <a:r>
              <a:t>      S["Model with random settings"] --&gt; P["Predict on a batch of training examples"]</a:t>
            </a:r>
          </a:p>
          <a:p>
            <a:r>
              <a:t>      P --&gt; C["Compare to true labels → measure error"]</a:t>
            </a:r>
          </a:p>
          <a:p>
            <a:r>
              <a:t>      C --&gt; Q{"Still improving?"}</a:t>
            </a:r>
          </a:p>
          <a:p>
            <a:r>
              <a:t>      Q --&gt;|Yes| U["Adjust settings a little"]</a:t>
            </a:r>
          </a:p>
          <a:p>
            <a:r>
              <a:t>      U --&gt; P</a:t>
            </a:r>
          </a:p>
          <a:p>
            <a:r>
              <a:t>      Q --&gt;|No| D["Freeze settings = trained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already run models: nobody gave you a rain rulebook; you saw thousands of skies-then-outcomes and fit one. Draw the mapping — sky = features, "it'll rain" = prediction, years of weather = training data, instinct = learned settings. Two honest limits: you can be confidently wrong (dark sky, no rain), and you only know the weather where you've lived (drift).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Studying for the exam vs. answering one question. Training touches every example many times; inference just plugs one input into a finished function. Consequence for this room: a cheap-to-train model can be expensive to run at volume; retraining isn't free; treat a deployed model as a re-qualifiable dependency, not a shipped-and-done artefact.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training loop rewards memorising — a big model can build a lookup table and score 100% on data it's seen, having learned nothing transferable. Analogy: a student who memorised last year's paper. The only meaningful test is this year's paper — questions they've never seen. This sets up the split.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model gets more complex or trains longer, training accuracy keeps rising, but unseen-data accuracy rises, peaks, then falls. The gap between the curves is the overfitting. If you only watch training accuracy you never see the peak and you ship the overfit model.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Non-negotiable discipline. Train fits parameters; validation tunes hyperparameters and model choice; test is the final honest number. Percentages are a convention, not a law.</a:t>
            </a:r>
          </a:p>
          <a:p/>
          <a:p>
            <a:r>
              <a:t>--- Mermaid source 1 (render and place on the diagram box) ---</a:t>
            </a:r>
          </a:p>
          <a:p>
            <a:r>
              <a:t>flowchart LR</a:t>
            </a:r>
          </a:p>
          <a:p>
            <a:r>
              <a:t>      ALL["All labelled data"] --&gt; TR["Training ~70%"]</a:t>
            </a:r>
          </a:p>
          <a:p>
            <a:r>
              <a:t>      ALL --&gt; VA["Validation ~15%"]</a:t>
            </a:r>
          </a:p>
          <a:p>
            <a:r>
              <a:t>      ALL --&gt; TE["Test ~15%"]</a:t>
            </a:r>
          </a:p>
          <a:p>
            <a:r>
              <a:t>      TR --&gt; U1["Fit the settings"]</a:t>
            </a:r>
          </a:p>
          <a:p>
            <a:r>
              <a:t>      VA --&gt; U2["Tune the choices"]</a:t>
            </a:r>
          </a:p>
          <a:p>
            <a:r>
              <a:t>      TE --&gt; U3["Final report card — once"]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sets stops you grading your own homework; but if you tune your choices to the test set, it's contaminated again — a slower memorisation. Validation is the sacrificial set you iterate against so test stays sealed. Map to Session 2: training learns parameters, validation guides hyperparameters, test judges the finished result. The golden rule belongs on a wall.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scikit-learn call. Two flags that aren't decoration: random_state makes the split reproducible (config-management point); stratify keeps class proportions equal across sets. Then the punchline: the trained model scores ~1.00 on train, ~0.82 on test — that gap IS the overfitting, and 0.82 is the only number you'd ever quote. Pre-run this; do not live-type. Full version in the lab file.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supervised; the only difference is whether the label is a value on a scale or a choice from a set. Self-test: "how many days until this disk fails?" = regression; "will it fail in 30 days?" = classification. The second is often more useful because it ends in a decision.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step everyone skips. The model doesn't jump to "dark" — it computes a probability (sigmoid squeezes to 0–1), then a cut-off converts it to a class. Walk the little P-table: 0.02→light, 0.73→dark. The mechanism behind "the AI decided" is one number and one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Risky-config-change classifier: false negative = bad change ships (incident); false positive = a wasted review. Not equal — so you lower the threshold to catch more true risks at the cost of more reviews. Spam filter moves it the other way. The sharp vendor question: "what's the threshold, who chose it, did they weigh FP vs FN?" Many systems ship 0.5 by accident. (Precision/recall in Session 8; base rates in Session 13.)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honesty beat. One of our source decks contradicts itself on exactly this threshold — a bug a technical audience would catch. We correct it and generalise the lesson: a probability of 0.7 is useless until you know "0.7 of what?" Mislabelling which class the probability refers to is one of the commonest quiet bugs in real classifiers. (Full note in AI_input.md §6, error #1.)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tool to walk out with. Neural nets win on perceptual problems because they learn their own features from raw signal — wasted on tabular data whose features are already meaningful columns. Walk two of the worked judgements (risky-config-change = tabular = tree; screenshot-classification = perceptual = neural net).</a:t>
            </a:r>
          </a:p>
          <a:p/>
          <a:p>
            <a:r>
              <a:t>--- Mermaid source 1 (render and place on the diagram box) ---</a:t>
            </a:r>
          </a:p>
          <a:p>
            <a:r>
              <a:t>flowchart TD</a:t>
            </a:r>
          </a:p>
          <a:p>
            <a:r>
              <a:t>      START["A prediction problem. What is the data like?"] --&gt; Q1{"Structured / tabular?"}</a:t>
            </a:r>
          </a:p>
          <a:p>
            <a:r>
              <a:t>      Q1 --&gt;|Yes| SIMPLE["Simple model first"]</a:t>
            </a:r>
          </a:p>
          <a:p>
            <a:r>
              <a:t>      Q1 --&gt;|"No — perceptual/fuzzy"| NN["Neural network likely justified"]</a:t>
            </a:r>
          </a:p>
          <a:p>
            <a:r>
              <a:t>      SIMPLE --&gt; Q2{"Meets the requirement?"}</a:t>
            </a:r>
          </a:p>
          <a:p>
            <a:r>
              <a:t>      Q2 --&gt;|Yes| DONE["Ship it — cheaper, auditable"]</a:t>
            </a:r>
          </a:p>
          <a:p>
            <a:r>
              <a:t>      Q2 --&gt;|No| NN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discipline note. Real pull toward deep learning first — resist it. The four costs land on your side of the house. For an accountability-driven room, opacity is decisive: a tree you can read and defend often beats a black box you can't. Most release/problem/config problems are tabular → simple-model problems; reserve and budget neural nets for genuinely perceptual cases. Bridge: this maps the block — S4 unsupervised, S5 the simple/auditable branch, S6–8 the neural branch, S9 LLMs.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poll from exercises/discussion.md. Steer toward participants' own systems.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content/ for self-study and resources/sources.md for the full licence verdicts.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1463040"/>
          </a:xfrm>
          <a:prstGeom prst="rect">
            <a:avLst/>
          </a:prstGeom>
          <a:noFill/>
        </p:spPr>
        <p:txBody>
          <a:bodyPr wrap="square" anchor="t">
            <a:spAutoFit/>
          </a:bodyPr>
          <a:lstStyle/>
          <a:p>
            <a:pPr algn="l">
              <a:spcAft>
                <a:spcPts val="1000"/>
              </a:spcAft>
            </a:pPr>
            <a:r>
              <a:rPr sz="4000" b="1">
                <a:solidFill>
                  <a:srgbClr val="1F2A37"/>
                </a:solidFill>
                <a:latin typeface="Segoe UI"/>
              </a:rPr>
              <a:t>Methods I: Learning From Data</a:t>
            </a:r>
          </a:p>
        </p:txBody>
      </p:sp>
      <p:sp>
        <p:nvSpPr>
          <p:cNvPr id="3" name="Rectangle 2"/>
          <p:cNvSpPr/>
          <p:nvPr/>
        </p:nvSpPr>
        <p:spPr>
          <a:xfrm>
            <a:off x="822960" y="3703320"/>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977639"/>
            <a:ext cx="10515600" cy="822960"/>
          </a:xfrm>
          <a:prstGeom prst="rect">
            <a:avLst/>
          </a:prstGeom>
          <a:noFill/>
        </p:spPr>
        <p:txBody>
          <a:bodyPr wrap="square" anchor="t">
            <a:spAutoFit/>
          </a:bodyPr>
          <a:lstStyle/>
          <a:p>
            <a:pPr algn="l">
              <a:spcAft>
                <a:spcPts val="1000"/>
              </a:spcAft>
            </a:pPr>
            <a:r>
              <a:rPr sz="1700" b="0">
                <a:solidFill>
                  <a:srgbClr val="6B7280"/>
                </a:solidFill>
                <a:latin typeface="Segoe UI"/>
              </a:rPr>
              <a:t>Session 3 of 16  ·  Methods</a:t>
            </a:r>
          </a:p>
          <a:p>
            <a:pPr algn="l">
              <a:spcAft>
                <a:spcPts val="1000"/>
              </a:spcAft>
            </a:pPr>
            <a:r>
              <a:rPr sz="1700" b="0">
                <a:solidFill>
                  <a:srgbClr val="6B7280"/>
                </a:solidFill>
                <a:latin typeface="Segoe UI"/>
              </a:rPr>
              <a:t>AI Training Series  ·  45 min + 15 min Q&amp;A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Agenda</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the six segments with minute budget (Hook 0–4</a:t>
            </a:r>
          </a:p>
          <a:p>
            <a:pPr>
              <a:spcAft>
                <a:spcPts val="1400"/>
              </a:spcAft>
            </a:pPr>
            <a:r>
              <a:rPr sz="2100">
                <a:solidFill>
                  <a:srgbClr val="2563EB"/>
                </a:solidFill>
                <a:latin typeface="Segoe UI"/>
              </a:rPr>
              <a:t>▪  </a:t>
            </a:r>
            <a:r>
              <a:rPr sz="2100">
                <a:solidFill>
                  <a:srgbClr val="111827"/>
                </a:solidFill>
                <a:latin typeface="Segoe UI"/>
              </a:rPr>
              <a:t>Supervised learning 4–12</a:t>
            </a:r>
          </a:p>
          <a:p>
            <a:pPr>
              <a:spcAft>
                <a:spcPts val="1400"/>
              </a:spcAft>
            </a:pPr>
            <a:r>
              <a:rPr sz="2100">
                <a:solidFill>
                  <a:srgbClr val="2563EB"/>
                </a:solidFill>
                <a:latin typeface="Segoe UI"/>
              </a:rPr>
              <a:t>▪  </a:t>
            </a:r>
            <a:r>
              <a:rPr sz="2100">
                <a:solidFill>
                  <a:srgbClr val="111827"/>
                </a:solidFill>
                <a:latin typeface="Segoe UI"/>
              </a:rPr>
              <a:t>What a model is 12–19</a:t>
            </a:r>
          </a:p>
          <a:p>
            <a:pPr>
              <a:spcAft>
                <a:spcPts val="1400"/>
              </a:spcAft>
            </a:pPr>
            <a:r>
              <a:rPr sz="2100">
                <a:solidFill>
                  <a:srgbClr val="2563EB"/>
                </a:solidFill>
                <a:latin typeface="Segoe UI"/>
              </a:rPr>
              <a:t>▪  </a:t>
            </a:r>
            <a:r>
              <a:rPr sz="2100">
                <a:solidFill>
                  <a:srgbClr val="111827"/>
                </a:solidFill>
                <a:latin typeface="Segoe UI"/>
              </a:rPr>
              <a:t>Holding data back 19–29</a:t>
            </a:r>
          </a:p>
          <a:p>
            <a:pPr>
              <a:spcAft>
                <a:spcPts val="1400"/>
              </a:spcAft>
            </a:pPr>
            <a:r>
              <a:rPr sz="2100">
                <a:solidFill>
                  <a:srgbClr val="2563EB"/>
                </a:solidFill>
                <a:latin typeface="Segoe UI"/>
              </a:rPr>
              <a:t>▪  </a:t>
            </a:r>
            <a:r>
              <a:rPr sz="2100">
                <a:solidFill>
                  <a:srgbClr val="111827"/>
                </a:solidFill>
                <a:latin typeface="Segoe UI"/>
              </a:rPr>
              <a:t>Regression vs. classification 29–37</a:t>
            </a:r>
          </a:p>
          <a:p>
            <a:pPr>
              <a:spcAft>
                <a:spcPts val="1400"/>
              </a:spcAft>
            </a:pPr>
            <a:r>
              <a:rPr sz="2100">
                <a:solidFill>
                  <a:srgbClr val="2563EB"/>
                </a:solidFill>
                <a:latin typeface="Segoe UI"/>
              </a:rPr>
              <a:t>▪  </a:t>
            </a:r>
            <a:r>
              <a:rPr sz="2100">
                <a:solidFill>
                  <a:srgbClr val="111827"/>
                </a:solidFill>
                <a:latin typeface="Segoe UI"/>
              </a:rPr>
              <a:t>Which model for which problem 37–45</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inversion (the hook)</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Headline: "Machine learning runs software backwards."</a:t>
            </a:r>
          </a:p>
          <a:p>
            <a:pPr>
              <a:spcAft>
                <a:spcPts val="1400"/>
              </a:spcAft>
            </a:pPr>
            <a:r>
              <a:rPr sz="1700">
                <a:solidFill>
                  <a:srgbClr val="2563EB"/>
                </a:solidFill>
                <a:latin typeface="Segoe UI"/>
              </a:rPr>
              <a:t>▪  </a:t>
            </a:r>
            <a:r>
              <a:rPr sz="1700">
                <a:solidFill>
                  <a:srgbClr val="111827"/>
                </a:solidFill>
                <a:latin typeface="Segoe UI"/>
              </a:rPr>
              <a:t>Traditional: Rules + Data → Answers</a:t>
            </a:r>
          </a:p>
          <a:p>
            <a:pPr>
              <a:spcAft>
                <a:spcPts val="1400"/>
              </a:spcAft>
            </a:pPr>
            <a:r>
              <a:rPr sz="1700">
                <a:solidFill>
                  <a:srgbClr val="2563EB"/>
                </a:solidFill>
                <a:latin typeface="Segoe UI"/>
              </a:rPr>
              <a:t>▪  </a:t>
            </a:r>
            <a:r>
              <a:rPr sz="1700">
                <a:solidFill>
                  <a:srgbClr val="111827"/>
                </a:solidFill>
                <a:latin typeface="Segoe UI"/>
              </a:rPr>
              <a:t>ML: Data + Answers → Rules</a:t>
            </a:r>
          </a:p>
        </p:txBody>
      </p:sp>
      <p:sp>
        <p:nvSpPr>
          <p:cNvPr id="5" name="Rounded Rectangle 4" descr="Diagram: The inversion (the hook)"/>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Traditional software  →  Rules  →  Program  →  Data  →  Answers  →  Supervised ML</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Features and labels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Headline: "Features go in, the label is what you predict."</a:t>
            </a:r>
          </a:p>
          <a:p>
            <a:pPr>
              <a:spcAft>
                <a:spcPts val="1400"/>
              </a:spcAft>
            </a:pPr>
            <a:r>
              <a:rPr sz="2100">
                <a:solidFill>
                  <a:srgbClr val="2563EB"/>
                </a:solidFill>
                <a:latin typeface="Segoe UI"/>
              </a:rPr>
              <a:t>▪  </a:t>
            </a:r>
            <a:r>
              <a:rPr sz="2100">
                <a:solidFill>
                  <a:srgbClr val="111827"/>
                </a:solidFill>
                <a:latin typeface="Segoe UI"/>
              </a:rPr>
              <a:t>Feature = an input column</a:t>
            </a:r>
          </a:p>
          <a:p>
            <a:pPr>
              <a:spcAft>
                <a:spcPts val="1400"/>
              </a:spcAft>
            </a:pPr>
            <a:r>
              <a:rPr sz="2100">
                <a:solidFill>
                  <a:srgbClr val="2563EB"/>
                </a:solidFill>
                <a:latin typeface="Segoe UI"/>
              </a:rPr>
              <a:t>▪  </a:t>
            </a:r>
            <a:r>
              <a:rPr sz="2100">
                <a:solidFill>
                  <a:srgbClr val="111827"/>
                </a:solidFill>
                <a:latin typeface="Segoe UI"/>
              </a:rPr>
              <a:t>Label = the answer column</a:t>
            </a:r>
          </a:p>
          <a:p>
            <a:pPr>
              <a:spcAft>
                <a:spcPts val="1400"/>
              </a:spcAft>
            </a:pPr>
            <a:r>
              <a:rPr sz="2100">
                <a:solidFill>
                  <a:srgbClr val="2563EB"/>
                </a:solidFill>
                <a:latin typeface="Segoe UI"/>
              </a:rPr>
              <a:t>▪  </a:t>
            </a:r>
            <a:r>
              <a:rPr sz="2100">
                <a:solidFill>
                  <a:srgbClr val="111827"/>
                </a:solidFill>
                <a:latin typeface="Segoe UI"/>
              </a:rPr>
              <a:t>One row = one example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scikit-learn-compatible toy data; table is original. Colour-problem idea from DL Day 1 (LINK-ONLY) — repr…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training loop</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Headline: "Training is a loop, not a moment."</a:t>
            </a:r>
          </a:p>
          <a:p>
            <a:pPr>
              <a:spcAft>
                <a:spcPts val="1400"/>
              </a:spcAft>
            </a:pPr>
            <a:r>
              <a:rPr sz="1700">
                <a:solidFill>
                  <a:srgbClr val="2563EB"/>
                </a:solidFill>
                <a:latin typeface="Segoe UI"/>
              </a:rPr>
              <a:t>▪  </a:t>
            </a:r>
            <a:r>
              <a:rPr sz="1700">
                <a:solidFill>
                  <a:srgbClr val="111827"/>
                </a:solidFill>
                <a:latin typeface="Segoe UI"/>
              </a:rPr>
              <a:t>Predict → measure error → adjust settings → repeat</a:t>
            </a:r>
          </a:p>
          <a:p>
            <a:pPr>
              <a:spcAft>
                <a:spcPts val="1400"/>
              </a:spcAft>
            </a:pPr>
            <a:r>
              <a:rPr sz="1700">
                <a:solidFill>
                  <a:srgbClr val="2563EB"/>
                </a:solidFill>
                <a:latin typeface="Segoe UI"/>
              </a:rPr>
              <a:t>▪  </a:t>
            </a:r>
            <a:r>
              <a:rPr sz="1700">
                <a:solidFill>
                  <a:srgbClr val="111827"/>
                </a:solidFill>
                <a:latin typeface="Segoe UI"/>
              </a:rPr>
              <a:t>Stops when it stops improving</a:t>
            </a:r>
          </a:p>
        </p:txBody>
      </p:sp>
      <p:sp>
        <p:nvSpPr>
          <p:cNvPr id="5" name="Rounded Rectangle 4" descr="Diagram: The training loop"/>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Model with random settings  →  Predict on a batch of training examples  →  Compare to true labels → measure error  →  Adjust settings a little  →  Freeze settings = trained model</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What a model is (dark clouds)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Headline: "A model is a learned instinct: dark clouds mean rain."</a:t>
            </a:r>
          </a:p>
          <a:p>
            <a:pPr>
              <a:spcAft>
                <a:spcPts val="1400"/>
              </a:spcAft>
            </a:pPr>
            <a:r>
              <a:rPr sz="2100">
                <a:solidFill>
                  <a:srgbClr val="2563EB"/>
                </a:solidFill>
                <a:latin typeface="Segoe UI"/>
              </a:rPr>
              <a:t>▪  </a:t>
            </a:r>
            <a:r>
              <a:rPr sz="2100">
                <a:solidFill>
                  <a:srgbClr val="111827"/>
                </a:solidFill>
                <a:latin typeface="Segoe UI"/>
              </a:rPr>
              <a:t>Structure (chosen) + settings (learned)</a:t>
            </a:r>
          </a:p>
          <a:p>
            <a:pPr>
              <a:spcAft>
                <a:spcPts val="1400"/>
              </a:spcAft>
            </a:pPr>
            <a:r>
              <a:rPr sz="2100">
                <a:solidFill>
                  <a:srgbClr val="2563EB"/>
                </a:solidFill>
                <a:latin typeface="Segoe UI"/>
              </a:rPr>
              <a:t>▪  </a:t>
            </a:r>
            <a:r>
              <a:rPr sz="2100">
                <a:solidFill>
                  <a:srgbClr val="111827"/>
                </a:solidFill>
                <a:latin typeface="Segoe UI"/>
              </a:rPr>
              <a:t>Features in → prediction out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Training cost vs. inference cost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Headline: "Building a model is expensive; using it is cheap — per call."</a:t>
            </a:r>
          </a:p>
          <a:p>
            <a:pPr>
              <a:spcAft>
                <a:spcPts val="1400"/>
              </a:spcAft>
            </a:pPr>
            <a:r>
              <a:rPr sz="2100">
                <a:solidFill>
                  <a:srgbClr val="2563EB"/>
                </a:solidFill>
                <a:latin typeface="Segoe UI"/>
              </a:rPr>
              <a:t>▪  </a:t>
            </a:r>
            <a:r>
              <a:rPr sz="2100">
                <a:solidFill>
                  <a:srgbClr val="111827"/>
                </a:solidFill>
                <a:latin typeface="Segoe UI"/>
              </a:rPr>
              <a:t>Training: once, all the data, many passes, GPUs</a:t>
            </a:r>
          </a:p>
          <a:p>
            <a:pPr>
              <a:spcAft>
                <a:spcPts val="1400"/>
              </a:spcAft>
            </a:pPr>
            <a:r>
              <a:rPr sz="2100">
                <a:solidFill>
                  <a:srgbClr val="2563EB"/>
                </a:solidFill>
                <a:latin typeface="Segoe UI"/>
              </a:rPr>
              <a:t>▪  </a:t>
            </a:r>
            <a:r>
              <a:rPr sz="2100">
                <a:solidFill>
                  <a:srgbClr val="111827"/>
                </a:solidFill>
                <a:latin typeface="Segoe UI"/>
              </a:rPr>
              <a:t>Inference: every call, one pass, milliseconds</a:t>
            </a:r>
          </a:p>
          <a:p>
            <a:pPr>
              <a:spcAft>
                <a:spcPts val="1400"/>
              </a:spcAft>
            </a:pPr>
            <a:r>
              <a:rPr sz="2100">
                <a:solidFill>
                  <a:srgbClr val="2563EB"/>
                </a:solidFill>
                <a:latin typeface="Segoe UI"/>
              </a:rPr>
              <a:t>▪  </a:t>
            </a:r>
            <a:r>
              <a:rPr sz="2100">
                <a:solidFill>
                  <a:srgbClr val="111827"/>
                </a:solidFill>
                <a:latin typeface="Segoe UI"/>
              </a:rPr>
              <a:t>At scale, inference dominates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trap: memorising the exam</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Headline: "Accuracy on training data is a memorised-exam score."</a:t>
            </a:r>
          </a:p>
          <a:p>
            <a:pPr>
              <a:spcAft>
                <a:spcPts val="1400"/>
              </a:spcAft>
            </a:pPr>
            <a:r>
              <a:rPr sz="2100">
                <a:solidFill>
                  <a:srgbClr val="2563EB"/>
                </a:solidFill>
                <a:latin typeface="Segoe UI"/>
              </a:rPr>
              <a:t>▪  </a:t>
            </a:r>
            <a:r>
              <a:rPr sz="2100">
                <a:solidFill>
                  <a:srgbClr val="111827"/>
                </a:solidFill>
                <a:latin typeface="Segoe UI"/>
              </a:rPr>
              <a:t>A model can memorise, not learn</a:t>
            </a:r>
          </a:p>
          <a:p>
            <a:pPr>
              <a:spcAft>
                <a:spcPts val="1400"/>
              </a:spcAft>
            </a:pPr>
            <a:r>
              <a:rPr sz="2100">
                <a:solidFill>
                  <a:srgbClr val="2563EB"/>
                </a:solidFill>
                <a:latin typeface="Segoe UI"/>
              </a:rPr>
              <a:t>▪  </a:t>
            </a:r>
            <a:r>
              <a:rPr sz="2100">
                <a:solidFill>
                  <a:srgbClr val="111827"/>
                </a:solidFill>
                <a:latin typeface="Segoe UI"/>
              </a:rPr>
              <a:t>The only score that counts is on unseen data</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Overfitting, made visible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Headline: "Overfitting is invisible until you look at held-out data."</a:t>
            </a:r>
          </a:p>
          <a:p>
            <a:pPr>
              <a:spcAft>
                <a:spcPts val="1400"/>
              </a:spcAft>
            </a:pPr>
            <a:r>
              <a:rPr sz="2100">
                <a:solidFill>
                  <a:srgbClr val="2563EB"/>
                </a:solidFill>
                <a:latin typeface="Segoe UI"/>
              </a:rPr>
              <a:t>▪  </a:t>
            </a:r>
            <a:r>
              <a:rPr sz="2100">
                <a:solidFill>
                  <a:srgbClr val="111827"/>
                </a:solidFill>
                <a:latin typeface="Segoe UI"/>
              </a:rPr>
              <a:t>Underfit (bad/bad) → Good fit (good/good) → Overfit (great/bad)</a:t>
            </a:r>
          </a:p>
          <a:p>
            <a:pPr>
              <a:spcAft>
                <a:spcPts val="1400"/>
              </a:spcAft>
            </a:pPr>
            <a:r>
              <a:rPr sz="2100">
                <a:solidFill>
                  <a:srgbClr val="2563EB"/>
                </a:solidFill>
                <a:latin typeface="Segoe UI"/>
              </a:rPr>
              <a:t>▪  </a:t>
            </a:r>
            <a:r>
              <a:rPr sz="2100">
                <a:solidFill>
                  <a:srgbClr val="111827"/>
                </a:solidFill>
                <a:latin typeface="Segoe UI"/>
              </a:rPr>
              <a:t>Training accuracy alone hides it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70/15/15 split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Headline: "Split the data three ways before you train."</a:t>
            </a:r>
          </a:p>
          <a:p>
            <a:pPr>
              <a:spcAft>
                <a:spcPts val="1400"/>
              </a:spcAft>
            </a:pPr>
            <a:r>
              <a:rPr sz="1700">
                <a:solidFill>
                  <a:srgbClr val="2563EB"/>
                </a:solidFill>
                <a:latin typeface="Segoe UI"/>
              </a:rPr>
              <a:t>▪  </a:t>
            </a:r>
            <a:r>
              <a:rPr sz="1700">
                <a:solidFill>
                  <a:srgbClr val="111827"/>
                </a:solidFill>
                <a:latin typeface="Segoe UI"/>
              </a:rPr>
              <a:t>Train ~70% — fit the settings</a:t>
            </a:r>
          </a:p>
          <a:p>
            <a:pPr>
              <a:spcAft>
                <a:spcPts val="1400"/>
              </a:spcAft>
            </a:pPr>
            <a:r>
              <a:rPr sz="1700">
                <a:solidFill>
                  <a:srgbClr val="2563EB"/>
                </a:solidFill>
                <a:latin typeface="Segoe UI"/>
              </a:rPr>
              <a:t>▪  </a:t>
            </a:r>
            <a:r>
              <a:rPr sz="1700">
                <a:solidFill>
                  <a:srgbClr val="111827"/>
                </a:solidFill>
                <a:latin typeface="Segoe UI"/>
              </a:rPr>
              <a:t>Validation ~15% — tune the choices</a:t>
            </a:r>
          </a:p>
          <a:p>
            <a:pPr>
              <a:spcAft>
                <a:spcPts val="1400"/>
              </a:spcAft>
            </a:pPr>
            <a:r>
              <a:rPr sz="1700">
                <a:solidFill>
                  <a:srgbClr val="2563EB"/>
                </a:solidFill>
                <a:latin typeface="Segoe UI"/>
              </a:rPr>
              <a:t>▪  </a:t>
            </a:r>
            <a:r>
              <a:rPr sz="1700">
                <a:solidFill>
                  <a:srgbClr val="111827"/>
                </a:solidFill>
                <a:latin typeface="Segoe UI"/>
              </a:rPr>
              <a:t>Test ~15% — the one-time report card</a:t>
            </a:r>
          </a:p>
        </p:txBody>
      </p:sp>
      <p:sp>
        <p:nvSpPr>
          <p:cNvPr id="5" name="Rounded Rectangle 4" descr="Diagram: The 70/15/15 split"/>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All labelled data  →  Training ~70%  →  Validation ~15%  →  Test ~15%  →  Fit the settings  →  Tune the choices</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Why three, and the golden rule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Headline: "Tune on validation. Touch the test set once."</a:t>
            </a:r>
          </a:p>
          <a:p>
            <a:pPr>
              <a:spcAft>
                <a:spcPts val="1400"/>
              </a:spcAft>
            </a:pPr>
            <a:r>
              <a:rPr sz="2100">
                <a:solidFill>
                  <a:srgbClr val="2563EB"/>
                </a:solidFill>
                <a:latin typeface="Segoe UI"/>
              </a:rPr>
              <a:t>▪  </a:t>
            </a:r>
            <a:r>
              <a:rPr sz="2100">
                <a:solidFill>
                  <a:srgbClr val="111827"/>
                </a:solidFill>
                <a:latin typeface="Segoe UI"/>
              </a:rPr>
              <a:t>Picking the best model by the test set leaks it into your choices</a:t>
            </a:r>
          </a:p>
          <a:p>
            <a:pPr>
              <a:spcAft>
                <a:spcPts val="1400"/>
              </a:spcAft>
            </a:pPr>
            <a:r>
              <a:rPr sz="2100">
                <a:solidFill>
                  <a:srgbClr val="2563EB"/>
                </a:solidFill>
                <a:latin typeface="Segoe UI"/>
              </a:rPr>
              <a:t>▪  </a:t>
            </a:r>
            <a:r>
              <a:rPr sz="2100">
                <a:solidFill>
                  <a:srgbClr val="111827"/>
                </a:solidFill>
                <a:latin typeface="Segoe UI"/>
              </a:rPr>
              <a:t>Validation absorbs the tuning</a:t>
            </a:r>
          </a:p>
          <a:p>
            <a:pPr>
              <a:spcAft>
                <a:spcPts val="1400"/>
              </a:spcAft>
            </a:pPr>
            <a:r>
              <a:rPr sz="2100">
                <a:solidFill>
                  <a:srgbClr val="2563EB"/>
                </a:solidFill>
                <a:latin typeface="Segoe UI"/>
              </a:rPr>
              <a:t>▪  </a:t>
            </a:r>
            <a:r>
              <a:rPr sz="2100">
                <a:solidFill>
                  <a:srgbClr val="111827"/>
                </a:solidFill>
                <a:latin typeface="Segoe UI"/>
              </a:rPr>
              <a:t>Test set: touched exactly once, at the very end.</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split in code (demo)</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Headline: "Splitting is one function call — and it exposes the gap."</a:t>
            </a:r>
          </a:p>
          <a:p>
            <a:pPr>
              <a:spcAft>
                <a:spcPts val="1400"/>
              </a:spcAft>
            </a:pPr>
            <a:r>
              <a:rPr sz="2100">
                <a:solidFill>
                  <a:srgbClr val="2563EB"/>
                </a:solidFill>
                <a:latin typeface="Segoe UI"/>
              </a:rPr>
              <a:t>▪  </a:t>
            </a:r>
            <a:r>
              <a:rPr sz="2100">
                <a:solidFill>
                  <a:srgbClr val="111827"/>
                </a:solidFill>
                <a:latin typeface="Segoe UI"/>
              </a:rPr>
              <a:t>train_test_split(..., stratify=y, random_state=42)</a:t>
            </a:r>
          </a:p>
          <a:p>
            <a:pPr>
              <a:spcAft>
                <a:spcPts val="1400"/>
              </a:spcAft>
            </a:pPr>
            <a:r>
              <a:rPr sz="2100">
                <a:solidFill>
                  <a:srgbClr val="2563EB"/>
                </a:solidFill>
                <a:latin typeface="Segoe UI"/>
              </a:rPr>
              <a:t>▪  </a:t>
            </a:r>
            <a:r>
              <a:rPr sz="2100">
                <a:solidFill>
                  <a:srgbClr val="111827"/>
                </a:solidFill>
                <a:latin typeface="Segoe UI"/>
              </a:rPr>
              <a:t>model.score(train) 1.00 vs model.score(test) 0.82</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scikit-learn (BSD-3) — SLIDE-SAFE, attribute in footer.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Regression vs. classification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Headline: "Number out = regression. Label out = classification."</a:t>
            </a:r>
          </a:p>
          <a:p>
            <a:pPr>
              <a:spcAft>
                <a:spcPts val="1400"/>
              </a:spcAft>
            </a:pPr>
            <a:r>
              <a:rPr sz="2100">
                <a:solidFill>
                  <a:srgbClr val="2563EB"/>
                </a:solidFill>
                <a:latin typeface="Segoe UI"/>
              </a:rPr>
              <a:t>▪  </a:t>
            </a:r>
            <a:r>
              <a:rPr sz="2100">
                <a:solidFill>
                  <a:srgbClr val="111827"/>
                </a:solidFill>
                <a:latin typeface="Segoe UI"/>
              </a:rPr>
              <a:t>"How much?" vs. "Which one?"</a:t>
            </a:r>
          </a:p>
          <a:p>
            <a:pPr>
              <a:spcAft>
                <a:spcPts val="1400"/>
              </a:spcAft>
            </a:pPr>
            <a:r>
              <a:rPr sz="2100">
                <a:solidFill>
                  <a:srgbClr val="2563EB"/>
                </a:solidFill>
                <a:latin typeface="Segoe UI"/>
              </a:rPr>
              <a:t>▪  </a:t>
            </a:r>
            <a:r>
              <a:rPr sz="2100">
                <a:solidFill>
                  <a:srgbClr val="111827"/>
                </a:solidFill>
                <a:latin typeface="Segoe UI"/>
              </a:rPr>
              <a:t>Look at the label to tell which you have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 probability becomes a decision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Headline: "A classifier outputs a probability; a threshold makes the call."</a:t>
            </a:r>
          </a:p>
          <a:p>
            <a:pPr>
              <a:spcAft>
                <a:spcPts val="1400"/>
              </a:spcAft>
            </a:pPr>
            <a:r>
              <a:rPr sz="2100">
                <a:solidFill>
                  <a:srgbClr val="2563EB"/>
                </a:solidFill>
                <a:latin typeface="Segoe UI"/>
              </a:rPr>
              <a:t>▪  </a:t>
            </a:r>
            <a:r>
              <a:rPr sz="2100">
                <a:solidFill>
                  <a:srgbClr val="111827"/>
                </a:solidFill>
                <a:latin typeface="Segoe UI"/>
              </a:rPr>
              <a:t>Model → P(dark) = 0.73</a:t>
            </a:r>
          </a:p>
          <a:p>
            <a:pPr>
              <a:spcAft>
                <a:spcPts val="1400"/>
              </a:spcAft>
            </a:pPr>
            <a:r>
              <a:rPr sz="2100">
                <a:solidFill>
                  <a:srgbClr val="2563EB"/>
                </a:solidFill>
                <a:latin typeface="Segoe UI"/>
              </a:rPr>
              <a:t>▪  </a:t>
            </a:r>
            <a:r>
              <a:rPr sz="2100">
                <a:solidFill>
                  <a:srgbClr val="111827"/>
                </a:solidFill>
                <a:latin typeface="Segoe UI"/>
              </a:rPr>
              <a:t>Rule: P ≥ 0.5 → dark, else light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threshold is a business choice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Headline: "0.5 is a default, not a law — moving it trades your errors."</a:t>
            </a:r>
          </a:p>
          <a:p>
            <a:pPr>
              <a:spcAft>
                <a:spcPts val="1400"/>
              </a:spcAft>
            </a:pPr>
            <a:r>
              <a:rPr sz="2100">
                <a:solidFill>
                  <a:srgbClr val="2563EB"/>
                </a:solidFill>
                <a:latin typeface="Segoe UI"/>
              </a:rPr>
              <a:t>▪  </a:t>
            </a:r>
            <a:r>
              <a:rPr sz="2100">
                <a:solidFill>
                  <a:srgbClr val="111827"/>
                </a:solidFill>
                <a:latin typeface="Segoe UI"/>
              </a:rPr>
              <a:t>Lower threshold → catch more, more false alarms</a:t>
            </a:r>
          </a:p>
          <a:p>
            <a:pPr>
              <a:spcAft>
                <a:spcPts val="1400"/>
              </a:spcAft>
            </a:pPr>
            <a:r>
              <a:rPr sz="2100">
                <a:solidFill>
                  <a:srgbClr val="2563EB"/>
                </a:solidFill>
                <a:latin typeface="Segoe UI"/>
              </a:rPr>
              <a:t>▪  </a:t>
            </a:r>
            <a:r>
              <a:rPr sz="2100">
                <a:solidFill>
                  <a:srgbClr val="111827"/>
                </a:solidFill>
                <a:latin typeface="Segoe UI"/>
              </a:rPr>
              <a:t>Raise → fewer alarms, miss more</a:t>
            </a:r>
          </a:p>
          <a:p>
            <a:pPr>
              <a:spcAft>
                <a:spcPts val="1400"/>
              </a:spcAft>
            </a:pPr>
            <a:r>
              <a:rPr sz="2100">
                <a:solidFill>
                  <a:srgbClr val="2563EB"/>
                </a:solidFill>
                <a:latin typeface="Segoe UI"/>
              </a:rPr>
              <a:t>▪  </a:t>
            </a:r>
            <a:r>
              <a:rPr sz="2100">
                <a:solidFill>
                  <a:srgbClr val="111827"/>
                </a:solidFill>
                <a:latin typeface="Segoe UI"/>
              </a:rPr>
              <a:t>Which error is worse is your call</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Correct the source-deck error (credibility beat)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Headline: "Always pin down what the probability is of."</a:t>
            </a:r>
          </a:p>
          <a:p>
            <a:pPr>
              <a:spcAft>
                <a:spcPts val="1400"/>
              </a:spcAft>
            </a:pPr>
            <a:r>
              <a:rPr sz="2100">
                <a:solidFill>
                  <a:srgbClr val="2563EB"/>
                </a:solidFill>
                <a:latin typeface="Segoe UI"/>
              </a:rPr>
              <a:t>▪  </a:t>
            </a:r>
            <a:r>
              <a:rPr sz="2100">
                <a:solidFill>
                  <a:srgbClr val="111827"/>
                </a:solidFill>
                <a:latin typeface="Segoe UI"/>
              </a:rPr>
              <a:t>Source deck said ≥0.5 → dark on one slide, ≥0.5 → light on another</a:t>
            </a:r>
          </a:p>
          <a:p>
            <a:pPr>
              <a:spcAft>
                <a:spcPts val="1400"/>
              </a:spcAft>
            </a:pPr>
            <a:r>
              <a:rPr sz="2100">
                <a:solidFill>
                  <a:srgbClr val="2563EB"/>
                </a:solidFill>
                <a:latin typeface="Segoe UI"/>
              </a:rPr>
              <a:t>▪  </a:t>
            </a:r>
            <a:r>
              <a:rPr sz="2100">
                <a:solidFill>
                  <a:srgbClr val="111827"/>
                </a:solidFill>
                <a:latin typeface="Segoe UI"/>
              </a:rPr>
              <a:t>We fix it: output = P(dark); ≥0.5 → dark, &lt;0.5 → light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correction of DL Day 1 (LINK-ONLY) — we describe the error in our own words; we do not show their slides.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decision heuristic (the keeper)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Headline: "Structured data → simple model. Perceptual data → neural network."</a:t>
            </a:r>
          </a:p>
          <a:p>
            <a:pPr>
              <a:spcAft>
                <a:spcPts val="1400"/>
              </a:spcAft>
            </a:pPr>
            <a:r>
              <a:rPr sz="1700">
                <a:solidFill>
                  <a:srgbClr val="2563EB"/>
                </a:solidFill>
                <a:latin typeface="Segoe UI"/>
              </a:rPr>
              <a:t>▪  </a:t>
            </a:r>
            <a:r>
              <a:rPr sz="1700">
                <a:solidFill>
                  <a:srgbClr val="111827"/>
                </a:solidFill>
                <a:latin typeface="Segoe UI"/>
              </a:rPr>
              <a:t>Tabular (rows/columns) → regression, tree, forest</a:t>
            </a:r>
          </a:p>
          <a:p>
            <a:pPr>
              <a:spcAft>
                <a:spcPts val="1400"/>
              </a:spcAft>
            </a:pPr>
            <a:r>
              <a:rPr sz="1700">
                <a:solidFill>
                  <a:srgbClr val="2563EB"/>
                </a:solidFill>
                <a:latin typeface="Segoe UI"/>
              </a:rPr>
              <a:t>▪  </a:t>
            </a:r>
            <a:r>
              <a:rPr sz="1700">
                <a:solidFill>
                  <a:srgbClr val="111827"/>
                </a:solidFill>
                <a:latin typeface="Segoe UI"/>
              </a:rPr>
              <a:t>Images/audio/text → neural network</a:t>
            </a:r>
          </a:p>
          <a:p>
            <a:pPr>
              <a:spcAft>
                <a:spcPts val="1400"/>
              </a:spcAft>
            </a:pPr>
            <a:r>
              <a:rPr sz="1700">
                <a:solidFill>
                  <a:srgbClr val="2563EB"/>
                </a:solidFill>
                <a:latin typeface="Segoe UI"/>
              </a:rPr>
              <a:t>▪  </a:t>
            </a:r>
            <a:r>
              <a:rPr sz="1700">
                <a:solidFill>
                  <a:srgbClr val="111827"/>
                </a:solidFill>
                <a:latin typeface="Segoe UI"/>
              </a:rPr>
              <a:t>Start simple; escalate only when forced</a:t>
            </a:r>
          </a:p>
        </p:txBody>
      </p:sp>
      <p:sp>
        <p:nvSpPr>
          <p:cNvPr id="5" name="Rounded Rectangle 4" descr="Diagram: The decision heuristic (the keeper)"/>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A prediction problem. What is the data like?  →  Simple model first  →  Neural network likely justified  →  Ship it — cheaper, auditable</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Use the simplest model that works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Headline: "When all you have is a hammer, everything looks like a nail."</a:t>
            </a:r>
          </a:p>
          <a:p>
            <a:pPr>
              <a:spcAft>
                <a:spcPts val="1400"/>
              </a:spcAft>
            </a:pPr>
            <a:r>
              <a:rPr sz="2100">
                <a:solidFill>
                  <a:srgbClr val="2563EB"/>
                </a:solidFill>
                <a:latin typeface="Segoe UI"/>
              </a:rPr>
              <a:t>▪  </a:t>
            </a:r>
            <a:r>
              <a:rPr sz="2100">
                <a:solidFill>
                  <a:srgbClr val="111827"/>
                </a:solidFill>
                <a:latin typeface="Segoe UI"/>
              </a:rPr>
              <a:t>Neural nets cost: more data</a:t>
            </a:r>
          </a:p>
          <a:p>
            <a:pPr>
              <a:spcAft>
                <a:spcPts val="1400"/>
              </a:spcAft>
            </a:pPr>
            <a:r>
              <a:rPr sz="2100">
                <a:solidFill>
                  <a:srgbClr val="2563EB"/>
                </a:solidFill>
                <a:latin typeface="Segoe UI"/>
              </a:rPr>
              <a:t>▪  </a:t>
            </a:r>
            <a:r>
              <a:rPr sz="2100">
                <a:solidFill>
                  <a:srgbClr val="111827"/>
                </a:solidFill>
                <a:latin typeface="Segoe UI"/>
              </a:rPr>
              <a:t>more compute</a:t>
            </a:r>
          </a:p>
          <a:p>
            <a:pPr>
              <a:spcAft>
                <a:spcPts val="1400"/>
              </a:spcAft>
            </a:pPr>
            <a:r>
              <a:rPr sz="2100">
                <a:solidFill>
                  <a:srgbClr val="2563EB"/>
                </a:solidFill>
                <a:latin typeface="Segoe UI"/>
              </a:rPr>
              <a:t>▪  </a:t>
            </a:r>
            <a:r>
              <a:rPr sz="2100">
                <a:solidFill>
                  <a:srgbClr val="111827"/>
                </a:solidFill>
                <a:latin typeface="Segoe UI"/>
              </a:rPr>
              <a:t>opacity</a:t>
            </a:r>
          </a:p>
          <a:p>
            <a:pPr>
              <a:spcAft>
                <a:spcPts val="1400"/>
              </a:spcAft>
            </a:pPr>
            <a:r>
              <a:rPr sz="2100">
                <a:solidFill>
                  <a:srgbClr val="2563EB"/>
                </a:solidFill>
                <a:latin typeface="Segoe UI"/>
              </a:rPr>
              <a:t>▪  </a:t>
            </a:r>
            <a:r>
              <a:rPr sz="2100">
                <a:solidFill>
                  <a:srgbClr val="111827"/>
                </a:solidFill>
                <a:latin typeface="Segoe UI"/>
              </a:rPr>
              <a:t>harder maintenance</a:t>
            </a:r>
          </a:p>
          <a:p>
            <a:pPr>
              <a:spcAft>
                <a:spcPts val="1400"/>
              </a:spcAft>
            </a:pPr>
            <a:r>
              <a:rPr sz="2100">
                <a:solidFill>
                  <a:srgbClr val="2563EB"/>
                </a:solidFill>
                <a:latin typeface="Segoe UI"/>
              </a:rPr>
              <a:t>▪  </a:t>
            </a:r>
            <a:r>
              <a:rPr sz="2100">
                <a:solidFill>
                  <a:srgbClr val="111827"/>
                </a:solidFill>
                <a:latin typeface="Segoe UI"/>
              </a:rPr>
              <a:t>Auditable can beat marginally-more-accurate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Q&amp;A / discussion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"Questions &amp; discussion (15 min)" + 2–3 seed prompts (e.g.</a:t>
            </a:r>
          </a:p>
          <a:p>
            <a:pPr>
              <a:spcAft>
                <a:spcPts val="1400"/>
              </a:spcAft>
            </a:pPr>
            <a:r>
              <a:rPr sz="2100">
                <a:solidFill>
                  <a:srgbClr val="2563EB"/>
                </a:solidFill>
                <a:latin typeface="Segoe UI"/>
              </a:rPr>
              <a:t>▪  </a:t>
            </a:r>
            <a:r>
              <a:rPr sz="2100">
                <a:solidFill>
                  <a:srgbClr val="111827"/>
                </a:solidFill>
                <a:latin typeface="Segoe UI"/>
              </a:rPr>
              <a:t>"Name a problem on your team — is it tabular or perceptual?"; "Where might a model be graded on its own homework?").</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Resources &amp; credits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scikit-learn (BSD-3) — code &amp; the split demo</a:t>
            </a:r>
          </a:p>
          <a:p>
            <a:pPr>
              <a:spcAft>
                <a:spcPts val="1400"/>
              </a:spcAft>
            </a:pPr>
            <a:r>
              <a:rPr sz="2100">
                <a:solidFill>
                  <a:srgbClr val="2563EB"/>
                </a:solidFill>
                <a:latin typeface="Segoe UI"/>
              </a:rPr>
              <a:t>▪  </a:t>
            </a:r>
            <a:r>
              <a:rPr sz="2100">
                <a:solidFill>
                  <a:srgbClr val="111827"/>
                </a:solidFill>
                <a:latin typeface="Segoe UI"/>
              </a:rPr>
              <a:t>Deep Learning for Beginners, O'Reilly (link-only, assigned as reading)</a:t>
            </a:r>
          </a:p>
          <a:p>
            <a:pPr>
              <a:spcAft>
                <a:spcPts val="1400"/>
              </a:spcAft>
            </a:pPr>
            <a:r>
              <a:rPr sz="2100">
                <a:solidFill>
                  <a:srgbClr val="2563EB"/>
                </a:solidFill>
                <a:latin typeface="Segoe UI"/>
              </a:rPr>
              <a:t>▪  </a:t>
            </a:r>
            <a:r>
              <a:rPr sz="2100">
                <a:solidFill>
                  <a:srgbClr val="111827"/>
                </a:solidFill>
                <a:latin typeface="Segoe UI"/>
              </a:rPr>
              <a:t>Session 3 reading list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3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attributions per ../resources/sources.md. --- ### Build checklist for this deck - [ ] 15 content slides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